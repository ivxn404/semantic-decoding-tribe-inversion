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12" d="100"/>
          <a:sy n="12" d="100"/>
        </p:scale>
        <p:origin x="2669" y="91"/>
      </p:cViewPr>
      <p:guideLst>
        <p:guide orient="horz" pos="13482"/>
        <p:guide pos="95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05D9A4-8217-4D98-B4D8-6D5264D21099}" type="datetimeFigureOut">
              <a:rPr lang="en-US" smtClean="0"/>
              <a:t>18-10-2026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C47AAD-EE6F-425E-A2D2-70D20C579AD0}" type="slidenum">
              <a:rPr lang="en-US" smtClean="0"/>
              <a:t>‹#›</a:t>
            </a:fld>
            <a:endParaRPr lang="en-US"/>
          </a:p>
        </p:txBody>
      </p:sp>
    </p:spTree>
    <p:extLst>
      <p:ext uri="{BB962C8B-B14F-4D97-AF65-F5344CB8AC3E}">
        <p14:creationId xmlns:p14="http://schemas.microsoft.com/office/powerpoint/2010/main" val="4259363162"/>
      </p:ext>
    </p:extLst>
  </p:cSld>
  <p:clrMap bg1="lt1" tx1="dk1" bg2="lt2" tx2="dk2" accent1="accent1" accent2="accent2" accent3="accent3" accent4="accent4" accent5="accent5" accent6="accent6" hlink="hlink" folHlink="folHlink"/>
  <p:notesStyle>
    <a:lvl1pPr marL="0" algn="l" defTabSz="3747577" rtl="0" eaLnBrk="1" latinLnBrk="0" hangingPunct="1">
      <a:defRPr sz="4918" kern="1200">
        <a:solidFill>
          <a:schemeClr val="tx1"/>
        </a:solidFill>
        <a:latin typeface="+mn-lt"/>
        <a:ea typeface="+mn-ea"/>
        <a:cs typeface="+mn-cs"/>
      </a:defRPr>
    </a:lvl1pPr>
    <a:lvl2pPr marL="1873788" algn="l" defTabSz="3747577" rtl="0" eaLnBrk="1" latinLnBrk="0" hangingPunct="1">
      <a:defRPr sz="4918" kern="1200">
        <a:solidFill>
          <a:schemeClr val="tx1"/>
        </a:solidFill>
        <a:latin typeface="+mn-lt"/>
        <a:ea typeface="+mn-ea"/>
        <a:cs typeface="+mn-cs"/>
      </a:defRPr>
    </a:lvl2pPr>
    <a:lvl3pPr marL="3747577" algn="l" defTabSz="3747577" rtl="0" eaLnBrk="1" latinLnBrk="0" hangingPunct="1">
      <a:defRPr sz="4918" kern="1200">
        <a:solidFill>
          <a:schemeClr val="tx1"/>
        </a:solidFill>
        <a:latin typeface="+mn-lt"/>
        <a:ea typeface="+mn-ea"/>
        <a:cs typeface="+mn-cs"/>
      </a:defRPr>
    </a:lvl3pPr>
    <a:lvl4pPr marL="5621365" algn="l" defTabSz="3747577" rtl="0" eaLnBrk="1" latinLnBrk="0" hangingPunct="1">
      <a:defRPr sz="4918" kern="1200">
        <a:solidFill>
          <a:schemeClr val="tx1"/>
        </a:solidFill>
        <a:latin typeface="+mn-lt"/>
        <a:ea typeface="+mn-ea"/>
        <a:cs typeface="+mn-cs"/>
      </a:defRPr>
    </a:lvl4pPr>
    <a:lvl5pPr marL="7495154" algn="l" defTabSz="3747577" rtl="0" eaLnBrk="1" latinLnBrk="0" hangingPunct="1">
      <a:defRPr sz="4918" kern="1200">
        <a:solidFill>
          <a:schemeClr val="tx1"/>
        </a:solidFill>
        <a:latin typeface="+mn-lt"/>
        <a:ea typeface="+mn-ea"/>
        <a:cs typeface="+mn-cs"/>
      </a:defRPr>
    </a:lvl5pPr>
    <a:lvl6pPr marL="9368942" algn="l" defTabSz="3747577" rtl="0" eaLnBrk="1" latinLnBrk="0" hangingPunct="1">
      <a:defRPr sz="4918" kern="1200">
        <a:solidFill>
          <a:schemeClr val="tx1"/>
        </a:solidFill>
        <a:latin typeface="+mn-lt"/>
        <a:ea typeface="+mn-ea"/>
        <a:cs typeface="+mn-cs"/>
      </a:defRPr>
    </a:lvl6pPr>
    <a:lvl7pPr marL="11242731" algn="l" defTabSz="3747577" rtl="0" eaLnBrk="1" latinLnBrk="0" hangingPunct="1">
      <a:defRPr sz="4918" kern="1200">
        <a:solidFill>
          <a:schemeClr val="tx1"/>
        </a:solidFill>
        <a:latin typeface="+mn-lt"/>
        <a:ea typeface="+mn-ea"/>
        <a:cs typeface="+mn-cs"/>
      </a:defRPr>
    </a:lvl7pPr>
    <a:lvl8pPr marL="13116519" algn="l" defTabSz="3747577" rtl="0" eaLnBrk="1" latinLnBrk="0" hangingPunct="1">
      <a:defRPr sz="4918" kern="1200">
        <a:solidFill>
          <a:schemeClr val="tx1"/>
        </a:solidFill>
        <a:latin typeface="+mn-lt"/>
        <a:ea typeface="+mn-ea"/>
        <a:cs typeface="+mn-cs"/>
      </a:defRPr>
    </a:lvl8pPr>
    <a:lvl9pPr marL="14990308" algn="l" defTabSz="3747577" rtl="0" eaLnBrk="1" latinLnBrk="0" hangingPunct="1">
      <a:defRPr sz="491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C47AAD-EE6F-425E-A2D2-70D20C579AD0}" type="slidenum">
              <a:rPr lang="en-US" smtClean="0"/>
              <a:t>1</a:t>
            </a:fld>
            <a:endParaRPr lang="en-US"/>
          </a:p>
        </p:txBody>
      </p:sp>
    </p:spTree>
    <p:extLst>
      <p:ext uri="{BB962C8B-B14F-4D97-AF65-F5344CB8AC3E}">
        <p14:creationId xmlns:p14="http://schemas.microsoft.com/office/powerpoint/2010/main" val="3442610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5573D7-FF55-4517-8B2C-9EC0E05D21BA}" type="datetimeFigureOut">
              <a:rPr lang="en-US" smtClean="0"/>
              <a:t>18-10-2026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9B1E9-DF34-4DDF-AB00-881619BDC12E}" type="slidenum">
              <a:rPr lang="en-US" smtClean="0"/>
              <a:t>‹#›</a:t>
            </a:fld>
            <a:endParaRPr lang="en-US"/>
          </a:p>
        </p:txBody>
      </p:sp>
    </p:spTree>
    <p:extLst>
      <p:ext uri="{BB962C8B-B14F-4D97-AF65-F5344CB8AC3E}">
        <p14:creationId xmlns:p14="http://schemas.microsoft.com/office/powerpoint/2010/main" val="4063911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5573D7-FF55-4517-8B2C-9EC0E05D21BA}" type="datetimeFigureOut">
              <a:rPr lang="en-US" smtClean="0"/>
              <a:t>18-10-2026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9B1E9-DF34-4DDF-AB00-881619BDC12E}" type="slidenum">
              <a:rPr lang="en-US" smtClean="0"/>
              <a:t>‹#›</a:t>
            </a:fld>
            <a:endParaRPr lang="en-US"/>
          </a:p>
        </p:txBody>
      </p:sp>
    </p:spTree>
    <p:extLst>
      <p:ext uri="{BB962C8B-B14F-4D97-AF65-F5344CB8AC3E}">
        <p14:creationId xmlns:p14="http://schemas.microsoft.com/office/powerpoint/2010/main" val="2597474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5573D7-FF55-4517-8B2C-9EC0E05D21BA}" type="datetimeFigureOut">
              <a:rPr lang="en-US" smtClean="0"/>
              <a:t>18-10-2026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9B1E9-DF34-4DDF-AB00-881619BDC12E}" type="slidenum">
              <a:rPr lang="en-US" smtClean="0"/>
              <a:t>‹#›</a:t>
            </a:fld>
            <a:endParaRPr lang="en-US"/>
          </a:p>
        </p:txBody>
      </p:sp>
    </p:spTree>
    <p:extLst>
      <p:ext uri="{BB962C8B-B14F-4D97-AF65-F5344CB8AC3E}">
        <p14:creationId xmlns:p14="http://schemas.microsoft.com/office/powerpoint/2010/main" val="3426134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5573D7-FF55-4517-8B2C-9EC0E05D21BA}" type="datetimeFigureOut">
              <a:rPr lang="en-US" smtClean="0"/>
              <a:t>18-10-2026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F9B1E9-DF34-4DDF-AB00-881619BDC12E}" type="slidenum">
              <a:rPr lang="en-US" smtClean="0"/>
              <a:t>‹#›</a:t>
            </a:fld>
            <a:endParaRPr lang="en-US"/>
          </a:p>
        </p:txBody>
      </p:sp>
    </p:spTree>
    <p:extLst>
      <p:ext uri="{BB962C8B-B14F-4D97-AF65-F5344CB8AC3E}">
        <p14:creationId xmlns:p14="http://schemas.microsoft.com/office/powerpoint/2010/main" val="660956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5573D7-FF55-4517-8B2C-9EC0E05D21BA}" type="datetimeFigureOut">
              <a:rPr lang="en-US" smtClean="0"/>
              <a:t>18-10-2026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F9B1E9-DF34-4DDF-AB00-881619BDC12E}" type="slidenum">
              <a:rPr lang="en-US" smtClean="0"/>
              <a:t>‹#›</a:t>
            </a:fld>
            <a:endParaRPr lang="en-US"/>
          </a:p>
        </p:txBody>
      </p:sp>
    </p:spTree>
    <p:extLst>
      <p:ext uri="{BB962C8B-B14F-4D97-AF65-F5344CB8AC3E}">
        <p14:creationId xmlns:p14="http://schemas.microsoft.com/office/powerpoint/2010/main" val="3147361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5573D7-FF55-4517-8B2C-9EC0E05D21BA}" type="datetimeFigureOut">
              <a:rPr lang="en-US" smtClean="0"/>
              <a:t>18-10-2026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F9B1E9-DF34-4DDF-AB00-881619BDC12E}" type="slidenum">
              <a:rPr lang="en-US" smtClean="0"/>
              <a:t>‹#›</a:t>
            </a:fld>
            <a:endParaRPr lang="en-US"/>
          </a:p>
        </p:txBody>
      </p:sp>
    </p:spTree>
    <p:extLst>
      <p:ext uri="{BB962C8B-B14F-4D97-AF65-F5344CB8AC3E}">
        <p14:creationId xmlns:p14="http://schemas.microsoft.com/office/powerpoint/2010/main" val="1114762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5573D7-FF55-4517-8B2C-9EC0E05D21BA}" type="datetimeFigureOut">
              <a:rPr lang="en-US" smtClean="0"/>
              <a:t>18-10-2026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F9B1E9-DF34-4DDF-AB00-881619BDC12E}" type="slidenum">
              <a:rPr lang="en-US" smtClean="0"/>
              <a:t>‹#›</a:t>
            </a:fld>
            <a:endParaRPr lang="en-US"/>
          </a:p>
        </p:txBody>
      </p:sp>
    </p:spTree>
    <p:extLst>
      <p:ext uri="{BB962C8B-B14F-4D97-AF65-F5344CB8AC3E}">
        <p14:creationId xmlns:p14="http://schemas.microsoft.com/office/powerpoint/2010/main" val="4071639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685573D7-FF55-4517-8B2C-9EC0E05D21BA}" type="datetimeFigureOut">
              <a:rPr lang="en-US" smtClean="0"/>
              <a:t>18-10-2026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F9B1E9-DF34-4DDF-AB00-881619BDC12E}" type="slidenum">
              <a:rPr lang="en-US" smtClean="0"/>
              <a:t>‹#›</a:t>
            </a:fld>
            <a:endParaRPr lang="en-US"/>
          </a:p>
        </p:txBody>
      </p:sp>
    </p:spTree>
    <p:extLst>
      <p:ext uri="{BB962C8B-B14F-4D97-AF65-F5344CB8AC3E}">
        <p14:creationId xmlns:p14="http://schemas.microsoft.com/office/powerpoint/2010/main" val="3585063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685573D7-FF55-4517-8B2C-9EC0E05D21BA}" type="datetimeFigureOut">
              <a:rPr lang="en-US" smtClean="0"/>
              <a:t>18-10-2026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F9B1E9-DF34-4DDF-AB00-881619BDC12E}" type="slidenum">
              <a:rPr lang="en-US" smtClean="0"/>
              <a:t>‹#›</a:t>
            </a:fld>
            <a:endParaRPr lang="en-US"/>
          </a:p>
        </p:txBody>
      </p:sp>
    </p:spTree>
    <p:extLst>
      <p:ext uri="{BB962C8B-B14F-4D97-AF65-F5344CB8AC3E}">
        <p14:creationId xmlns:p14="http://schemas.microsoft.com/office/powerpoint/2010/main" val="2372962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5573D7-FF55-4517-8B2C-9EC0E05D21BA}" type="datetimeFigureOut">
              <a:rPr lang="en-US" smtClean="0"/>
              <a:t>18-10-2026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9B1E9-DF34-4DDF-AB00-881619BDC12E}" type="slidenum">
              <a:rPr lang="en-US" smtClean="0"/>
              <a:t>‹#›</a:t>
            </a:fld>
            <a:endParaRPr lang="en-US"/>
          </a:p>
        </p:txBody>
      </p:sp>
    </p:spTree>
    <p:extLst>
      <p:ext uri="{BB962C8B-B14F-4D97-AF65-F5344CB8AC3E}">
        <p14:creationId xmlns:p14="http://schemas.microsoft.com/office/powerpoint/2010/main" val="4281041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5573D7-FF55-4517-8B2C-9EC0E05D21BA}" type="datetimeFigureOut">
              <a:rPr lang="en-US" smtClean="0"/>
              <a:t>18-10-2026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F9B1E9-DF34-4DDF-AB00-881619BDC12E}" type="slidenum">
              <a:rPr lang="en-US" smtClean="0"/>
              <a:t>‹#›</a:t>
            </a:fld>
            <a:endParaRPr lang="en-US"/>
          </a:p>
        </p:txBody>
      </p:sp>
    </p:spTree>
    <p:extLst>
      <p:ext uri="{BB962C8B-B14F-4D97-AF65-F5344CB8AC3E}">
        <p14:creationId xmlns:p14="http://schemas.microsoft.com/office/powerpoint/2010/main" val="14476939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685573D7-FF55-4517-8B2C-9EC0E05D21BA}" type="datetimeFigureOut">
              <a:rPr lang="en-US" smtClean="0"/>
              <a:t>18-10-2026</a:t>
            </a:fld>
            <a:endParaRPr 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FAF9B1E9-DF34-4DDF-AB00-881619BDC12E}" type="slidenum">
              <a:rPr lang="en-US" smtClean="0"/>
              <a:t>‹#›</a:t>
            </a:fld>
            <a:endParaRPr lang="en-US"/>
          </a:p>
        </p:txBody>
      </p:sp>
    </p:spTree>
    <p:extLst>
      <p:ext uri="{BB962C8B-B14F-4D97-AF65-F5344CB8AC3E}">
        <p14:creationId xmlns:p14="http://schemas.microsoft.com/office/powerpoint/2010/main" val="13371020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485D282B-8BF9-7D5D-46ED-6D305FFD0442}"/>
              </a:ext>
            </a:extLst>
          </p:cNvPr>
          <p:cNvSpPr txBox="1">
            <a:spLocks/>
          </p:cNvSpPr>
          <p:nvPr/>
        </p:nvSpPr>
        <p:spPr>
          <a:xfrm>
            <a:off x="457200" y="320040"/>
            <a:ext cx="29361384" cy="2743200"/>
          </a:xfrm>
          <a:prstGeom prst="rect">
            <a:avLst/>
          </a:prstGeom>
        </p:spPr>
        <p:style>
          <a:lnRef idx="2">
            <a:schemeClr val="accent2"/>
          </a:lnRef>
          <a:fillRef idx="1">
            <a:schemeClr val="lt1"/>
          </a:fillRef>
          <a:effectRef idx="0">
            <a:schemeClr val="accent2"/>
          </a:effectRef>
          <a:fontRef idx="minor">
            <a:schemeClr val="dk1"/>
          </a:fontRef>
        </p:style>
        <p:txBody>
          <a:bodyPr vert="horz" lIns="6400800" tIns="137160" rIns="3657600" bIns="91440" rtlCol="0" anchor="ctr"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lnSpc>
                <a:spcPct val="105000"/>
              </a:lnSpc>
              <a:spcAft>
                <a:spcPts val="200"/>
              </a:spcAft>
            </a:pPr>
            <a:r>
              <a:rPr sz="3000" b="1">
                <a:solidFill>
                  <a:srgbClr val="1A1A1A"/>
                </a:solidFill>
                <a:latin typeface="Calibri"/>
              </a:rPr>
              <a:t>School of Electronics Engineering (SENSE)</a:t>
            </a:r>
          </a:p>
          <a:p>
            <a:pPr algn="ctr">
              <a:lnSpc>
                <a:spcPct val="105000"/>
              </a:lnSpc>
              <a:spcAft>
                <a:spcPts val="200"/>
              </a:spcAft>
            </a:pPr>
            <a:r>
              <a:rPr sz="3000" b="0">
                <a:solidFill>
                  <a:srgbClr val="1A1A1A"/>
                </a:solidFill>
                <a:latin typeface="Calibri"/>
              </a:rPr>
              <a:t>B.Tech. Electronics and Communication Engineering (specialisation in Biomedical Engineering)</a:t>
            </a:r>
          </a:p>
          <a:p>
            <a:pPr algn="ctr">
              <a:lnSpc>
                <a:spcPct val="105000"/>
              </a:lnSpc>
              <a:spcAft>
                <a:spcPts val="200"/>
              </a:spcAft>
            </a:pPr>
            <a:r>
              <a:rPr sz="3000" b="0">
                <a:solidFill>
                  <a:srgbClr val="1A1A1A"/>
                </a:solidFill>
                <a:latin typeface="Calibri"/>
              </a:rPr>
              <a:t>BECE497J Project-I  ·  Final Review and Poster Presentation  ·  29 October 2026</a:t>
            </a:r>
          </a:p>
        </p:txBody>
      </p:sp>
      <p:sp>
        <p:nvSpPr>
          <p:cNvPr id="9" name="Title 3">
            <a:extLst>
              <a:ext uri="{FF2B5EF4-FFF2-40B4-BE49-F238E27FC236}">
                <a16:creationId xmlns:a16="http://schemas.microsoft.com/office/drawing/2014/main" id="{EE9CB2C9-619F-EE81-6CE2-CEFC81E17270}"/>
              </a:ext>
            </a:extLst>
          </p:cNvPr>
          <p:cNvSpPr txBox="1">
            <a:spLocks/>
          </p:cNvSpPr>
          <p:nvPr/>
        </p:nvSpPr>
        <p:spPr>
          <a:xfrm>
            <a:off x="457200" y="3337560"/>
            <a:ext cx="29361384" cy="274320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ctr"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lnSpc>
                <a:spcPct val="105000"/>
              </a:lnSpc>
              <a:spcAft>
                <a:spcPts val="600"/>
              </a:spcAft>
            </a:pPr>
            <a:r>
              <a:rPr sz="6200" b="1">
                <a:solidFill>
                  <a:srgbClr val="13243B"/>
                </a:solidFill>
                <a:latin typeface="Cambria"/>
              </a:rPr>
              <a:t>Conditioning and Non-Convexity of Semantic Decoding by Inversion of Deep Brain Encoding Models</a:t>
            </a:r>
          </a:p>
          <a:p>
            <a:pPr algn="ctr">
              <a:lnSpc>
                <a:spcPct val="105000"/>
              </a:lnSpc>
              <a:spcAft>
                <a:spcPts val="600"/>
              </a:spcAft>
            </a:pPr>
            <a:r>
              <a:rPr sz="3200" b="0" i="1">
                <a:solidFill>
                  <a:srgbClr val="0B5E66"/>
                </a:solidFill>
                <a:latin typeface="Calibri"/>
              </a:rPr>
              <a:t>Predictable is not recoverable: inverting Meta's TRIBE v2 foundation brain encoder on synthetic and real fMRI</a:t>
            </a:r>
          </a:p>
        </p:txBody>
      </p:sp>
      <p:sp>
        <p:nvSpPr>
          <p:cNvPr id="11" name="Title 3">
            <a:extLst>
              <a:ext uri="{FF2B5EF4-FFF2-40B4-BE49-F238E27FC236}">
                <a16:creationId xmlns:a16="http://schemas.microsoft.com/office/drawing/2014/main" id="{E8F4C589-D029-A5AC-4CDB-3112CF5436AC}"/>
              </a:ext>
            </a:extLst>
          </p:cNvPr>
          <p:cNvSpPr txBox="1">
            <a:spLocks/>
          </p:cNvSpPr>
          <p:nvPr/>
        </p:nvSpPr>
        <p:spPr>
          <a:xfrm>
            <a:off x="457200" y="33284160"/>
            <a:ext cx="9546336" cy="640080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t"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spcAft>
                <a:spcPts val="800"/>
              </a:spcAft>
            </a:pPr>
            <a:r>
              <a:rPr sz="4000" b="1">
                <a:solidFill>
                  <a:srgbClr val="0B5E66"/>
                </a:solidFill>
                <a:latin typeface="Cambria"/>
              </a:rPr>
              <a:t>PO and PSO mapping</a:t>
            </a:r>
          </a:p>
          <a:p>
            <a:pPr>
              <a:lnSpc>
                <a:spcPct val="105000"/>
              </a:lnSpc>
              <a:spcAft>
                <a:spcPts val="900"/>
              </a:spcAft>
            </a:pPr>
            <a:r>
              <a:rPr sz="2550" b="1">
                <a:solidFill>
                  <a:srgbClr val="1A1A1A"/>
                </a:solidFill>
                <a:latin typeface="Calibri"/>
              </a:rPr>
              <a:t>PO1 </a:t>
            </a:r>
            <a:r>
              <a:rPr sz="2550" b="0">
                <a:solidFill>
                  <a:srgbClr val="1A1A1A"/>
                </a:solidFill>
                <a:latin typeface="Calibri"/>
              </a:rPr>
              <a:t>Linear algebra, optimisation and inverse-problem theory.</a:t>
            </a:r>
          </a:p>
          <a:p>
            <a:pPr>
              <a:lnSpc>
                <a:spcPct val="105000"/>
              </a:lnSpc>
              <a:spcAft>
                <a:spcPts val="900"/>
              </a:spcAft>
            </a:pPr>
            <a:r>
              <a:rPr sz="2550" b="1">
                <a:solidFill>
                  <a:srgbClr val="1A1A1A"/>
                </a:solidFill>
                <a:latin typeface="Calibri"/>
              </a:rPr>
              <a:t>PO2 </a:t>
            </a:r>
            <a:r>
              <a:rPr sz="2550" b="0">
                <a:solidFill>
                  <a:srgbClr val="1A1A1A"/>
                </a:solidFill>
                <a:latin typeface="Calibri"/>
              </a:rPr>
              <a:t>Formulated decoding as an ill-posed inverse problem and analysed its causes.</a:t>
            </a:r>
          </a:p>
          <a:p>
            <a:pPr>
              <a:lnSpc>
                <a:spcPct val="105000"/>
              </a:lnSpc>
              <a:spcAft>
                <a:spcPts val="900"/>
              </a:spcAft>
            </a:pPr>
            <a:r>
              <a:rPr sz="2550" b="1">
                <a:solidFill>
                  <a:srgbClr val="1A1A1A"/>
                </a:solidFill>
                <a:latin typeface="Calibri"/>
              </a:rPr>
              <a:t>PO3 </a:t>
            </a:r>
            <a:r>
              <a:rPr sz="2550" b="0">
                <a:solidFill>
                  <a:srgbClr val="1A1A1A"/>
                </a:solidFill>
                <a:latin typeface="Calibri"/>
              </a:rPr>
              <a:t>Designed the inversion pipeline and its controls.</a:t>
            </a:r>
          </a:p>
          <a:p>
            <a:pPr>
              <a:lnSpc>
                <a:spcPct val="105000"/>
              </a:lnSpc>
              <a:spcAft>
                <a:spcPts val="900"/>
              </a:spcAft>
            </a:pPr>
            <a:r>
              <a:rPr sz="2550" b="1">
                <a:solidFill>
                  <a:srgbClr val="1A1A1A"/>
                </a:solidFill>
                <a:latin typeface="Calibri"/>
              </a:rPr>
              <a:t>PO4 </a:t>
            </a:r>
            <a:r>
              <a:rPr sz="2550" b="0">
                <a:solidFill>
                  <a:srgbClr val="1A1A1A"/>
                </a:solidFill>
                <a:latin typeface="Calibri"/>
              </a:rPr>
              <a:t>Designed controlled experiments with exact ground truth and matched controls.</a:t>
            </a:r>
          </a:p>
          <a:p>
            <a:pPr>
              <a:lnSpc>
                <a:spcPct val="105000"/>
              </a:lnSpc>
              <a:spcAft>
                <a:spcPts val="900"/>
              </a:spcAft>
            </a:pPr>
            <a:r>
              <a:rPr sz="2550" b="1">
                <a:solidFill>
                  <a:srgbClr val="1A1A1A"/>
                </a:solidFill>
                <a:latin typeface="Calibri"/>
              </a:rPr>
              <a:t>PO5 </a:t>
            </a:r>
            <a:r>
              <a:rPr sz="2550" b="0">
                <a:solidFill>
                  <a:srgbClr val="1A1A1A"/>
                </a:solidFill>
                <a:latin typeface="Calibri"/>
              </a:rPr>
              <a:t>PyTorch, TRIBE v2, ANTs, nilearn, GPU (Colab) computing.</a:t>
            </a:r>
          </a:p>
          <a:p>
            <a:pPr>
              <a:lnSpc>
                <a:spcPct val="105000"/>
              </a:lnSpc>
              <a:spcAft>
                <a:spcPts val="900"/>
              </a:spcAft>
            </a:pPr>
            <a:r>
              <a:rPr sz="2550" b="1">
                <a:solidFill>
                  <a:srgbClr val="1A1A1A"/>
                </a:solidFill>
                <a:latin typeface="Calibri"/>
              </a:rPr>
              <a:t>PO6, PO8 </a:t>
            </a:r>
            <a:r>
              <a:rPr sz="2550" b="0">
                <a:solidFill>
                  <a:srgbClr val="1A1A1A"/>
                </a:solidFill>
                <a:latin typeface="Calibri"/>
              </a:rPr>
              <a:t>Mental privacy and clinical use; licences respected.</a:t>
            </a:r>
          </a:p>
          <a:p>
            <a:pPr>
              <a:lnSpc>
                <a:spcPct val="105000"/>
              </a:lnSpc>
              <a:spcAft>
                <a:spcPts val="900"/>
              </a:spcAft>
            </a:pPr>
            <a:r>
              <a:rPr sz="2550" b="1">
                <a:solidFill>
                  <a:srgbClr val="1A1A1A"/>
                </a:solidFill>
                <a:latin typeface="Calibri"/>
              </a:rPr>
              <a:t>PO9, PO10 </a:t>
            </a:r>
            <a:r>
              <a:rPr sz="2550" b="0">
                <a:solidFill>
                  <a:srgbClr val="1A1A1A"/>
                </a:solidFill>
                <a:latin typeface="Calibri"/>
              </a:rPr>
              <a:t>Two-track teamwork; IEEE manuscript, poster, reviews.</a:t>
            </a:r>
          </a:p>
          <a:p>
            <a:pPr>
              <a:lnSpc>
                <a:spcPct val="105000"/>
              </a:lnSpc>
              <a:spcAft>
                <a:spcPts val="900"/>
              </a:spcAft>
            </a:pPr>
            <a:r>
              <a:rPr sz="2550" b="1">
                <a:solidFill>
                  <a:srgbClr val="1A1A1A"/>
                </a:solidFill>
                <a:latin typeface="Calibri"/>
              </a:rPr>
              <a:t>PO12 </a:t>
            </a:r>
            <a:r>
              <a:rPr sz="2550" b="0">
                <a:solidFill>
                  <a:srgbClr val="1A1A1A"/>
                </a:solidFill>
                <a:latin typeface="Calibri"/>
              </a:rPr>
              <a:t>Self-taught foundation models and neuroimaging tools.</a:t>
            </a:r>
          </a:p>
          <a:p>
            <a:pPr>
              <a:lnSpc>
                <a:spcPct val="105000"/>
              </a:lnSpc>
              <a:spcAft>
                <a:spcPts val="900"/>
              </a:spcAft>
            </a:pPr>
            <a:r>
              <a:rPr sz="2550" b="1">
                <a:solidFill>
                  <a:srgbClr val="1A1A1A"/>
                </a:solidFill>
                <a:latin typeface="Calibri"/>
              </a:rPr>
              <a:t>PSO2, PSO3 </a:t>
            </a:r>
            <a:r>
              <a:rPr sz="2550" b="0">
                <a:solidFill>
                  <a:srgbClr val="1A1A1A"/>
                </a:solidFill>
                <a:latin typeface="Calibri"/>
              </a:rPr>
              <a:t>fMRI analysis and imaging with modern tools.</a:t>
            </a:r>
          </a:p>
        </p:txBody>
      </p:sp>
      <p:sp>
        <p:nvSpPr>
          <p:cNvPr id="13" name="Title 3">
            <a:extLst>
              <a:ext uri="{FF2B5EF4-FFF2-40B4-BE49-F238E27FC236}">
                <a16:creationId xmlns:a16="http://schemas.microsoft.com/office/drawing/2014/main" id="{0FD4F8F0-E83F-A0FF-AFC4-8F9C1A83C25C}"/>
              </a:ext>
            </a:extLst>
          </p:cNvPr>
          <p:cNvSpPr txBox="1">
            <a:spLocks/>
          </p:cNvSpPr>
          <p:nvPr/>
        </p:nvSpPr>
        <p:spPr>
          <a:xfrm>
            <a:off x="10360152" y="33284160"/>
            <a:ext cx="9546336" cy="640080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t"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spcAft>
                <a:spcPts val="800"/>
              </a:spcAft>
            </a:pPr>
            <a:r>
              <a:rPr sz="4000" b="1">
                <a:solidFill>
                  <a:srgbClr val="0B5E66"/>
                </a:solidFill>
                <a:latin typeface="Cambria"/>
              </a:rPr>
              <a:t>WP mapping</a:t>
            </a:r>
          </a:p>
          <a:p>
            <a:pPr>
              <a:lnSpc>
                <a:spcPct val="105000"/>
              </a:lnSpc>
              <a:spcAft>
                <a:spcPts val="1200"/>
              </a:spcAft>
            </a:pPr>
            <a:r>
              <a:rPr sz="2500" b="1">
                <a:solidFill>
                  <a:srgbClr val="1A1A1A"/>
                </a:solidFill>
                <a:latin typeface="Calibri"/>
              </a:rPr>
              <a:t>WP1 Depth of knowledge: </a:t>
            </a:r>
            <a:r>
              <a:rPr sz="2500" b="0">
                <a:solidFill>
                  <a:srgbClr val="1A1A1A"/>
                </a:solidFill>
                <a:latin typeface="Calibri"/>
              </a:rPr>
              <a:t>neuroscience, fMRI, deep learning and inverse-problem theory together.</a:t>
            </a:r>
          </a:p>
          <a:p>
            <a:pPr>
              <a:lnSpc>
                <a:spcPct val="105000"/>
              </a:lnSpc>
              <a:spcAft>
                <a:spcPts val="1200"/>
              </a:spcAft>
            </a:pPr>
            <a:r>
              <a:rPr sz="2500" b="1">
                <a:solidFill>
                  <a:srgbClr val="1A1A1A"/>
                </a:solidFill>
                <a:latin typeface="Calibri"/>
              </a:rPr>
              <a:t>WP2 Conflicting requirements: </a:t>
            </a:r>
            <a:r>
              <a:rPr sz="2500" b="0">
                <a:solidFill>
                  <a:srgbClr val="1A1A1A"/>
                </a:solidFill>
                <a:latin typeface="Calibri"/>
              </a:rPr>
              <a:t>fidelity vs non-invasiveness vs privacy.</a:t>
            </a:r>
          </a:p>
          <a:p>
            <a:pPr>
              <a:lnSpc>
                <a:spcPct val="105000"/>
              </a:lnSpc>
              <a:spcAft>
                <a:spcPts val="1200"/>
              </a:spcAft>
            </a:pPr>
            <a:r>
              <a:rPr sz="2500" b="1">
                <a:solidFill>
                  <a:srgbClr val="1A1A1A"/>
                </a:solidFill>
                <a:latin typeface="Calibri"/>
              </a:rPr>
              <a:t>WP3 Depth of analysis: </a:t>
            </a:r>
            <a:r>
              <a:rPr sz="2500" b="0">
                <a:solidFill>
                  <a:srgbClr val="1A1A1A"/>
                </a:solidFill>
                <a:latin typeface="Calibri"/>
              </a:rPr>
              <a:t>separates non-convexity from information loss with falsifiable tests.</a:t>
            </a:r>
          </a:p>
          <a:p>
            <a:pPr>
              <a:lnSpc>
                <a:spcPct val="105000"/>
              </a:lnSpc>
              <a:spcAft>
                <a:spcPts val="1200"/>
              </a:spcAft>
            </a:pPr>
            <a:r>
              <a:rPr sz="2500" b="1">
                <a:solidFill>
                  <a:srgbClr val="1A1A1A"/>
                </a:solidFill>
                <a:latin typeface="Calibri"/>
              </a:rPr>
              <a:t>WP4 Familiarity of issues: </a:t>
            </a:r>
            <a:r>
              <a:rPr sz="2500" b="0">
                <a:solidFill>
                  <a:srgbClr val="1A1A1A"/>
                </a:solidFill>
                <a:latin typeface="Calibri"/>
              </a:rPr>
              <a:t>slow, noisy, blurred BOLD; no ground truth in real data.</a:t>
            </a:r>
          </a:p>
          <a:p>
            <a:pPr>
              <a:lnSpc>
                <a:spcPct val="105000"/>
              </a:lnSpc>
              <a:spcAft>
                <a:spcPts val="1200"/>
              </a:spcAft>
            </a:pPr>
            <a:r>
              <a:rPr sz="2500" b="1">
                <a:solidFill>
                  <a:srgbClr val="1A1A1A"/>
                </a:solidFill>
                <a:latin typeface="Calibri"/>
              </a:rPr>
              <a:t>WP7 Interdependence: </a:t>
            </a:r>
            <a:r>
              <a:rPr sz="2500" b="0">
                <a:solidFill>
                  <a:srgbClr val="1A1A1A"/>
                </a:solidFill>
                <a:latin typeface="Calibri"/>
              </a:rPr>
              <a:t>ROI anatomy and computation depend on each other.</a:t>
            </a:r>
          </a:p>
          <a:p>
            <a:pPr>
              <a:lnSpc>
                <a:spcPct val="105000"/>
              </a:lnSpc>
              <a:spcAft>
                <a:spcPts val="1200"/>
              </a:spcAft>
            </a:pPr>
            <a:r>
              <a:rPr sz="2500" b="1">
                <a:solidFill>
                  <a:srgbClr val="1A1A1A"/>
                </a:solidFill>
                <a:latin typeface="Calibri"/>
              </a:rPr>
              <a:t>Knowledge profile: </a:t>
            </a:r>
            <a:r>
              <a:rPr sz="2500" b="0">
                <a:solidFill>
                  <a:srgbClr val="1A1A1A"/>
                </a:solidFill>
                <a:latin typeface="Calibri"/>
              </a:rPr>
              <a:t>WK3 signals and systems, WK4 inverse problems, WK5 design of the inversion pipeline, WK6 modern tools, WK8 current research literature.</a:t>
            </a:r>
          </a:p>
        </p:txBody>
      </p:sp>
      <p:sp>
        <p:nvSpPr>
          <p:cNvPr id="15" name="Title 3">
            <a:extLst>
              <a:ext uri="{FF2B5EF4-FFF2-40B4-BE49-F238E27FC236}">
                <a16:creationId xmlns:a16="http://schemas.microsoft.com/office/drawing/2014/main" id="{2E0F8584-4BDD-B196-10D9-5B66CB0D9F3C}"/>
              </a:ext>
            </a:extLst>
          </p:cNvPr>
          <p:cNvSpPr txBox="1">
            <a:spLocks/>
          </p:cNvSpPr>
          <p:nvPr/>
        </p:nvSpPr>
        <p:spPr>
          <a:xfrm>
            <a:off x="20272248" y="33284160"/>
            <a:ext cx="9546336" cy="640080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t"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spcAft>
                <a:spcPts val="800"/>
              </a:spcAft>
            </a:pPr>
            <a:r>
              <a:rPr sz="4000" b="1">
                <a:solidFill>
                  <a:srgbClr val="0B5E66"/>
                </a:solidFill>
                <a:latin typeface="Cambria"/>
              </a:rPr>
              <a:t>SDG mapping</a:t>
            </a:r>
          </a:p>
          <a:p>
            <a:pPr>
              <a:lnSpc>
                <a:spcPct val="105000"/>
              </a:lnSpc>
              <a:spcAft>
                <a:spcPts val="1400"/>
              </a:spcAft>
            </a:pPr>
            <a:r>
              <a:rPr sz="2500" b="1">
                <a:solidFill>
                  <a:srgbClr val="1A1A1A"/>
                </a:solidFill>
                <a:latin typeface="Calibri"/>
              </a:rPr>
              <a:t>SDG 3 (Target 3.4): </a:t>
            </a:r>
            <a:r>
              <a:rPr sz="2500" b="0">
                <a:solidFill>
                  <a:srgbClr val="1A1A1A"/>
                </a:solidFill>
                <a:latin typeface="Calibri"/>
              </a:rPr>
              <a:t>well-being for people with ALS, stroke or locked-in syndrome who keep comprehension but lose speech: we measure what non-invasive decoding can deliver.</a:t>
            </a:r>
          </a:p>
          <a:p>
            <a:pPr>
              <a:lnSpc>
                <a:spcPct val="105000"/>
              </a:lnSpc>
              <a:spcAft>
                <a:spcPts val="1400"/>
              </a:spcAft>
            </a:pPr>
            <a:r>
              <a:rPr sz="2500" b="1">
                <a:solidFill>
                  <a:srgbClr val="1A1A1A"/>
                </a:solidFill>
                <a:latin typeface="Calibri"/>
              </a:rPr>
              <a:t>SDG 9 (Target 9.5): </a:t>
            </a:r>
            <a:r>
              <a:rPr sz="2500" b="0">
                <a:solidFill>
                  <a:srgbClr val="1A1A1A"/>
                </a:solidFill>
                <a:latin typeface="Calibri"/>
              </a:rPr>
              <a:t>open, reproducible research capability in neural-interface engineering on free compute.</a:t>
            </a:r>
          </a:p>
          <a:p>
            <a:pPr>
              <a:lnSpc>
                <a:spcPct val="105000"/>
              </a:lnSpc>
              <a:spcAft>
                <a:spcPts val="1400"/>
              </a:spcAft>
            </a:pPr>
            <a:r>
              <a:rPr sz="2500" b="1">
                <a:solidFill>
                  <a:srgbClr val="1A1A1A"/>
                </a:solidFill>
                <a:latin typeface="Calibri"/>
              </a:rPr>
              <a:t>SDG 10 (Target 10.2): </a:t>
            </a:r>
            <a:r>
              <a:rPr sz="2500" b="0">
                <a:solidFill>
                  <a:srgbClr val="1A1A1A"/>
                </a:solidFill>
                <a:latin typeface="Calibri"/>
              </a:rPr>
              <a:t>communication access is a precondition for inclusion of people with severe motor disability.</a:t>
            </a:r>
          </a:p>
          <a:p>
            <a:pPr>
              <a:lnSpc>
                <a:spcPct val="105000"/>
              </a:lnSpc>
              <a:spcAft>
                <a:spcPts val="1400"/>
              </a:spcAft>
            </a:pPr>
            <a:r>
              <a:rPr sz="2500" b="1">
                <a:solidFill>
                  <a:srgbClr val="1A1A1A"/>
                </a:solidFill>
                <a:latin typeface="Calibri"/>
              </a:rPr>
              <a:t>Scope: </a:t>
            </a:r>
            <a:r>
              <a:rPr sz="2500" b="0">
                <a:solidFill>
                  <a:srgbClr val="1A1A1A"/>
                </a:solidFill>
                <a:latin typeface="Calibri"/>
              </a:rPr>
              <a:t>enabling research, not a deployed device; the contribution is evidence of what non-invasive decoding can and cannot achieve.</a:t>
            </a:r>
          </a:p>
          <a:p>
            <a:pPr>
              <a:lnSpc>
                <a:spcPct val="105000"/>
              </a:lnSpc>
              <a:spcAft>
                <a:spcPts val="1400"/>
              </a:spcAft>
            </a:pPr>
            <a:r>
              <a:rPr sz="2500" b="1">
                <a:solidFill>
                  <a:srgbClr val="1A1A1A"/>
                </a:solidFill>
                <a:latin typeface="Calibri"/>
              </a:rPr>
              <a:t>Responsible use: </a:t>
            </a:r>
            <a:r>
              <a:rPr sz="2500" b="0">
                <a:solidFill>
                  <a:srgbClr val="1A1A1A"/>
                </a:solidFill>
                <a:latin typeface="Calibri"/>
              </a:rPr>
              <a:t>the inverse identifies which known moment was heard but does not reconstruct thought, evidence for mental-privacy policy (OECD 2019, UNESCO 2025). No new human data collected.</a:t>
            </a:r>
          </a:p>
        </p:txBody>
      </p:sp>
      <p:sp>
        <p:nvSpPr>
          <p:cNvPr id="21" name="Title 3">
            <a:extLst>
              <a:ext uri="{FF2B5EF4-FFF2-40B4-BE49-F238E27FC236}">
                <a16:creationId xmlns:a16="http://schemas.microsoft.com/office/drawing/2014/main" id="{59D14412-E016-81C3-395F-9A6C7132C3F7}"/>
              </a:ext>
            </a:extLst>
          </p:cNvPr>
          <p:cNvSpPr txBox="1">
            <a:spLocks/>
          </p:cNvSpPr>
          <p:nvPr/>
        </p:nvSpPr>
        <p:spPr>
          <a:xfrm>
            <a:off x="457200" y="20482560"/>
            <a:ext cx="14493240" cy="1243584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t"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spcAft>
                <a:spcPts val="800"/>
              </a:spcAft>
            </a:pPr>
            <a:r>
              <a:rPr sz="4000" b="1">
                <a:solidFill>
                  <a:srgbClr val="0B5E66"/>
                </a:solidFill>
                <a:latin typeface="Cambria"/>
              </a:rPr>
              <a:t>Design Methodology and Novelty</a:t>
            </a:r>
          </a:p>
          <a:p>
            <a:pPr>
              <a:lnSpc>
                <a:spcPct val="105000"/>
              </a:lnSpc>
              <a:spcAft>
                <a:spcPts val="800"/>
              </a:spcAft>
            </a:pPr>
            <a:r>
              <a:rPr sz="2600" b="1">
                <a:solidFill>
                  <a:srgbClr val="1A1A1A"/>
                </a:solidFill>
                <a:latin typeface="Calibri"/>
              </a:rPr>
              <a:t>1  Forward operator. </a:t>
            </a:r>
            <a:r>
              <a:rPr sz="2600" b="0">
                <a:solidFill>
                  <a:srgbClr val="1A1A1A"/>
                </a:solidFill>
                <a:latin typeface="Calibri"/>
              </a:rPr>
              <a:t>TRIBE v2 (trained on 451.6 h of fMRI from 25 people watching films and video clips and listening to stories), frozen.</a:t>
            </a:r>
          </a:p>
          <a:p>
            <a:pPr>
              <a:lnSpc>
                <a:spcPct val="105000"/>
              </a:lnSpc>
              <a:spcAft>
                <a:spcPts val="800"/>
              </a:spcAft>
            </a:pPr>
            <a:r>
              <a:rPr sz="2600" b="1">
                <a:solidFill>
                  <a:srgbClr val="1A1A1A"/>
                </a:solidFill>
                <a:latin typeface="Calibri"/>
              </a:rPr>
              <a:t>2  Inversion. </a:t>
            </a:r>
            <a:r>
              <a:rPr sz="2600" b="0">
                <a:solidFill>
                  <a:srgbClr val="1A1A1A"/>
                </a:solidFill>
                <a:latin typeface="Calibri"/>
              </a:rPr>
              <a:t>x̂ = argmin ‖f(x) − y‖², Adam (lr 0.05, cosine schedule), weights frozen.</a:t>
            </a:r>
          </a:p>
          <a:p>
            <a:pPr>
              <a:lnSpc>
                <a:spcPct val="105000"/>
              </a:lnSpc>
              <a:spcAft>
                <a:spcPts val="800"/>
              </a:spcAft>
            </a:pPr>
            <a:r>
              <a:rPr sz="2600" b="1">
                <a:solidFill>
                  <a:srgbClr val="1A1A1A"/>
                </a:solidFill>
                <a:latin typeface="Calibri"/>
              </a:rPr>
              <a:t>3  Exact evaluation. </a:t>
            </a:r>
            <a:r>
              <a:rPr sz="2600" b="0">
                <a:solidFill>
                  <a:srgbClr val="1A1A1A"/>
                </a:solidFill>
                <a:latin typeface="Calibri"/>
              </a:rPr>
              <a:t>Known x in TRIBE v2's input space (8-D, unit scale; real stimuli: 4.9-D) → y = f(x) → recover x; budget, noise, extent, priors, 8 inits × 4 truths; re-checked with a real stimulus as truth.</a:t>
            </a:r>
          </a:p>
          <a:p>
            <a:pPr>
              <a:lnSpc>
                <a:spcPct val="105000"/>
              </a:lnSpc>
              <a:spcAft>
                <a:spcPts val="800"/>
              </a:spcAft>
            </a:pPr>
            <a:r>
              <a:rPr sz="2600" b="1">
                <a:solidFill>
                  <a:srgbClr val="1A1A1A"/>
                </a:solidFill>
                <a:latin typeface="Calibri"/>
              </a:rPr>
              <a:t>4  Mechanism tests. </a:t>
            </a:r>
            <a:r>
              <a:rPr sz="2600" b="0">
                <a:solidFill>
                  <a:srgbClr val="1A1A1A"/>
                </a:solidFill>
                <a:latin typeface="Calibri"/>
              </a:rPr>
              <a:t>Agreement of fit-matched solutions; forward-only straight-path barrier test; Jacobian sensitivity vs 200 random directions.</a:t>
            </a:r>
          </a:p>
          <a:p>
            <a:pPr>
              <a:lnSpc>
                <a:spcPct val="105000"/>
              </a:lnSpc>
              <a:spcAft>
                <a:spcPts val="800"/>
              </a:spcAft>
            </a:pPr>
            <a:r>
              <a:rPr sz="2600" b="1">
                <a:solidFill>
                  <a:srgbClr val="1A1A1A"/>
                </a:solidFill>
                <a:latin typeface="Calibri"/>
              </a:rPr>
              <a:t>5  Regions. </a:t>
            </a:r>
            <a:r>
              <a:rPr sz="2600" b="0">
                <a:solidFill>
                  <a:srgbClr val="1A1A1A"/>
                </a:solidFill>
                <a:latin typeface="Calibri"/>
              </a:rPr>
              <a:t>6 Destrieux networks vs size-matched random vertex sets, with a second random seed as the control spread.</a:t>
            </a:r>
          </a:p>
          <a:p>
            <a:pPr>
              <a:lnSpc>
                <a:spcPct val="105000"/>
              </a:lnSpc>
              <a:spcAft>
                <a:spcPts val="800"/>
              </a:spcAft>
            </a:pPr>
            <a:r>
              <a:rPr sz="2600" b="1">
                <a:solidFill>
                  <a:srgbClr val="1A1A1A"/>
                </a:solidFill>
                <a:latin typeface="Calibri"/>
              </a:rPr>
              <a:t>6  Real fMRI. </a:t>
            </a:r>
            <a:r>
              <a:rPr sz="2600" b="0">
                <a:solidFill>
                  <a:srgbClr val="1A1A1A"/>
                </a:solidFill>
                <a:latin typeface="Calibri"/>
              </a:rPr>
              <a:t>LeBel 2023 subject UTS03 projected to fsaverage5; lag and vertices chosen on five training stories; held-out story inverted and ranked among 45 segments.</a:t>
            </a:r>
          </a:p>
          <a:p>
            <a:pPr>
              <a:lnSpc>
                <a:spcPct val="105000"/>
              </a:lnSpc>
              <a:spcAft>
                <a:spcPts val="800"/>
              </a:spcAft>
            </a:pPr>
            <a:r>
              <a:rPr sz="2600" b="1">
                <a:solidFill>
                  <a:srgbClr val="1A1A1A"/>
                </a:solidFill>
                <a:latin typeface="Calibri"/>
              </a:rPr>
              <a:t>Why fMRI, not EEG: </a:t>
            </a:r>
            <a:r>
              <a:rPr sz="2600" b="0">
                <a:solidFill>
                  <a:srgbClr val="1A1A1A"/>
                </a:solidFill>
                <a:latin typeface="Calibri"/>
              </a:rPr>
              <a:t>millimetre detail on 20,484 vertices, the only deep encoder large enough to invert, and one inverse problem instead of two (EEG adds source localisation). EEG is faster and cheaper, which matters for a device, not for this measurement.</a:t>
            </a:r>
          </a:p>
        </p:txBody>
      </p:sp>
      <p:sp>
        <p:nvSpPr>
          <p:cNvPr id="23" name="Title 3">
            <a:extLst>
              <a:ext uri="{FF2B5EF4-FFF2-40B4-BE49-F238E27FC236}">
                <a16:creationId xmlns:a16="http://schemas.microsoft.com/office/drawing/2014/main" id="{E62FFCB3-6437-47C0-F66A-DB4F3CDC7EDA}"/>
              </a:ext>
            </a:extLst>
          </p:cNvPr>
          <p:cNvSpPr txBox="1">
            <a:spLocks/>
          </p:cNvSpPr>
          <p:nvPr/>
        </p:nvSpPr>
        <p:spPr>
          <a:xfrm>
            <a:off x="15325344" y="20482560"/>
            <a:ext cx="14493240" cy="1243584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t"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spcAft>
                <a:spcPts val="800"/>
              </a:spcAft>
            </a:pPr>
            <a:r>
              <a:rPr sz="4000" b="1">
                <a:solidFill>
                  <a:srgbClr val="0B5E66"/>
                </a:solidFill>
                <a:latin typeface="Cambria"/>
              </a:rPr>
              <a:t>Project Results</a:t>
            </a:r>
          </a:p>
          <a:p>
            <a:pPr>
              <a:lnSpc>
                <a:spcPct val="105000"/>
              </a:lnSpc>
              <a:spcAft>
                <a:spcPts val="600"/>
              </a:spcAft>
            </a:pPr>
            <a:r>
              <a:rPr sz="2300" b="1">
                <a:solidFill>
                  <a:srgbClr val="1A1A1A"/>
                </a:solidFill>
                <a:latin typeface="Calibri"/>
              </a:rPr>
              <a:t>A good fit is not a good decode, and the inverse identifies but does not reconstruct.</a:t>
            </a:r>
          </a:p>
        </p:txBody>
      </p:sp>
      <p:sp>
        <p:nvSpPr>
          <p:cNvPr id="25" name="Title 3">
            <a:extLst>
              <a:ext uri="{FF2B5EF4-FFF2-40B4-BE49-F238E27FC236}">
                <a16:creationId xmlns:a16="http://schemas.microsoft.com/office/drawing/2014/main" id="{DE239D76-0920-ADD7-8702-4CFFBB98D0EA}"/>
              </a:ext>
            </a:extLst>
          </p:cNvPr>
          <p:cNvSpPr txBox="1">
            <a:spLocks/>
          </p:cNvSpPr>
          <p:nvPr/>
        </p:nvSpPr>
        <p:spPr>
          <a:xfrm>
            <a:off x="457200" y="11521440"/>
            <a:ext cx="14493240" cy="859536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t"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spcAft>
                <a:spcPts val="800"/>
              </a:spcAft>
            </a:pPr>
            <a:r>
              <a:rPr sz="4000" b="1">
                <a:solidFill>
                  <a:srgbClr val="0B5E66"/>
                </a:solidFill>
                <a:latin typeface="Cambria"/>
              </a:rPr>
              <a:t>Justification of Complex Engineering Problem</a:t>
            </a:r>
          </a:p>
          <a:p>
            <a:pPr marL="274320" indent="-228600">
              <a:lnSpc>
                <a:spcPct val="105000"/>
              </a:lnSpc>
              <a:spcAft>
                <a:spcPts val="900"/>
              </a:spcAft>
              <a:buChar char="•"/>
            </a:pPr>
            <a:r>
              <a:rPr sz="2700" b="1">
                <a:solidFill>
                  <a:srgbClr val="1A1A1A"/>
                </a:solidFill>
                <a:latin typeface="Calibri"/>
              </a:rPr>
              <a:t>No closed-form answer. </a:t>
            </a:r>
            <a:r>
              <a:rPr sz="2700" b="0">
                <a:solidFill>
                  <a:srgbClr val="1A1A1A"/>
                </a:solidFill>
                <a:latin typeface="Calibri"/>
              </a:rPr>
              <a:t>The forward model is a 177 M-parameter nonlinear transformer mapping a 32 × 1,152 representation to 20,484 cortical vertices; its inverse cannot be written down and must be measured.</a:t>
            </a:r>
          </a:p>
          <a:p>
            <a:pPr marL="274320" indent="-228600">
              <a:lnSpc>
                <a:spcPct val="105000"/>
              </a:lnSpc>
              <a:spcAft>
                <a:spcPts val="900"/>
              </a:spcAft>
              <a:buChar char="•"/>
            </a:pPr>
            <a:r>
              <a:rPr sz="2700" b="1">
                <a:solidFill>
                  <a:srgbClr val="1A1A1A"/>
                </a:solidFill>
                <a:latin typeface="Calibri"/>
              </a:rPr>
              <a:t>Ill-posed by nature. </a:t>
            </a:r>
            <a:r>
              <a:rPr sz="2700" b="0">
                <a:solidFill>
                  <a:srgbClr val="1A1A1A"/>
                </a:solidFill>
                <a:latin typeface="Calibri"/>
              </a:rPr>
              <a:t>Existence, uniqueness and stability of the inverse (Hadamard) are all open: fMRI is slow, blurred and noisy.</a:t>
            </a:r>
          </a:p>
          <a:p>
            <a:pPr marL="274320" indent="-228600">
              <a:lnSpc>
                <a:spcPct val="105000"/>
              </a:lnSpc>
              <a:spcAft>
                <a:spcPts val="900"/>
              </a:spcAft>
              <a:buChar char="•"/>
            </a:pPr>
            <a:r>
              <a:rPr sz="2700" b="1">
                <a:solidFill>
                  <a:srgbClr val="1A1A1A"/>
                </a:solidFill>
                <a:latin typeface="Calibri"/>
              </a:rPr>
              <a:t>No ground truth in real data. </a:t>
            </a:r>
            <a:r>
              <a:rPr sz="2700" b="0">
                <a:solidFill>
                  <a:srgbClr val="1A1A1A"/>
                </a:solidFill>
                <a:latin typeface="Calibri"/>
              </a:rPr>
              <a:t>The true meaning behind a brain recording is unknown, so we built a synthetic framework with exact error, then a real-fMRI test with identification at a known chance level.</a:t>
            </a:r>
          </a:p>
          <a:p>
            <a:pPr marL="274320" indent="-228600">
              <a:lnSpc>
                <a:spcPct val="105000"/>
              </a:lnSpc>
              <a:spcAft>
                <a:spcPts val="900"/>
              </a:spcAft>
              <a:buChar char="•"/>
            </a:pPr>
            <a:r>
              <a:rPr sz="2700" b="1">
                <a:solidFill>
                  <a:srgbClr val="1A1A1A"/>
                </a:solidFill>
                <a:latin typeface="Calibri"/>
              </a:rPr>
              <a:t>Engineering obstacle. </a:t>
            </a:r>
            <a:r>
              <a:rPr sz="2700" b="0">
                <a:solidFill>
                  <a:srgbClr val="1A1A1A"/>
                </a:solidFill>
                <a:latin typeface="Calibri"/>
              </a:rPr>
              <a:t>The released pipeline is not differentiable (speech synthesis, transcription, frozen extractors); we found and re-entered the one differentiable boundary.</a:t>
            </a:r>
          </a:p>
          <a:p>
            <a:pPr marL="274320" indent="-228600">
              <a:lnSpc>
                <a:spcPct val="105000"/>
              </a:lnSpc>
              <a:spcAft>
                <a:spcPts val="900"/>
              </a:spcAft>
              <a:buChar char="•"/>
            </a:pPr>
            <a:r>
              <a:rPr sz="2700" b="1">
                <a:solidFill>
                  <a:srgbClr val="1A1A1A"/>
                </a:solidFill>
                <a:latin typeface="Calibri"/>
              </a:rPr>
              <a:t>Conflicting requirements. </a:t>
            </a:r>
            <a:r>
              <a:rPr sz="2700" b="0">
                <a:solidFill>
                  <a:srgbClr val="1A1A1A"/>
                </a:solidFill>
                <a:latin typeface="Calibri"/>
              </a:rPr>
              <a:t>Decoding fidelity vs non-invasive, low-cost acquisition vs mental privacy cannot all be maximised.</a:t>
            </a:r>
          </a:p>
          <a:p>
            <a:pPr marL="274320" indent="-228600">
              <a:lnSpc>
                <a:spcPct val="105000"/>
              </a:lnSpc>
              <a:spcAft>
                <a:spcPts val="900"/>
              </a:spcAft>
              <a:buChar char="•"/>
            </a:pPr>
            <a:r>
              <a:rPr sz="2700" b="1">
                <a:solidFill>
                  <a:srgbClr val="1A1A1A"/>
                </a:solidFill>
                <a:latin typeface="Calibri"/>
              </a:rPr>
              <a:t>Interdisciplinary. </a:t>
            </a:r>
            <a:r>
              <a:rPr sz="2700" b="0">
                <a:solidFill>
                  <a:srgbClr val="1A1A1A"/>
                </a:solidFill>
                <a:latin typeface="Calibri"/>
              </a:rPr>
              <a:t>Inverse-problem theory, deep learning, neuroimaging (surface registration, atlases) and neuroanatomy must work together.</a:t>
            </a:r>
          </a:p>
          <a:p>
            <a:pPr marL="274320" indent="-228600">
              <a:lnSpc>
                <a:spcPct val="105000"/>
              </a:lnSpc>
              <a:spcAft>
                <a:spcPts val="900"/>
              </a:spcAft>
              <a:buChar char="•"/>
            </a:pPr>
            <a:r>
              <a:rPr sz="2700" b="1">
                <a:solidFill>
                  <a:srgbClr val="1A1A1A"/>
                </a:solidFill>
                <a:latin typeface="Calibri"/>
              </a:rPr>
              <a:t>Scale on free hardware. </a:t>
            </a:r>
            <a:r>
              <a:rPr sz="2700" b="0">
                <a:solidFill>
                  <a:srgbClr val="1A1A1A"/>
                </a:solidFill>
                <a:latin typeface="Calibri"/>
              </a:rPr>
              <a:t>20,484 × 100 outputs per pass, tens of thousands of passes per experiment, one 15 GB GPU.</a:t>
            </a:r>
          </a:p>
        </p:txBody>
      </p:sp>
      <p:sp>
        <p:nvSpPr>
          <p:cNvPr id="27" name="Title 3">
            <a:extLst>
              <a:ext uri="{FF2B5EF4-FFF2-40B4-BE49-F238E27FC236}">
                <a16:creationId xmlns:a16="http://schemas.microsoft.com/office/drawing/2014/main" id="{A3945762-80CE-CF27-6D51-AE1B0E59CB6E}"/>
              </a:ext>
            </a:extLst>
          </p:cNvPr>
          <p:cNvSpPr txBox="1">
            <a:spLocks/>
          </p:cNvSpPr>
          <p:nvPr/>
        </p:nvSpPr>
        <p:spPr>
          <a:xfrm>
            <a:off x="15325344" y="11521440"/>
            <a:ext cx="14493240" cy="859536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t"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spcAft>
                <a:spcPts val="800"/>
              </a:spcAft>
            </a:pPr>
            <a:r>
              <a:rPr sz="4000" b="1">
                <a:solidFill>
                  <a:srgbClr val="0B5E66"/>
                </a:solidFill>
                <a:latin typeface="Cambria"/>
              </a:rPr>
              <a:t>Proposed Block Diagram</a:t>
            </a:r>
          </a:p>
        </p:txBody>
      </p:sp>
      <p:sp>
        <p:nvSpPr>
          <p:cNvPr id="29" name="Title 3">
            <a:extLst>
              <a:ext uri="{FF2B5EF4-FFF2-40B4-BE49-F238E27FC236}">
                <a16:creationId xmlns:a16="http://schemas.microsoft.com/office/drawing/2014/main" id="{EEDB31E8-D2D9-54F3-505A-63C0143C91B7}"/>
              </a:ext>
            </a:extLst>
          </p:cNvPr>
          <p:cNvSpPr txBox="1">
            <a:spLocks/>
          </p:cNvSpPr>
          <p:nvPr/>
        </p:nvSpPr>
        <p:spPr>
          <a:xfrm>
            <a:off x="457200" y="6400800"/>
            <a:ext cx="14493240" cy="475488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t"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spcAft>
                <a:spcPts val="800"/>
              </a:spcAft>
            </a:pPr>
            <a:r>
              <a:rPr sz="4000" b="1">
                <a:solidFill>
                  <a:srgbClr val="0B5E66"/>
                </a:solidFill>
                <a:latin typeface="Cambria"/>
              </a:rPr>
              <a:t>Team members and Guide</a:t>
            </a:r>
          </a:p>
          <a:p>
            <a:pPr marL="274320" indent="-228600">
              <a:lnSpc>
                <a:spcPct val="105000"/>
              </a:lnSpc>
              <a:spcAft>
                <a:spcPts val="1000"/>
              </a:spcAft>
              <a:buChar char="•"/>
            </a:pPr>
            <a:r>
              <a:rPr sz="2900" b="1">
                <a:solidFill>
                  <a:srgbClr val="1A1A1A"/>
                </a:solidFill>
                <a:latin typeface="Calibri"/>
              </a:rPr>
              <a:t>Abhranil Sarkar</a:t>
            </a:r>
            <a:r>
              <a:rPr sz="2900" b="0">
                <a:solidFill>
                  <a:srgbClr val="1A1A1A"/>
                </a:solidFill>
                <a:latin typeface="Calibri"/>
              </a:rPr>
              <a:t>  (23BML0077)  ·  computational track: model instrumentation, inversion engine, experiments, real-fMRI pipeline</a:t>
            </a:r>
          </a:p>
          <a:p>
            <a:pPr marL="274320" indent="-228600">
              <a:lnSpc>
                <a:spcPct val="105000"/>
              </a:lnSpc>
              <a:spcAft>
                <a:spcPts val="1000"/>
              </a:spcAft>
              <a:buChar char="•"/>
            </a:pPr>
            <a:r>
              <a:rPr sz="2900" b="1">
                <a:solidFill>
                  <a:srgbClr val="1A1A1A"/>
                </a:solidFill>
                <a:latin typeface="Calibri"/>
              </a:rPr>
              <a:t>Tanisha Choudhuri</a:t>
            </a:r>
            <a:r>
              <a:rPr sz="2900" b="0">
                <a:solidFill>
                  <a:srgbClr val="1A1A1A"/>
                </a:solidFill>
                <a:latin typeface="Calibri"/>
              </a:rPr>
              <a:t>  (23BML0081)  ·  neurobiological track: cortical networks and ROI definition, dataset curation, interpretation</a:t>
            </a:r>
          </a:p>
          <a:p>
            <a:pPr marL="274320" indent="-228600">
              <a:lnSpc>
                <a:spcPct val="105000"/>
              </a:lnSpc>
              <a:spcAft>
                <a:spcPts val="1000"/>
              </a:spcAft>
              <a:buChar char="•"/>
            </a:pPr>
            <a:r>
              <a:rPr sz="2900" b="1">
                <a:solidFill>
                  <a:srgbClr val="1A1A1A"/>
                </a:solidFill>
                <a:latin typeface="Calibri"/>
              </a:rPr>
              <a:t>Guide: </a:t>
            </a:r>
            <a:r>
              <a:rPr sz="2900" b="0">
                <a:solidFill>
                  <a:srgbClr val="1A1A1A"/>
                </a:solidFill>
                <a:latin typeface="Calibri"/>
              </a:rPr>
              <a:t>Dr. Sharmila Nageswaran, Associate Professor, School of Electronics Engineering (SENSE), VIT Vellore</a:t>
            </a:r>
          </a:p>
          <a:p>
            <a:pPr marL="274320" indent="-228600">
              <a:lnSpc>
                <a:spcPct val="105000"/>
              </a:lnSpc>
              <a:spcAft>
                <a:spcPts val="1000"/>
              </a:spcAft>
              <a:buChar char="•"/>
            </a:pPr>
            <a:r>
              <a:rPr sz="2900" b="1">
                <a:solidFill>
                  <a:srgbClr val="1A1A1A"/>
                </a:solidFill>
                <a:latin typeface="Calibri"/>
              </a:rPr>
              <a:t>Effort: </a:t>
            </a:r>
            <a:r>
              <a:rPr sz="2900" b="0">
                <a:solidFill>
                  <a:srgbClr val="1A1A1A"/>
                </a:solidFill>
                <a:latin typeface="Calibri"/>
              </a:rPr>
              <a:t>580 person-hours (330 + 250), seven stages, August–October 2026</a:t>
            </a:r>
          </a:p>
        </p:txBody>
      </p:sp>
      <p:sp>
        <p:nvSpPr>
          <p:cNvPr id="31" name="Title 3">
            <a:extLst>
              <a:ext uri="{FF2B5EF4-FFF2-40B4-BE49-F238E27FC236}">
                <a16:creationId xmlns:a16="http://schemas.microsoft.com/office/drawing/2014/main" id="{7F230FE4-4CF3-CB6B-3D60-11A4538C2AE0}"/>
              </a:ext>
            </a:extLst>
          </p:cNvPr>
          <p:cNvSpPr txBox="1">
            <a:spLocks/>
          </p:cNvSpPr>
          <p:nvPr/>
        </p:nvSpPr>
        <p:spPr>
          <a:xfrm>
            <a:off x="15325344" y="6400800"/>
            <a:ext cx="14493240" cy="475488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t"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spcAft>
                <a:spcPts val="800"/>
              </a:spcAft>
            </a:pPr>
            <a:r>
              <a:rPr sz="4000" b="1">
                <a:solidFill>
                  <a:srgbClr val="0B5E66"/>
                </a:solidFill>
                <a:latin typeface="Cambria"/>
              </a:rPr>
              <a:t>Project Overview</a:t>
            </a:r>
          </a:p>
          <a:p>
            <a:pPr>
              <a:lnSpc>
                <a:spcPct val="105000"/>
              </a:lnSpc>
              <a:spcAft>
                <a:spcPts val="1000"/>
              </a:spcAft>
            </a:pPr>
            <a:r>
              <a:rPr sz="2900" b="0">
                <a:solidFill>
                  <a:srgbClr val="1A1A1A"/>
                </a:solidFill>
                <a:latin typeface="Calibri"/>
              </a:rPr>
              <a:t>Encoding models predict fMRI from what a person sees and hears; decoding runs the other way. Can a near-perfect encoder simply be inverted to read meaning back out?</a:t>
            </a:r>
          </a:p>
          <a:p>
            <a:pPr>
              <a:lnSpc>
                <a:spcPct val="105000"/>
              </a:lnSpc>
              <a:spcAft>
                <a:spcPts val="1000"/>
              </a:spcAft>
            </a:pPr>
            <a:r>
              <a:rPr sz="2900" b="0">
                <a:solidFill>
                  <a:srgbClr val="1A1A1A"/>
                </a:solidFill>
                <a:latin typeface="Calibri"/>
              </a:rPr>
              <a:t>We invert Meta's open 177 M-parameter TRIBE v2 encoder by gradient descent, measure </a:t>
            </a:r>
            <a:r>
              <a:rPr sz="2900" b="1">
                <a:solidFill>
                  <a:srgbClr val="1A1A1A"/>
                </a:solidFill>
                <a:latin typeface="Calibri"/>
              </a:rPr>
              <a:t>uniqueness, conditioning and regional recoverability</a:t>
            </a:r>
            <a:r>
              <a:rPr sz="2900" b="0">
                <a:solidFill>
                  <a:srgbClr val="1A1A1A"/>
                </a:solidFill>
                <a:latin typeface="Calibri"/>
              </a:rPr>
              <a:t> with exact ground truth, and validate on real fMRI from a held-out story.</a:t>
            </a:r>
          </a:p>
          <a:p>
            <a:pPr>
              <a:lnSpc>
                <a:spcPct val="105000"/>
              </a:lnSpc>
              <a:spcAft>
                <a:spcPts val="1000"/>
              </a:spcAft>
            </a:pPr>
            <a:r>
              <a:rPr sz="2900" b="1">
                <a:solidFill>
                  <a:srgbClr val="1A1A1A"/>
                </a:solidFill>
                <a:latin typeface="Calibri"/>
              </a:rPr>
              <a:t>Answer: no. </a:t>
            </a:r>
            <a:r>
              <a:rPr sz="2900" b="0">
                <a:solidFill>
                  <a:srgbClr val="1A1A1A"/>
                </a:solidFill>
                <a:latin typeface="Calibri"/>
              </a:rPr>
              <a:t>Error falls 28.4× while recovery saturates; on real fMRI 4 of 5 held-out segments are identified (chance 2.2%), yet cosine to the truth is only 0.02.</a:t>
            </a:r>
          </a:p>
        </p:txBody>
      </p:sp>
      <p:sp>
        <p:nvSpPr>
          <p:cNvPr id="33" name="Title 3">
            <a:extLst>
              <a:ext uri="{FF2B5EF4-FFF2-40B4-BE49-F238E27FC236}">
                <a16:creationId xmlns:a16="http://schemas.microsoft.com/office/drawing/2014/main" id="{C56FC43F-F396-CC8E-57BF-C134DE09B9C5}"/>
              </a:ext>
            </a:extLst>
          </p:cNvPr>
          <p:cNvSpPr txBox="1">
            <a:spLocks/>
          </p:cNvSpPr>
          <p:nvPr/>
        </p:nvSpPr>
        <p:spPr>
          <a:xfrm>
            <a:off x="457200" y="40050720"/>
            <a:ext cx="14493240" cy="246888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t"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spcAft>
                <a:spcPts val="800"/>
              </a:spcAft>
            </a:pPr>
            <a:r>
              <a:rPr sz="2800" b="1">
                <a:solidFill>
                  <a:srgbClr val="0B5E66"/>
                </a:solidFill>
                <a:latin typeface="Cambria"/>
              </a:rPr>
              <a:t>References</a:t>
            </a:r>
          </a:p>
          <a:p>
            <a:pPr>
              <a:lnSpc>
                <a:spcPct val="105000"/>
              </a:lnSpc>
              <a:spcAft>
                <a:spcPts val="0"/>
              </a:spcAft>
            </a:pPr>
            <a:r>
              <a:rPr sz="1850" b="0">
                <a:solidFill>
                  <a:srgbClr val="1A1A1A"/>
                </a:solidFill>
                <a:latin typeface="Calibri"/>
              </a:rPr>
              <a:t>[1] S. d'Ascoli et al., TRIBE v2, arXiv:2605.04326, 2026.  [2] J. L. Gardner, T. Liu, eNeuro 6(2), 2019.  [3] J. Tang et al., Nat. Neurosci. 26, 858–866, 2023.  [4] A. LeBel et al., Sci. Data 10, 555, 2023.  [5] K. N. Kay et al., Nature 452, 352–355, 2008.  [6] P. C. Hansen, Discrete Inverse Problems, SIAM, 2010.  [7] J. Lévy et al., arXiv:2502.17480, 2025.  [8] C. Destrieux et al., NeuroImage 53, 1–15, 2010.  [9] T. Naselaris et al., NeuroImage 56, 400–410, 2011.  [10] A. G. Huth et al., Nature 532, 453–458, 2016.  [11] R. Antonello et al., NeurIPS 36, 2023.  [12] A. T. Gifford et al., arXiv:2501.00504, 2025.  [13] B. Lahner et al., Nat. Commun. 15, 6241, 2024.  [14] Q. K. Telesford et al., Sci. Data 10, 554, 2023.  [15] C. M. Michel et al., Clin. Neurophysiol. 115, 2195–2222, 2004.</a:t>
            </a:r>
          </a:p>
        </p:txBody>
      </p:sp>
      <p:sp>
        <p:nvSpPr>
          <p:cNvPr id="3" name="Title 3">
            <a:extLst>
              <a:ext uri="{FF2B5EF4-FFF2-40B4-BE49-F238E27FC236}">
                <a16:creationId xmlns:a16="http://schemas.microsoft.com/office/drawing/2014/main" id="{61E18610-31FA-BB6D-0ACE-1B16A759EEE7}"/>
              </a:ext>
            </a:extLst>
          </p:cNvPr>
          <p:cNvSpPr txBox="1">
            <a:spLocks/>
          </p:cNvSpPr>
          <p:nvPr/>
        </p:nvSpPr>
        <p:spPr>
          <a:xfrm>
            <a:off x="15325344" y="40050720"/>
            <a:ext cx="14493240" cy="2468880"/>
          </a:xfrm>
          <a:prstGeom prst="rect">
            <a:avLst/>
          </a:prstGeom>
        </p:spPr>
        <p:style>
          <a:lnRef idx="2">
            <a:schemeClr val="accent2"/>
          </a:lnRef>
          <a:fillRef idx="1">
            <a:schemeClr val="lt1"/>
          </a:fillRef>
          <a:effectRef idx="0">
            <a:schemeClr val="accent2"/>
          </a:effectRef>
          <a:fontRef idx="minor">
            <a:schemeClr val="dk1"/>
          </a:fontRef>
        </p:style>
        <p:txBody>
          <a:bodyPr vert="horz" lIns="228600" tIns="137160" rIns="228600" bIns="91440" rtlCol="0" anchor="t" wrap="square"/>
          <a:lstStyle>
            <a:lvl1pPr algn="l" defTabSz="3027487" rtl="0" eaLnBrk="1" latinLnBrk="0" hangingPunct="1">
              <a:lnSpc>
                <a:spcPct val="90000"/>
              </a:lnSpc>
              <a:spcBef>
                <a:spcPct val="0"/>
              </a:spcBef>
              <a:buNone/>
              <a:defRPr sz="14568"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spcAft>
                <a:spcPts val="800"/>
              </a:spcAft>
            </a:pPr>
            <a:r>
              <a:rPr sz="2800" b="1">
                <a:solidFill>
                  <a:srgbClr val="0B5E66"/>
                </a:solidFill>
                <a:latin typeface="Cambria"/>
              </a:rPr>
              <a:t>Project outcome</a:t>
            </a:r>
          </a:p>
          <a:p>
            <a:pPr>
              <a:lnSpc>
                <a:spcPct val="105000"/>
              </a:lnSpc>
              <a:spcAft>
                <a:spcPts val="500"/>
              </a:spcAft>
            </a:pPr>
            <a:r>
              <a:rPr sz="2000" b="1">
                <a:solidFill>
                  <a:srgbClr val="1A1A1A"/>
                </a:solidFill>
                <a:latin typeface="Calibri"/>
              </a:rPr>
              <a:t>Manuscript: </a:t>
            </a:r>
            <a:r>
              <a:rPr sz="2000" b="0">
                <a:solidFill>
                  <a:srgbClr val="1A1A1A"/>
                </a:solidFill>
                <a:latin typeface="Calibri"/>
              </a:rPr>
              <a:t>IEEE-format paper, A. Sarkar*, T. Choudhuri*, S. Nageswaran; ready for submission.  </a:t>
            </a:r>
            <a:r>
              <a:rPr sz="2000" b="1">
                <a:solidFill>
                  <a:srgbClr val="1A1A1A"/>
                </a:solidFill>
                <a:latin typeface="Calibri"/>
              </a:rPr>
              <a:t>Report: </a:t>
            </a:r>
            <a:r>
              <a:rPr sz="2000" b="0">
                <a:solidFill>
                  <a:srgbClr val="1A1A1A"/>
                </a:solidFill>
                <a:latin typeface="Calibri"/>
              </a:rPr>
              <a:t>final Project-I report in the 2026 VIT format.</a:t>
            </a:r>
          </a:p>
          <a:p>
            <a:pPr>
              <a:lnSpc>
                <a:spcPct val="105000"/>
              </a:lnSpc>
              <a:spcAft>
                <a:spcPts val="500"/>
              </a:spcAft>
            </a:pPr>
            <a:r>
              <a:rPr sz="2000" b="1">
                <a:solidFill>
                  <a:srgbClr val="1A1A1A"/>
                </a:solidFill>
                <a:latin typeface="Calibri"/>
              </a:rPr>
              <a:t>Open release: </a:t>
            </a:r>
            <a:r>
              <a:rPr sz="2000" b="0">
                <a:solidFill>
                  <a:srgbClr val="1A1A1A"/>
                </a:solidFill>
                <a:latin typeface="Calibri"/>
              </a:rPr>
              <a:t>GitHub repository (QR code above) with all code, logged results, an interactive live demo and four Colab notebooks, including a live run of TRIBE v2.  </a:t>
            </a:r>
            <a:r>
              <a:rPr sz="2000" b="1">
                <a:solidFill>
                  <a:srgbClr val="1A1A1A"/>
                </a:solidFill>
                <a:latin typeface="Calibri"/>
              </a:rPr>
              <a:t>Cost: </a:t>
            </a:r>
            <a:r>
              <a:rPr sz="2000" b="0">
                <a:solidFill>
                  <a:srgbClr val="1A1A1A"/>
                </a:solidFill>
                <a:latin typeface="Calibri"/>
              </a:rPr>
              <a:t>₹0 compute on free GPUs.</a:t>
            </a:r>
          </a:p>
          <a:p>
            <a:pPr>
              <a:lnSpc>
                <a:spcPct val="105000"/>
              </a:lnSpc>
              <a:spcAft>
                <a:spcPts val="500"/>
              </a:spcAft>
            </a:pPr>
            <a:r>
              <a:rPr sz="2000" b="1">
                <a:solidFill>
                  <a:srgbClr val="1A1A1A"/>
                </a:solidFill>
                <a:latin typeface="Calibri"/>
              </a:rPr>
              <a:t>Finding: </a:t>
            </a:r>
            <a:r>
              <a:rPr sz="2000" b="0">
                <a:solidFill>
                  <a:srgbClr val="1A1A1A"/>
                </a:solidFill>
                <a:latin typeface="Calibri"/>
              </a:rPr>
              <a:t>encoding accuracy does not certify decoding; recoverability must be measured, region by region.</a:t>
            </a:r>
          </a:p>
        </p:txBody>
      </p:sp>
      <p:pic>
        <p:nvPicPr>
          <p:cNvPr id="34" name="Picture 33" descr="image1.jpeg"/>
          <p:cNvPicPr>
            <a:picLocks noChangeAspect="1"/>
          </p:cNvPicPr>
          <p:nvPr/>
        </p:nvPicPr>
        <p:blipFill>
          <a:blip r:embed="rId3"/>
          <a:stretch>
            <a:fillRect/>
          </a:stretch>
        </p:blipFill>
        <p:spPr>
          <a:xfrm>
            <a:off x="822960" y="907352"/>
            <a:ext cx="5669280" cy="1568575"/>
          </a:xfrm>
          <a:prstGeom prst="rect">
            <a:avLst/>
          </a:prstGeom>
        </p:spPr>
      </p:pic>
      <p:pic>
        <p:nvPicPr>
          <p:cNvPr id="35" name="Picture 34" descr="repo_qr_plain.png"/>
          <p:cNvPicPr>
            <a:picLocks noChangeAspect="1"/>
          </p:cNvPicPr>
          <p:nvPr/>
        </p:nvPicPr>
        <p:blipFill>
          <a:blip r:embed="rId4"/>
          <a:stretch>
            <a:fillRect/>
          </a:stretch>
        </p:blipFill>
        <p:spPr>
          <a:xfrm>
            <a:off x="26517600" y="502920"/>
            <a:ext cx="2377440" cy="2377440"/>
          </a:xfrm>
          <a:prstGeom prst="rect">
            <a:avLst/>
          </a:prstGeom>
        </p:spPr>
      </p:pic>
      <p:sp>
        <p:nvSpPr>
          <p:cNvPr id="36" name="TextBox 35"/>
          <p:cNvSpPr txBox="1"/>
          <p:nvPr/>
        </p:nvSpPr>
        <p:spPr>
          <a:xfrm>
            <a:off x="23774400" y="1097280"/>
            <a:ext cx="2697480" cy="1280160"/>
          </a:xfrm>
          <a:prstGeom prst="rect">
            <a:avLst/>
          </a:prstGeom>
          <a:noFill/>
        </p:spPr>
        <p:txBody>
          <a:bodyPr wrap="square">
            <a:spAutoFit/>
          </a:bodyPr>
          <a:lstStyle/>
          <a:p>
            <a:pPr algn="r"/>
            <a:r>
              <a:rPr sz="2000" b="1">
                <a:solidFill>
                  <a:srgbClr val="0B5E66"/>
                </a:solidFill>
                <a:latin typeface="Calibri"/>
              </a:rPr>
              <a:t>Code, data and demo</a:t>
            </a:r>
          </a:p>
          <a:p>
            <a:pPr algn="r"/>
            <a:r>
              <a:rPr sz="1500" b="0">
                <a:solidFill>
                  <a:srgbClr val="555555"/>
                </a:solidFill>
                <a:latin typeface="Calibri"/>
              </a:rPr>
              <a:t>github.com/Ivxn404/semantic-decoding-tribe-inversion</a:t>
            </a:r>
          </a:p>
        </p:txBody>
      </p:sp>
      <p:sp>
        <p:nvSpPr>
          <p:cNvPr id="37" name="Rounded Rectangle 36"/>
          <p:cNvSpPr/>
          <p:nvPr/>
        </p:nvSpPr>
        <p:spPr>
          <a:xfrm>
            <a:off x="15645384" y="12755880"/>
            <a:ext cx="3154680" cy="1691640"/>
          </a:xfrm>
          <a:prstGeom prst="roundRect">
            <a:avLst>
              <a:gd name="adj" fmla="val 12000"/>
            </a:avLst>
          </a:prstGeom>
          <a:solidFill>
            <a:srgbClr val="E8F3F1"/>
          </a:solidFill>
          <a:ln w="31750">
            <a:solidFill>
              <a:srgbClr val="0B5E6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200" b="1">
                <a:solidFill>
                  <a:srgbClr val="1A1A1A"/>
                </a:solidFill>
                <a:latin typeface="Calibri"/>
              </a:rPr>
              <a:t>Stimulus</a:t>
            </a:r>
          </a:p>
          <a:p>
            <a:pPr algn="ctr"/>
            <a:r>
              <a:rPr sz="1800" b="0">
                <a:solidFill>
                  <a:srgbClr val="1A1A1A"/>
                </a:solidFill>
                <a:latin typeface="Calibri"/>
              </a:rPr>
              <a:t>story audio + words</a:t>
            </a:r>
          </a:p>
        </p:txBody>
      </p:sp>
      <p:sp>
        <p:nvSpPr>
          <p:cNvPr id="38" name="Rounded Rectangle 37"/>
          <p:cNvSpPr/>
          <p:nvPr/>
        </p:nvSpPr>
        <p:spPr>
          <a:xfrm>
            <a:off x="19302984" y="12755880"/>
            <a:ext cx="3154680" cy="1691640"/>
          </a:xfrm>
          <a:prstGeom prst="roundRect">
            <a:avLst>
              <a:gd name="adj" fmla="val 12000"/>
            </a:avLst>
          </a:prstGeom>
          <a:solidFill>
            <a:srgbClr val="FFFFFF"/>
          </a:solidFill>
          <a:ln w="317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200" b="1">
                <a:solidFill>
                  <a:srgbClr val="1A1A1A"/>
                </a:solidFill>
                <a:latin typeface="Calibri"/>
              </a:rPr>
              <a:t>Feature extractors</a:t>
            </a:r>
          </a:p>
          <a:p>
            <a:pPr algn="ctr"/>
            <a:r>
              <a:rPr sz="1800" b="0">
                <a:solidFill>
                  <a:srgbClr val="1A1A1A"/>
                </a:solidFill>
                <a:latin typeface="Calibri"/>
              </a:rPr>
              <a:t>w2v-BERT, Llama-3.2-3B</a:t>
            </a:r>
          </a:p>
        </p:txBody>
      </p:sp>
      <p:sp>
        <p:nvSpPr>
          <p:cNvPr id="39" name="Rounded Rectangle 38"/>
          <p:cNvSpPr/>
          <p:nvPr/>
        </p:nvSpPr>
        <p:spPr>
          <a:xfrm>
            <a:off x="22960584" y="12755880"/>
            <a:ext cx="3154680" cy="1691640"/>
          </a:xfrm>
          <a:prstGeom prst="roundRect">
            <a:avLst>
              <a:gd name="adj" fmla="val 12000"/>
            </a:avLst>
          </a:prstGeom>
          <a:solidFill>
            <a:srgbClr val="FFF1C4"/>
          </a:solidFill>
          <a:ln w="31750">
            <a:solidFill>
              <a:srgbClr val="C24E1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200" b="1">
                <a:solidFill>
                  <a:srgbClr val="1A1A1A"/>
                </a:solidFill>
                <a:latin typeface="Calibri"/>
              </a:rPr>
              <a:t>Representation x</a:t>
            </a:r>
          </a:p>
          <a:p>
            <a:pPr algn="ctr"/>
            <a:r>
              <a:rPr sz="1800" b="0">
                <a:solidFill>
                  <a:srgbClr val="1A1A1A"/>
                </a:solidFill>
                <a:latin typeface="Calibri"/>
              </a:rPr>
              <a:t>32 × 1,152 (free)</a:t>
            </a:r>
          </a:p>
        </p:txBody>
      </p:sp>
      <p:sp>
        <p:nvSpPr>
          <p:cNvPr id="40" name="Rounded Rectangle 39"/>
          <p:cNvSpPr/>
          <p:nvPr/>
        </p:nvSpPr>
        <p:spPr>
          <a:xfrm>
            <a:off x="26618184" y="12755880"/>
            <a:ext cx="3154680" cy="1691640"/>
          </a:xfrm>
          <a:prstGeom prst="roundRect">
            <a:avLst>
              <a:gd name="adj" fmla="val 12000"/>
            </a:avLst>
          </a:prstGeom>
          <a:solidFill>
            <a:srgbClr val="13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200" b="1">
                <a:solidFill>
                  <a:srgbClr val="FFFFFF"/>
                </a:solidFill>
                <a:latin typeface="Calibri"/>
              </a:rPr>
              <a:t>TRIBE v2, frozen</a:t>
            </a:r>
          </a:p>
          <a:p>
            <a:pPr algn="ctr"/>
            <a:r>
              <a:rPr sz="1800" b="0">
                <a:solidFill>
                  <a:srgbClr val="FFFFFF"/>
                </a:solidFill>
                <a:latin typeface="Calibri"/>
              </a:rPr>
              <a:t>177 M parameters</a:t>
            </a:r>
          </a:p>
        </p:txBody>
      </p:sp>
      <p:cxnSp>
        <p:nvCxnSpPr>
          <p:cNvPr id="41" name="Connector 40"/>
          <p:cNvCxnSpPr/>
          <p:nvPr/>
        </p:nvCxnSpPr>
        <p:spPr>
          <a:xfrm>
            <a:off x="18800064" y="13601700"/>
            <a:ext cx="502920" cy="0"/>
          </a:xfrm>
          <a:prstGeom prst="line">
            <a:avLst/>
          </a:prstGeom>
          <a:ln w="50800">
            <a:solidFill>
              <a:srgbClr val="1324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2457664" y="13601700"/>
            <a:ext cx="502920" cy="0"/>
          </a:xfrm>
          <a:prstGeom prst="line">
            <a:avLst/>
          </a:prstGeom>
          <a:ln w="50800">
            <a:solidFill>
              <a:srgbClr val="1324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6115264" y="13601700"/>
            <a:ext cx="502920" cy="0"/>
          </a:xfrm>
          <a:prstGeom prst="line">
            <a:avLst/>
          </a:prstGeom>
          <a:ln w="50800">
            <a:solidFill>
              <a:srgbClr val="1324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26618184" y="15224759"/>
            <a:ext cx="3154680" cy="1691640"/>
          </a:xfrm>
          <a:prstGeom prst="roundRect">
            <a:avLst>
              <a:gd name="adj" fmla="val 12000"/>
            </a:avLst>
          </a:prstGeom>
          <a:solidFill>
            <a:srgbClr val="E8F3F1"/>
          </a:solidFill>
          <a:ln w="31750">
            <a:solidFill>
              <a:srgbClr val="0B5E6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200" b="1">
                <a:solidFill>
                  <a:srgbClr val="1A1A1A"/>
                </a:solidFill>
                <a:latin typeface="Calibri"/>
              </a:rPr>
              <a:t>Predicted fMRI f(x)</a:t>
            </a:r>
          </a:p>
          <a:p>
            <a:pPr algn="ctr"/>
            <a:r>
              <a:rPr sz="1800" b="0">
                <a:solidFill>
                  <a:srgbClr val="1A1A1A"/>
                </a:solidFill>
                <a:latin typeface="Calibri"/>
              </a:rPr>
              <a:t>20,484 vertices</a:t>
            </a:r>
          </a:p>
        </p:txBody>
      </p:sp>
      <p:cxnSp>
        <p:nvCxnSpPr>
          <p:cNvPr id="45" name="Connector 44"/>
          <p:cNvCxnSpPr/>
          <p:nvPr/>
        </p:nvCxnSpPr>
        <p:spPr>
          <a:xfrm>
            <a:off x="28195524" y="14447519"/>
            <a:ext cx="0" cy="777240"/>
          </a:xfrm>
          <a:prstGeom prst="line">
            <a:avLst/>
          </a:prstGeom>
          <a:ln w="50800">
            <a:solidFill>
              <a:srgbClr val="1324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22960584" y="15224759"/>
            <a:ext cx="3154680" cy="1691640"/>
          </a:xfrm>
          <a:prstGeom prst="roundRect">
            <a:avLst>
              <a:gd name="adj" fmla="val 12000"/>
            </a:avLst>
          </a:prstGeom>
          <a:solidFill>
            <a:srgbClr val="FFFFFF"/>
          </a:solidFill>
          <a:ln w="317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200" b="1">
                <a:solidFill>
                  <a:srgbClr val="1A1A1A"/>
                </a:solidFill>
                <a:latin typeface="Calibri"/>
              </a:rPr>
              <a:t>Loss</a:t>
            </a:r>
          </a:p>
          <a:p>
            <a:pPr algn="ctr"/>
            <a:r>
              <a:rPr sz="1800" b="0">
                <a:solidFill>
                  <a:srgbClr val="1A1A1A"/>
                </a:solidFill>
                <a:latin typeface="Calibri"/>
              </a:rPr>
              <a:t>‖f(x) − y‖² or 1 − r</a:t>
            </a:r>
          </a:p>
        </p:txBody>
      </p:sp>
      <p:cxnSp>
        <p:nvCxnSpPr>
          <p:cNvPr id="47" name="Connector 46"/>
          <p:cNvCxnSpPr/>
          <p:nvPr/>
        </p:nvCxnSpPr>
        <p:spPr>
          <a:xfrm flipH="1">
            <a:off x="26115264" y="16070580"/>
            <a:ext cx="502920" cy="0"/>
          </a:xfrm>
          <a:prstGeom prst="line">
            <a:avLst/>
          </a:prstGeom>
          <a:ln w="50800">
            <a:solidFill>
              <a:srgbClr val="1324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19302984" y="15224759"/>
            <a:ext cx="3154680" cy="1691640"/>
          </a:xfrm>
          <a:prstGeom prst="roundRect">
            <a:avLst>
              <a:gd name="adj" fmla="val 12000"/>
            </a:avLst>
          </a:prstGeom>
          <a:solidFill>
            <a:srgbClr val="E8F3F1"/>
          </a:solidFill>
          <a:ln w="31750">
            <a:solidFill>
              <a:srgbClr val="0B5E6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200" b="1">
                <a:solidFill>
                  <a:srgbClr val="1A1A1A"/>
                </a:solidFill>
                <a:latin typeface="Calibri"/>
              </a:rPr>
              <a:t>Target fMRI y</a:t>
            </a:r>
          </a:p>
          <a:p>
            <a:pPr algn="ctr"/>
            <a:r>
              <a:rPr sz="1800" b="0">
                <a:solidFill>
                  <a:srgbClr val="1A1A1A"/>
                </a:solidFill>
                <a:latin typeface="Calibri"/>
              </a:rPr>
              <a:t>synthetic or real BOLD</a:t>
            </a:r>
          </a:p>
        </p:txBody>
      </p:sp>
      <p:cxnSp>
        <p:nvCxnSpPr>
          <p:cNvPr id="49" name="Connector 48"/>
          <p:cNvCxnSpPr/>
          <p:nvPr/>
        </p:nvCxnSpPr>
        <p:spPr>
          <a:xfrm>
            <a:off x="22457664" y="16070580"/>
            <a:ext cx="502920" cy="0"/>
          </a:xfrm>
          <a:prstGeom prst="line">
            <a:avLst/>
          </a:prstGeom>
          <a:ln w="50800">
            <a:solidFill>
              <a:srgbClr val="1324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15645384" y="15224759"/>
            <a:ext cx="3154680" cy="1691640"/>
          </a:xfrm>
          <a:prstGeom prst="roundRect">
            <a:avLst>
              <a:gd name="adj" fmla="val 12000"/>
            </a:avLst>
          </a:prstGeom>
          <a:solidFill>
            <a:srgbClr val="FFF1C4"/>
          </a:solidFill>
          <a:ln w="31750">
            <a:solidFill>
              <a:srgbClr val="C24E1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200" b="1">
                <a:solidFill>
                  <a:srgbClr val="1A1A1A"/>
                </a:solidFill>
                <a:latin typeface="Calibri"/>
              </a:rPr>
              <a:t>Adam update</a:t>
            </a:r>
          </a:p>
          <a:p>
            <a:pPr algn="ctr"/>
            <a:r>
              <a:rPr sz="1800" b="0">
                <a:solidFill>
                  <a:srgbClr val="1A1A1A"/>
                </a:solidFill>
                <a:latin typeface="Calibri"/>
              </a:rPr>
              <a:t>gradient to x only</a:t>
            </a:r>
          </a:p>
        </p:txBody>
      </p:sp>
      <p:cxnSp>
        <p:nvCxnSpPr>
          <p:cNvPr id="51" name="Connector 50"/>
          <p:cNvCxnSpPr/>
          <p:nvPr/>
        </p:nvCxnSpPr>
        <p:spPr>
          <a:xfrm>
            <a:off x="23326344" y="16916400"/>
            <a:ext cx="0" cy="320040"/>
          </a:xfrm>
          <a:prstGeom prst="line">
            <a:avLst/>
          </a:prstGeom>
          <a:ln w="50800">
            <a:solidFill>
              <a:srgbClr val="C24E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7222724" y="17236440"/>
            <a:ext cx="6103620" cy="0"/>
          </a:xfrm>
          <a:prstGeom prst="line">
            <a:avLst/>
          </a:prstGeom>
          <a:ln w="50800">
            <a:solidFill>
              <a:srgbClr val="C24E14"/>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7222724" y="16916400"/>
            <a:ext cx="0" cy="320040"/>
          </a:xfrm>
          <a:prstGeom prst="line">
            <a:avLst/>
          </a:prstGeom>
          <a:ln w="50800">
            <a:solidFill>
              <a:srgbClr val="C24E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7222724" y="14447519"/>
            <a:ext cx="6286500" cy="777240"/>
          </a:xfrm>
          <a:prstGeom prst="line">
            <a:avLst/>
          </a:prstGeom>
          <a:ln w="50800">
            <a:solidFill>
              <a:srgbClr val="C24E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15645384" y="17876520"/>
            <a:ext cx="6812280" cy="1371600"/>
          </a:xfrm>
          <a:prstGeom prst="roundRect">
            <a:avLst>
              <a:gd name="adj" fmla="val 12000"/>
            </a:avLst>
          </a:prstGeom>
          <a:solidFill>
            <a:srgbClr val="13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200" b="1">
                <a:solidFill>
                  <a:srgbClr val="FFFFFF"/>
                </a:solidFill>
                <a:latin typeface="Calibri"/>
              </a:rPr>
              <a:t>Evaluate x̂: cosine to truth, identification rank</a:t>
            </a:r>
          </a:p>
        </p:txBody>
      </p:sp>
      <p:sp>
        <p:nvSpPr>
          <p:cNvPr id="56" name="Rounded Rectangle 55"/>
          <p:cNvSpPr/>
          <p:nvPr/>
        </p:nvSpPr>
        <p:spPr>
          <a:xfrm>
            <a:off x="22960584" y="17876520"/>
            <a:ext cx="6812280" cy="1371600"/>
          </a:xfrm>
          <a:prstGeom prst="roundRect">
            <a:avLst>
              <a:gd name="adj" fmla="val 12000"/>
            </a:avLst>
          </a:prstGeom>
          <a:solidFill>
            <a:srgbClr val="0B5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2200" b="1">
                <a:solidFill>
                  <a:srgbClr val="FFFFFF"/>
                </a:solidFill>
                <a:latin typeface="Calibri"/>
              </a:rPr>
              <a:t>Controls: 8 inits × 4 truths, barrier, ROI vs random</a:t>
            </a:r>
          </a:p>
        </p:txBody>
      </p:sp>
      <p:sp>
        <p:nvSpPr>
          <p:cNvPr id="57" name="TextBox 56"/>
          <p:cNvSpPr txBox="1"/>
          <p:nvPr/>
        </p:nvSpPr>
        <p:spPr>
          <a:xfrm>
            <a:off x="15599664" y="19339560"/>
            <a:ext cx="13944600" cy="640080"/>
          </a:xfrm>
          <a:prstGeom prst="rect">
            <a:avLst/>
          </a:prstGeom>
          <a:noFill/>
        </p:spPr>
        <p:txBody>
          <a:bodyPr wrap="square">
            <a:spAutoFit/>
          </a:bodyPr>
          <a:lstStyle/>
          <a:p>
            <a:r>
              <a:rPr sz="1900" b="0">
                <a:solidFill>
                  <a:srgbClr val="555555"/>
                </a:solidFill>
                <a:latin typeface="Calibri"/>
              </a:rPr>
              <a:t>Only x is optimised; network weights stay frozen. Re-entering after feature aggregation reproduces TRIBE v2's predictions exactly (r = 1.0000).</a:t>
            </a:r>
          </a:p>
        </p:txBody>
      </p:sp>
      <p:graphicFrame>
        <p:nvGraphicFramePr>
          <p:cNvPr id="58" name="Table 57"/>
          <p:cNvGraphicFramePr>
            <a:graphicFrameLocks noGrp="1"/>
          </p:cNvGraphicFramePr>
          <p:nvPr/>
        </p:nvGraphicFramePr>
        <p:xfrm>
          <a:off x="731520" y="28026360"/>
          <a:ext cx="13944600" cy="3730752"/>
        </p:xfrm>
        <a:graphic>
          <a:graphicData uri="http://schemas.openxmlformats.org/drawingml/2006/table">
            <a:tbl>
              <a:tblPr firstRow="1" bandRow="1">
                <a:tableStyleId>{5C22544A-7EE6-4342-B048-85BDC9FD1C3A}</a:tableStyleId>
              </a:tblPr>
              <a:tblGrid>
                <a:gridCol w="5532120"/>
                <a:gridCol w="2011680"/>
                <a:gridCol w="2103120"/>
                <a:gridCol w="2286000"/>
                <a:gridCol w="2011680"/>
              </a:tblGrid>
              <a:tr h="621792">
                <a:tc>
                  <a:txBody>
                    <a:bodyPr wrap="square"/>
                    <a:lstStyle/>
                    <a:p>
                      <a:pPr algn="l"/>
                      <a:r>
                        <a:rPr sz="2000" b="1">
                          <a:solidFill>
                            <a:srgbClr val="FFFFFF"/>
                          </a:solidFill>
                          <a:latin typeface="Calibri"/>
                        </a:rPr>
                        <a:t>Novelty: closest prior work</a:t>
                      </a:r>
                    </a:p>
                  </a:txBody>
                  <a:tcPr marL="54864" marR="54864" marT="27432" marB="27432" anchor="ctr">
                    <a:solidFill>
                      <a:srgbClr val="13243B"/>
                    </a:solidFill>
                  </a:tcPr>
                </a:tc>
                <a:tc>
                  <a:txBody>
                    <a:bodyPr wrap="square"/>
                    <a:lstStyle/>
                    <a:p>
                      <a:pPr algn="ctr"/>
                      <a:r>
                        <a:rPr sz="2000" b="1">
                          <a:solidFill>
                            <a:srgbClr val="FFFFFF"/>
                          </a:solidFill>
                          <a:latin typeface="Calibri"/>
                        </a:rPr>
                        <a:t>Deep encoder</a:t>
                      </a:r>
                    </a:p>
                  </a:txBody>
                  <a:tcPr marL="54864" marR="54864" marT="27432" marB="27432" anchor="ctr">
                    <a:solidFill>
                      <a:srgbClr val="13243B"/>
                    </a:solidFill>
                  </a:tcPr>
                </a:tc>
                <a:tc>
                  <a:txBody>
                    <a:bodyPr wrap="square"/>
                    <a:lstStyle/>
                    <a:p>
                      <a:pPr algn="ctr"/>
                      <a:r>
                        <a:rPr sz="2000" b="1">
                          <a:solidFill>
                            <a:srgbClr val="FFFFFF"/>
                          </a:solidFill>
                          <a:latin typeface="Calibri"/>
                        </a:rPr>
                        <a:t>Optimises input</a:t>
                      </a:r>
                    </a:p>
                  </a:txBody>
                  <a:tcPr marL="54864" marR="54864" marT="27432" marB="27432" anchor="ctr">
                    <a:solidFill>
                      <a:srgbClr val="13243B"/>
                    </a:solidFill>
                  </a:tcPr>
                </a:tc>
                <a:tc>
                  <a:txBody>
                    <a:bodyPr wrap="square"/>
                    <a:lstStyle/>
                    <a:p>
                      <a:pPr algn="ctr"/>
                      <a:r>
                        <a:rPr sz="2000" b="1">
                          <a:solidFill>
                            <a:srgbClr val="FFFFFF"/>
                          </a:solidFill>
                          <a:latin typeface="Calibri"/>
                        </a:rPr>
                        <a:t>Tests uniqueness</a:t>
                      </a:r>
                    </a:p>
                  </a:txBody>
                  <a:tcPr marL="54864" marR="54864" marT="27432" marB="27432" anchor="ctr">
                    <a:solidFill>
                      <a:srgbClr val="13243B"/>
                    </a:solidFill>
                  </a:tcPr>
                </a:tc>
                <a:tc>
                  <a:txBody>
                    <a:bodyPr wrap="square"/>
                    <a:lstStyle/>
                    <a:p>
                      <a:pPr algn="ctr"/>
                      <a:r>
                        <a:rPr sz="2000" b="1">
                          <a:solidFill>
                            <a:srgbClr val="FFFFFF"/>
                          </a:solidFill>
                          <a:latin typeface="Calibri"/>
                        </a:rPr>
                        <a:t>Per region</a:t>
                      </a:r>
                    </a:p>
                  </a:txBody>
                  <a:tcPr marL="54864" marR="54864" marT="27432" marB="27432" anchor="ctr">
                    <a:solidFill>
                      <a:srgbClr val="13243B"/>
                    </a:solidFill>
                  </a:tcPr>
                </a:tc>
              </a:tr>
              <a:tr h="621792">
                <a:tc>
                  <a:txBody>
                    <a:bodyPr wrap="square"/>
                    <a:lstStyle/>
                    <a:p>
                      <a:pPr algn="l"/>
                      <a:r>
                        <a:rPr sz="2000" b="0">
                          <a:solidFill>
                            <a:srgbClr val="1A1A1A"/>
                          </a:solidFill>
                          <a:latin typeface="Calibri"/>
                        </a:rPr>
                        <a:t>Kay et al. 2008</a:t>
                      </a:r>
                    </a:p>
                  </a:txBody>
                  <a:tcPr marL="54864" marR="54864" marT="27432" marB="27432" anchor="ctr">
                    <a:solidFill>
                      <a:srgbClr val="FFFFFF"/>
                    </a:solidFill>
                  </a:tcPr>
                </a:tc>
                <a:tc>
                  <a:txBody>
                    <a:bodyPr wrap="square"/>
                    <a:lstStyle/>
                    <a:p>
                      <a:pPr algn="ctr"/>
                      <a:r>
                        <a:rPr sz="2000" b="0">
                          <a:solidFill>
                            <a:srgbClr val="1A1A1A"/>
                          </a:solidFill>
                          <a:latin typeface="Calibri"/>
                        </a:rPr>
                        <a:t>○</a:t>
                      </a:r>
                    </a:p>
                  </a:txBody>
                  <a:tcPr marL="54864" marR="54864" marT="27432" marB="27432" anchor="ctr">
                    <a:solidFill>
                      <a:srgbClr val="FFFFFF"/>
                    </a:solidFill>
                  </a:tcPr>
                </a:tc>
                <a:tc>
                  <a:txBody>
                    <a:bodyPr wrap="square"/>
                    <a:lstStyle/>
                    <a:p>
                      <a:pPr algn="ctr"/>
                      <a:r>
                        <a:rPr sz="2000" b="0">
                          <a:solidFill>
                            <a:srgbClr val="1A1A1A"/>
                          </a:solidFill>
                          <a:latin typeface="Calibri"/>
                        </a:rPr>
                        <a:t>○</a:t>
                      </a:r>
                    </a:p>
                  </a:txBody>
                  <a:tcPr marL="54864" marR="54864" marT="27432" marB="27432" anchor="ctr">
                    <a:solidFill>
                      <a:srgbClr val="FFFFFF"/>
                    </a:solidFill>
                  </a:tcPr>
                </a:tc>
                <a:tc>
                  <a:txBody>
                    <a:bodyPr wrap="square"/>
                    <a:lstStyle/>
                    <a:p>
                      <a:pPr algn="ctr"/>
                      <a:r>
                        <a:rPr sz="2000" b="0">
                          <a:solidFill>
                            <a:srgbClr val="1A1A1A"/>
                          </a:solidFill>
                          <a:latin typeface="Calibri"/>
                        </a:rPr>
                        <a:t>○</a:t>
                      </a:r>
                    </a:p>
                  </a:txBody>
                  <a:tcPr marL="54864" marR="54864" marT="27432" marB="27432" anchor="ctr">
                    <a:solidFill>
                      <a:srgbClr val="FFFFFF"/>
                    </a:solidFill>
                  </a:tcPr>
                </a:tc>
                <a:tc>
                  <a:txBody>
                    <a:bodyPr wrap="square"/>
                    <a:lstStyle/>
                    <a:p>
                      <a:pPr algn="ctr"/>
                      <a:r>
                        <a:rPr sz="2000" b="0">
                          <a:solidFill>
                            <a:srgbClr val="1A1A1A"/>
                          </a:solidFill>
                          <a:latin typeface="Calibri"/>
                        </a:rPr>
                        <a:t>○</a:t>
                      </a:r>
                    </a:p>
                  </a:txBody>
                  <a:tcPr marL="54864" marR="54864" marT="27432" marB="27432" anchor="ctr">
                    <a:solidFill>
                      <a:srgbClr val="FFFFFF"/>
                    </a:solidFill>
                  </a:tcPr>
                </a:tc>
              </a:tr>
              <a:tr h="621792">
                <a:tc>
                  <a:txBody>
                    <a:bodyPr wrap="square"/>
                    <a:lstStyle/>
                    <a:p>
                      <a:pPr algn="l"/>
                      <a:r>
                        <a:rPr sz="2000" b="0">
                          <a:solidFill>
                            <a:srgbClr val="1A1A1A"/>
                          </a:solidFill>
                          <a:latin typeface="Calibri"/>
                        </a:rPr>
                        <a:t>Gardner &amp; Liu 2019 (linear IEM)</a:t>
                      </a:r>
                    </a:p>
                  </a:txBody>
                  <a:tcPr marL="54864" marR="54864" marT="27432" marB="27432" anchor="ctr">
                    <a:solidFill>
                      <a:srgbClr val="E8F3F1"/>
                    </a:solidFill>
                  </a:tcPr>
                </a:tc>
                <a:tc>
                  <a:txBody>
                    <a:bodyPr wrap="square"/>
                    <a:lstStyle/>
                    <a:p>
                      <a:pPr algn="ctr"/>
                      <a:r>
                        <a:rPr sz="2000" b="0">
                          <a:solidFill>
                            <a:srgbClr val="1A1A1A"/>
                          </a:solidFill>
                          <a:latin typeface="Calibri"/>
                        </a:rPr>
                        <a:t>○</a:t>
                      </a:r>
                    </a:p>
                  </a:txBody>
                  <a:tcPr marL="54864" marR="54864" marT="27432" marB="27432" anchor="ctr">
                    <a:solidFill>
                      <a:srgbClr val="E8F3F1"/>
                    </a:solidFill>
                  </a:tcPr>
                </a:tc>
                <a:tc>
                  <a:txBody>
                    <a:bodyPr wrap="square"/>
                    <a:lstStyle/>
                    <a:p>
                      <a:pPr algn="ctr"/>
                      <a:r>
                        <a:rPr sz="2000" b="0">
                          <a:solidFill>
                            <a:srgbClr val="1A1A1A"/>
                          </a:solidFill>
                          <a:latin typeface="Calibri"/>
                        </a:rPr>
                        <a:t>●</a:t>
                      </a:r>
                    </a:p>
                  </a:txBody>
                  <a:tcPr marL="54864" marR="54864" marT="27432" marB="27432" anchor="ctr">
                    <a:solidFill>
                      <a:srgbClr val="E8F3F1"/>
                    </a:solidFill>
                  </a:tcPr>
                </a:tc>
                <a:tc>
                  <a:txBody>
                    <a:bodyPr wrap="square"/>
                    <a:lstStyle/>
                    <a:p>
                      <a:pPr algn="ctr"/>
                      <a:r>
                        <a:rPr sz="2000" b="0">
                          <a:solidFill>
                            <a:srgbClr val="1A1A1A"/>
                          </a:solidFill>
                          <a:latin typeface="Calibri"/>
                        </a:rPr>
                        <a:t>●</a:t>
                      </a:r>
                    </a:p>
                  </a:txBody>
                  <a:tcPr marL="54864" marR="54864" marT="27432" marB="27432" anchor="ctr">
                    <a:solidFill>
                      <a:srgbClr val="E8F3F1"/>
                    </a:solidFill>
                  </a:tcPr>
                </a:tc>
                <a:tc>
                  <a:txBody>
                    <a:bodyPr wrap="square"/>
                    <a:lstStyle/>
                    <a:p>
                      <a:pPr algn="ctr"/>
                      <a:r>
                        <a:rPr sz="2000" b="0">
                          <a:solidFill>
                            <a:srgbClr val="1A1A1A"/>
                          </a:solidFill>
                          <a:latin typeface="Calibri"/>
                        </a:rPr>
                        <a:t>○</a:t>
                      </a:r>
                    </a:p>
                  </a:txBody>
                  <a:tcPr marL="54864" marR="54864" marT="27432" marB="27432" anchor="ctr">
                    <a:solidFill>
                      <a:srgbClr val="E8F3F1"/>
                    </a:solidFill>
                  </a:tcPr>
                </a:tc>
              </a:tr>
              <a:tr h="621792">
                <a:tc>
                  <a:txBody>
                    <a:bodyPr wrap="square"/>
                    <a:lstStyle/>
                    <a:p>
                      <a:pPr algn="l"/>
                      <a:r>
                        <a:rPr sz="2000" b="0">
                          <a:solidFill>
                            <a:srgbClr val="1A1A1A"/>
                          </a:solidFill>
                          <a:latin typeface="Calibri"/>
                        </a:rPr>
                        <a:t>Tang et al. 2023</a:t>
                      </a:r>
                    </a:p>
                  </a:txBody>
                  <a:tcPr marL="54864" marR="54864" marT="27432" marB="27432" anchor="ctr">
                    <a:solidFill>
                      <a:srgbClr val="FFFFFF"/>
                    </a:solidFill>
                  </a:tcPr>
                </a:tc>
                <a:tc>
                  <a:txBody>
                    <a:bodyPr wrap="square"/>
                    <a:lstStyle/>
                    <a:p>
                      <a:pPr algn="ctr"/>
                      <a:r>
                        <a:rPr sz="2000" b="0">
                          <a:solidFill>
                            <a:srgbClr val="1A1A1A"/>
                          </a:solidFill>
                          <a:latin typeface="Calibri"/>
                        </a:rPr>
                        <a:t>○</a:t>
                      </a:r>
                    </a:p>
                  </a:txBody>
                  <a:tcPr marL="54864" marR="54864" marT="27432" marB="27432" anchor="ctr">
                    <a:solidFill>
                      <a:srgbClr val="FFFFFF"/>
                    </a:solidFill>
                  </a:tcPr>
                </a:tc>
                <a:tc>
                  <a:txBody>
                    <a:bodyPr wrap="square"/>
                    <a:lstStyle/>
                    <a:p>
                      <a:pPr algn="ctr"/>
                      <a:r>
                        <a:rPr sz="2000" b="0">
                          <a:solidFill>
                            <a:srgbClr val="1A1A1A"/>
                          </a:solidFill>
                          <a:latin typeface="Calibri"/>
                        </a:rPr>
                        <a:t>●</a:t>
                      </a:r>
                    </a:p>
                  </a:txBody>
                  <a:tcPr marL="54864" marR="54864" marT="27432" marB="27432" anchor="ctr">
                    <a:solidFill>
                      <a:srgbClr val="FFFFFF"/>
                    </a:solidFill>
                  </a:tcPr>
                </a:tc>
                <a:tc>
                  <a:txBody>
                    <a:bodyPr wrap="square"/>
                    <a:lstStyle/>
                    <a:p>
                      <a:pPr algn="ctr"/>
                      <a:r>
                        <a:rPr sz="2000" b="0">
                          <a:solidFill>
                            <a:srgbClr val="1A1A1A"/>
                          </a:solidFill>
                          <a:latin typeface="Calibri"/>
                        </a:rPr>
                        <a:t>○</a:t>
                      </a:r>
                    </a:p>
                  </a:txBody>
                  <a:tcPr marL="54864" marR="54864" marT="27432" marB="27432" anchor="ctr">
                    <a:solidFill>
                      <a:srgbClr val="FFFFFF"/>
                    </a:solidFill>
                  </a:tcPr>
                </a:tc>
                <a:tc>
                  <a:txBody>
                    <a:bodyPr wrap="square"/>
                    <a:lstStyle/>
                    <a:p>
                      <a:pPr algn="ctr"/>
                      <a:r>
                        <a:rPr sz="2000" b="0">
                          <a:solidFill>
                            <a:srgbClr val="1A1A1A"/>
                          </a:solidFill>
                          <a:latin typeface="Calibri"/>
                        </a:rPr>
                        <a:t>●</a:t>
                      </a:r>
                    </a:p>
                  </a:txBody>
                  <a:tcPr marL="54864" marR="54864" marT="27432" marB="27432" anchor="ctr">
                    <a:solidFill>
                      <a:srgbClr val="FFFFFF"/>
                    </a:solidFill>
                  </a:tcPr>
                </a:tc>
              </a:tr>
              <a:tr h="621792">
                <a:tc>
                  <a:txBody>
                    <a:bodyPr wrap="square"/>
                    <a:lstStyle/>
                    <a:p>
                      <a:pPr algn="l"/>
                      <a:r>
                        <a:rPr sz="2000" b="0">
                          <a:solidFill>
                            <a:srgbClr val="1A1A1A"/>
                          </a:solidFill>
                          <a:latin typeface="Calibri"/>
                        </a:rPr>
                        <a:t>TRIBE v2 (2026) and its two follow-ups</a:t>
                      </a:r>
                    </a:p>
                  </a:txBody>
                  <a:tcPr marL="54864" marR="54864" marT="27432" marB="27432" anchor="ctr">
                    <a:solidFill>
                      <a:srgbClr val="E8F3F1"/>
                    </a:solidFill>
                  </a:tcPr>
                </a:tc>
                <a:tc>
                  <a:txBody>
                    <a:bodyPr wrap="square"/>
                    <a:lstStyle/>
                    <a:p>
                      <a:pPr algn="ctr"/>
                      <a:r>
                        <a:rPr sz="2000" b="0">
                          <a:solidFill>
                            <a:srgbClr val="1A1A1A"/>
                          </a:solidFill>
                          <a:latin typeface="Calibri"/>
                        </a:rPr>
                        <a:t>●</a:t>
                      </a:r>
                    </a:p>
                  </a:txBody>
                  <a:tcPr marL="54864" marR="54864" marT="27432" marB="27432" anchor="ctr">
                    <a:solidFill>
                      <a:srgbClr val="E8F3F1"/>
                    </a:solidFill>
                  </a:tcPr>
                </a:tc>
                <a:tc>
                  <a:txBody>
                    <a:bodyPr wrap="square"/>
                    <a:lstStyle/>
                    <a:p>
                      <a:pPr algn="ctr"/>
                      <a:r>
                        <a:rPr sz="2000" b="0">
                          <a:solidFill>
                            <a:srgbClr val="1A1A1A"/>
                          </a:solidFill>
                          <a:latin typeface="Calibri"/>
                        </a:rPr>
                        <a:t>○ / ●</a:t>
                      </a:r>
                    </a:p>
                  </a:txBody>
                  <a:tcPr marL="54864" marR="54864" marT="27432" marB="27432" anchor="ctr">
                    <a:solidFill>
                      <a:srgbClr val="E8F3F1"/>
                    </a:solidFill>
                  </a:tcPr>
                </a:tc>
                <a:tc>
                  <a:txBody>
                    <a:bodyPr wrap="square"/>
                    <a:lstStyle/>
                    <a:p>
                      <a:pPr algn="ctr"/>
                      <a:r>
                        <a:rPr sz="2000" b="0">
                          <a:solidFill>
                            <a:srgbClr val="1A1A1A"/>
                          </a:solidFill>
                          <a:latin typeface="Calibri"/>
                        </a:rPr>
                        <a:t>○</a:t>
                      </a:r>
                    </a:p>
                  </a:txBody>
                  <a:tcPr marL="54864" marR="54864" marT="27432" marB="27432" anchor="ctr">
                    <a:solidFill>
                      <a:srgbClr val="E8F3F1"/>
                    </a:solidFill>
                  </a:tcPr>
                </a:tc>
                <a:tc>
                  <a:txBody>
                    <a:bodyPr wrap="square"/>
                    <a:lstStyle/>
                    <a:p>
                      <a:pPr algn="ctr"/>
                      <a:r>
                        <a:rPr sz="2000" b="0">
                          <a:solidFill>
                            <a:srgbClr val="1A1A1A"/>
                          </a:solidFill>
                          <a:latin typeface="Calibri"/>
                        </a:rPr>
                        <a:t>○</a:t>
                      </a:r>
                    </a:p>
                  </a:txBody>
                  <a:tcPr marL="54864" marR="54864" marT="27432" marB="27432" anchor="ctr">
                    <a:solidFill>
                      <a:srgbClr val="E8F3F1"/>
                    </a:solidFill>
                  </a:tcPr>
                </a:tc>
              </a:tr>
              <a:tr h="621792">
                <a:tc>
                  <a:txBody>
                    <a:bodyPr wrap="square"/>
                    <a:lstStyle/>
                    <a:p>
                      <a:pPr algn="l"/>
                      <a:r>
                        <a:rPr sz="2000" b="1">
                          <a:solidFill>
                            <a:srgbClr val="1A1A1A"/>
                          </a:solidFill>
                          <a:latin typeface="Calibri"/>
                        </a:rPr>
                        <a:t>This work</a:t>
                      </a:r>
                    </a:p>
                  </a:txBody>
                  <a:tcPr marL="54864" marR="54864" marT="27432" marB="27432" anchor="ctr">
                    <a:solidFill>
                      <a:srgbClr val="FFF1C4"/>
                    </a:solidFill>
                  </a:tcPr>
                </a:tc>
                <a:tc>
                  <a:txBody>
                    <a:bodyPr wrap="square"/>
                    <a:lstStyle/>
                    <a:p>
                      <a:pPr algn="ctr"/>
                      <a:r>
                        <a:rPr sz="2000" b="1">
                          <a:solidFill>
                            <a:srgbClr val="1A1A1A"/>
                          </a:solidFill>
                          <a:latin typeface="Calibri"/>
                        </a:rPr>
                        <a:t>●</a:t>
                      </a:r>
                    </a:p>
                  </a:txBody>
                  <a:tcPr marL="54864" marR="54864" marT="27432" marB="27432" anchor="ctr">
                    <a:solidFill>
                      <a:srgbClr val="FFF1C4"/>
                    </a:solidFill>
                  </a:tcPr>
                </a:tc>
                <a:tc>
                  <a:txBody>
                    <a:bodyPr wrap="square"/>
                    <a:lstStyle/>
                    <a:p>
                      <a:pPr algn="ctr"/>
                      <a:r>
                        <a:rPr sz="2000" b="1">
                          <a:solidFill>
                            <a:srgbClr val="1A1A1A"/>
                          </a:solidFill>
                          <a:latin typeface="Calibri"/>
                        </a:rPr>
                        <a:t>●</a:t>
                      </a:r>
                    </a:p>
                  </a:txBody>
                  <a:tcPr marL="54864" marR="54864" marT="27432" marB="27432" anchor="ctr">
                    <a:solidFill>
                      <a:srgbClr val="FFF1C4"/>
                    </a:solidFill>
                  </a:tcPr>
                </a:tc>
                <a:tc>
                  <a:txBody>
                    <a:bodyPr wrap="square"/>
                    <a:lstStyle/>
                    <a:p>
                      <a:pPr algn="ctr"/>
                      <a:r>
                        <a:rPr sz="2000" b="1">
                          <a:solidFill>
                            <a:srgbClr val="1A1A1A"/>
                          </a:solidFill>
                          <a:latin typeface="Calibri"/>
                        </a:rPr>
                        <a:t>●</a:t>
                      </a:r>
                    </a:p>
                  </a:txBody>
                  <a:tcPr marL="54864" marR="54864" marT="27432" marB="27432" anchor="ctr">
                    <a:solidFill>
                      <a:srgbClr val="FFF1C4"/>
                    </a:solidFill>
                  </a:tcPr>
                </a:tc>
                <a:tc>
                  <a:txBody>
                    <a:bodyPr wrap="square"/>
                    <a:lstStyle/>
                    <a:p>
                      <a:pPr algn="ctr"/>
                      <a:r>
                        <a:rPr sz="2000" b="1">
                          <a:solidFill>
                            <a:srgbClr val="1A1A1A"/>
                          </a:solidFill>
                          <a:latin typeface="Calibri"/>
                        </a:rPr>
                        <a:t>●</a:t>
                      </a:r>
                    </a:p>
                  </a:txBody>
                  <a:tcPr marL="54864" marR="54864" marT="27432" marB="27432" anchor="ctr">
                    <a:solidFill>
                      <a:srgbClr val="FFF1C4"/>
                    </a:solidFill>
                  </a:tcPr>
                </a:tc>
              </a:tr>
            </a:tbl>
          </a:graphicData>
        </a:graphic>
      </p:graphicFrame>
      <p:sp>
        <p:nvSpPr>
          <p:cNvPr id="59" name="TextBox 58"/>
          <p:cNvSpPr txBox="1"/>
          <p:nvPr/>
        </p:nvSpPr>
        <p:spPr>
          <a:xfrm>
            <a:off x="731520" y="31912560"/>
            <a:ext cx="13944600" cy="1280160"/>
          </a:xfrm>
          <a:prstGeom prst="rect">
            <a:avLst/>
          </a:prstGeom>
          <a:noFill/>
        </p:spPr>
        <p:txBody>
          <a:bodyPr wrap="square">
            <a:spAutoFit/>
          </a:bodyPr>
          <a:lstStyle/>
          <a:p>
            <a:r>
              <a:rPr sz="1900" b="0">
                <a:solidFill>
                  <a:srgbClr val="555555"/>
                </a:solidFill>
                <a:latin typeface="Calibri"/>
              </a:rPr>
              <a:t>Literature search (9 Oct 2026, arXiv / Google Scholar / web): no published uniqueness or conditioning analysis of a deep foundation brain encoder.</a:t>
            </a:r>
          </a:p>
        </p:txBody>
      </p:sp>
      <p:pic>
        <p:nvPicPr>
          <p:cNvPr id="60" name="Picture 59" descr="fig_dissociation.png"/>
          <p:cNvPicPr>
            <a:picLocks noChangeAspect="1"/>
          </p:cNvPicPr>
          <p:nvPr/>
        </p:nvPicPr>
        <p:blipFill>
          <a:blip r:embed="rId5"/>
          <a:stretch>
            <a:fillRect/>
          </a:stretch>
        </p:blipFill>
        <p:spPr>
          <a:xfrm>
            <a:off x="16155337" y="22082760"/>
            <a:ext cx="5746652" cy="3474720"/>
          </a:xfrm>
          <a:prstGeom prst="rect">
            <a:avLst/>
          </a:prstGeom>
        </p:spPr>
      </p:pic>
      <p:pic>
        <p:nvPicPr>
          <p:cNvPr id="61" name="Picture 60" descr="fig_barrier_path.png"/>
          <p:cNvPicPr>
            <a:picLocks noChangeAspect="1"/>
          </p:cNvPicPr>
          <p:nvPr/>
        </p:nvPicPr>
        <p:blipFill>
          <a:blip r:embed="rId6"/>
          <a:stretch>
            <a:fillRect/>
          </a:stretch>
        </p:blipFill>
        <p:spPr>
          <a:xfrm>
            <a:off x="22760286" y="22082760"/>
            <a:ext cx="6618514" cy="3474720"/>
          </a:xfrm>
          <a:prstGeom prst="rect">
            <a:avLst/>
          </a:prstGeom>
        </p:spPr>
      </p:pic>
      <p:pic>
        <p:nvPicPr>
          <p:cNvPr id="62" name="Picture 61" descr="fig_roi_recovery.png"/>
          <p:cNvPicPr>
            <a:picLocks noChangeAspect="1"/>
          </p:cNvPicPr>
          <p:nvPr/>
        </p:nvPicPr>
        <p:blipFill>
          <a:blip r:embed="rId7"/>
          <a:stretch>
            <a:fillRect/>
          </a:stretch>
        </p:blipFill>
        <p:spPr>
          <a:xfrm>
            <a:off x="18387184" y="25648919"/>
            <a:ext cx="8369559" cy="3566160"/>
          </a:xfrm>
          <a:prstGeom prst="rect">
            <a:avLst/>
          </a:prstGeom>
        </p:spPr>
      </p:pic>
      <p:pic>
        <p:nvPicPr>
          <p:cNvPr id="63" name="Picture 62" descr="fig_realdata_audio_text.png"/>
          <p:cNvPicPr>
            <a:picLocks noChangeAspect="1"/>
          </p:cNvPicPr>
          <p:nvPr/>
        </p:nvPicPr>
        <p:blipFill>
          <a:blip r:embed="rId8"/>
          <a:stretch>
            <a:fillRect/>
          </a:stretch>
        </p:blipFill>
        <p:spPr>
          <a:xfrm>
            <a:off x="17471326" y="29260800"/>
            <a:ext cx="10201275" cy="2880360"/>
          </a:xfrm>
          <a:prstGeom prst="rect">
            <a:avLst/>
          </a:prstGeom>
        </p:spPr>
      </p:pic>
      <p:sp>
        <p:nvSpPr>
          <p:cNvPr id="64" name="TextBox 63"/>
          <p:cNvSpPr txBox="1"/>
          <p:nvPr/>
        </p:nvSpPr>
        <p:spPr>
          <a:xfrm>
            <a:off x="15599664" y="32141160"/>
            <a:ext cx="13944600" cy="731520"/>
          </a:xfrm>
          <a:prstGeom prst="rect">
            <a:avLst/>
          </a:prstGeom>
          <a:noFill/>
        </p:spPr>
        <p:txBody>
          <a:bodyPr wrap="square">
            <a:spAutoFit/>
          </a:bodyPr>
          <a:lstStyle/>
          <a:p>
            <a:r>
              <a:rPr sz="1700" b="1">
                <a:solidFill>
                  <a:srgbClr val="1A1A1A"/>
                </a:solidFill>
                <a:latin typeface="Calibri"/>
              </a:rPr>
              <a:t>Synthetic: </a:t>
            </a:r>
            <a:r>
              <a:rPr sz="1700" b="0">
                <a:solidFill>
                  <a:srgbClr val="1A1A1A"/>
                </a:solidFill>
                <a:latin typeface="Calibri"/>
              </a:rPr>
              <a:t>error ↓28.4× but recovery saturates (0.944); equal fits disagree (0.817) and sit in separate minima (barrier 4.8×; 8.1× to a deeper one; 4 truths). </a:t>
            </a:r>
            <a:r>
              <a:rPr sz="1700" b="1">
                <a:solidFill>
                  <a:srgbClr val="1A1A1A"/>
                </a:solidFill>
                <a:latin typeface="Calibri"/>
              </a:rPr>
              <a:t>Regions: </a:t>
            </a:r>
            <a:r>
              <a:rPr sz="1700" b="0">
                <a:solidFill>
                  <a:srgbClr val="1A1A1A"/>
                </a:solidFill>
                <a:latin typeface="Calibri"/>
              </a:rPr>
              <a:t>visual −0.125, somatomotor +0.102 vs random. </a:t>
            </a:r>
            <a:r>
              <a:rPr sz="1700" b="1">
                <a:solidFill>
                  <a:srgbClr val="1A1A1A"/>
                </a:solidFill>
                <a:latin typeface="Calibri"/>
              </a:rPr>
              <a:t>Real fMRI: </a:t>
            </a:r>
            <a:r>
              <a:rPr sz="1700" b="0">
                <a:solidFill>
                  <a:srgbClr val="1A1A1A"/>
                </a:solidFill>
                <a:latin typeface="Calibri"/>
              </a:rPr>
              <a:t>r = 0.48 (56% of ceiling); 4/5 segments identified (chance 2.2%), cosine 0.02.</a:t>
            </a:r>
          </a:p>
        </p:txBody>
      </p:sp>
    </p:spTree>
    <p:extLst>
      <p:ext uri="{BB962C8B-B14F-4D97-AF65-F5344CB8AC3E}">
        <p14:creationId xmlns:p14="http://schemas.microsoft.com/office/powerpoint/2010/main" val="165267418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28</TotalTime>
  <Words>48</Words>
  <Application>Microsoft Office PowerPoint</Application>
  <PresentationFormat>Custom</PresentationFormat>
  <Paragraphs>14</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Thanikaiselvan  V</dc:creator>
  <cp:lastModifiedBy>Thanikaiselvan  V</cp:lastModifiedBy>
  <cp:revision>7</cp:revision>
  <dcterms:created xsi:type="dcterms:W3CDTF">2026-10-15T10:09:46Z</dcterms:created>
  <dcterms:modified xsi:type="dcterms:W3CDTF">2026-10-18T17:30:49Z</dcterms:modified>
</cp:coreProperties>
</file>