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we measure what non-invasive decoding can deliver.</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free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of what non-invasive decoding can and cannot achieve.</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synthetic x → y = f(x) → recover x; budget, noise, extent, priors, 8 initialisations × 4 truths.</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of fit-matched solutions; forward-only straight-path barrier test;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held-out story inverted and ranked among 45 segments.</a:t>
            </a:r>
          </a:p>
          <a:p>
            <a:pPr>
              <a:lnSpc>
                <a:spcPct val="105000"/>
              </a:lnSpc>
              <a:spcAft>
                <a:spcPts val="800"/>
              </a:spcAft>
            </a:pPr>
            <a:r>
              <a:rPr sz="2600" b="1">
                <a:solidFill>
                  <a:srgbClr val="1A1A1A"/>
                </a:solidFill>
                <a:latin typeface="Calibri"/>
              </a:rPr>
              <a:t>Why fMRI, not EEG: </a:t>
            </a:r>
            <a:r>
              <a:rPr sz="2600" b="0">
                <a:solidFill>
                  <a:srgbClr val="1A1A1A"/>
                </a:solidFill>
                <a:latin typeface="Calibri"/>
              </a:rPr>
              <a:t>millimetre detail on 20 484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1 152 representation to 20 484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we built a synthetic framework with exact error, then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we found and re-entered the one differentiable boundary.</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free hardware. </a:t>
            </a:r>
            <a:r>
              <a:rPr sz="2700" b="0">
                <a:solidFill>
                  <a:srgbClr val="1A1A1A"/>
                </a:solidFill>
                <a:latin typeface="Calibri"/>
              </a:rPr>
              <a:t>20 484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what a person sees and hears; decoding runs the other way. Can a near-perfect encoder simply be inverted to read meaning back out?</a:t>
            </a:r>
          </a:p>
          <a:p>
            <a:pPr>
              <a:lnSpc>
                <a:spcPct val="105000"/>
              </a:lnSpc>
              <a:spcAft>
                <a:spcPts val="1000"/>
              </a:spcAft>
            </a:pPr>
            <a:r>
              <a:rPr sz="2900" b="0">
                <a:solidFill>
                  <a:srgbClr val="1A1A1A"/>
                </a:solidFill>
                <a:latin typeface="Calibri"/>
              </a:rPr>
              <a:t>We invert Meta's open 177 M-parameter TRIBE v2 encoder by gradient descent, measure </a:t>
            </a:r>
            <a:r>
              <a:rPr sz="2900" b="1">
                <a:solidFill>
                  <a:srgbClr val="1A1A1A"/>
                </a:solidFill>
                <a:latin typeface="Calibri"/>
              </a:rPr>
              <a:t>uniqueness, conditioning and regional recoverability</a:t>
            </a:r>
            <a:r>
              <a:rPr sz="2900" b="0">
                <a:solidFill>
                  <a:srgbClr val="1A1A1A"/>
                </a:solidFill>
                <a:latin typeface="Calibri"/>
              </a:rPr>
              <a:t> with exact ground truth, and validate on real fMRI from a held-out story.</a:t>
            </a:r>
          </a:p>
          <a:p>
            <a:pPr>
              <a:lnSpc>
                <a:spcPct val="105000"/>
              </a:lnSpc>
              <a:spcAft>
                <a:spcPts val="1000"/>
              </a:spcAft>
            </a:pPr>
            <a:r>
              <a:rPr sz="2900" b="1">
                <a:solidFill>
                  <a:srgbClr val="1A1A1A"/>
                </a:solidFill>
                <a:latin typeface="Calibri"/>
              </a:rPr>
              <a:t>Answer: no. </a:t>
            </a:r>
            <a:r>
              <a:rPr sz="2900" b="0">
                <a:solidFill>
                  <a:srgbClr val="1A1A1A"/>
                </a:solidFill>
                <a:latin typeface="Calibri"/>
              </a:rPr>
              <a:t>Error falls 28.4× while recovery saturates; on real fMRI 4 of 5 held-out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  </a:t>
            </a:r>
            <a:r>
              <a:rPr sz="2000" b="1">
                <a:solidFill>
                  <a:srgbClr val="1A1A1A"/>
                </a:solidFill>
                <a:latin typeface="Calibri"/>
              </a:rPr>
              <a:t>Report: </a:t>
            </a:r>
            <a:r>
              <a:rPr sz="2000" b="0">
                <a:solidFill>
                  <a:srgbClr val="1A1A1A"/>
                </a:solidFill>
                <a:latin typeface="Calibri"/>
              </a:rPr>
              <a:t>final Project-I report in the 2026 VIT format.</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with all code, logged results, an interactive live demo and four Colab notebooks, including a live run of TRIBE v2.  </a:t>
            </a:r>
            <a:r>
              <a:rPr sz="2000" b="1">
                <a:solidFill>
                  <a:srgbClr val="1A1A1A"/>
                </a:solidFill>
                <a:latin typeface="Calibri"/>
              </a:rPr>
              <a:t>Cost: </a:t>
            </a:r>
            <a:r>
              <a:rPr sz="2000" b="0">
                <a:solidFill>
                  <a:srgbClr val="1A1A1A"/>
                </a:solidFill>
                <a:latin typeface="Calibri"/>
              </a:rPr>
              <a:t>₹0 compute on free GPUs.</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1 152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20 484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barrier,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This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barrier_path.png"/>
          <p:cNvPicPr>
            <a:picLocks noChangeAspect="1"/>
          </p:cNvPicPr>
          <p:nvPr/>
        </p:nvPicPr>
        <p:blipFill>
          <a:blip r:embed="rId6"/>
          <a:stretch>
            <a:fillRect/>
          </a:stretch>
        </p:blipFill>
        <p:spPr>
          <a:xfrm>
            <a:off x="22760286" y="22082760"/>
            <a:ext cx="6618514"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(0.817) and sit in separate minima (path barrier 3.8×; 7.2× to a deeper one).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