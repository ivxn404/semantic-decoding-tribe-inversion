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ded6be-1a9f-3adf-46e4-4040c3854854}">
          <p14:sldIdLst>
            <p14:sldId id="256"/>
            <p14:sldId id="257"/>
          </p14:sldIdLst>
        </p14:section>
        <p14:section name="Problem" id="{44ce10b5-a344-f8e8-aa37-1b2d9a2a831a}">
          <p14:sldIdLst>
            <p14:sldId id="258"/>
            <p14:sldId id="259"/>
            <p14:sldId id="260"/>
          </p14:sldIdLst>
        </p14:section>
        <p14:section name="Literature" id="{f985b391-4ba8-ca25-06f8-58feddd5c182}">
          <p14:sldIdLst>
            <p14:sldId id="261"/>
            <p14:sldId id="262"/>
            <p14:sldId id="263"/>
            <p14:sldId id="264"/>
            <p14:sldId id="265"/>
            <p14:sldId id="266"/>
            <p14:sldId id="267"/>
            <p14:sldId id="268"/>
            <p14:sldId id="269"/>
            <p14:sldId id="270"/>
          </p14:sldIdLst>
        </p14:section>
        <p14:section name="Method" id="{01de7081-5557-f7ae-4616-5a194376d050}">
          <p14:sldIdLst>
            <p14:sldId id="271"/>
            <p14:sldId id="272"/>
            <p14:sldId id="273"/>
            <p14:sldId id="274"/>
            <p14:sldId id="275"/>
            <p14:sldId id="276"/>
          </p14:sldIdLst>
        </p14:section>
        <p14:section name="Results" id="{27396611-44c2-5cff-e826-c413c235fe7a}">
          <p14:sldIdLst>
            <p14:sldId id="277"/>
            <p14:sldId id="278"/>
            <p14:sldId id="279"/>
            <p14:sldId id="280"/>
            <p14:sldId id="281"/>
            <p14:sldId id="282"/>
            <p14:sldId id="283"/>
            <p14:sldId id="284"/>
            <p14:sldId id="285"/>
          </p14:sldIdLst>
        </p14:section>
        <p14:section name="Early results" id="{8e42d26c-275f-d4c6-aa25-34b181f4d986}">
          <p14:sldIdLst>
            <p14:sldId id="286"/>
            <p14:sldId id="287"/>
            <p14:sldId id="288"/>
            <p14:sldId id="289"/>
            <p14:sldId id="290"/>
            <p14:sldId id="291"/>
          </p14:sldIdLst>
        </p14:section>
        <p14:section name="Plan" id="{00e32916-7016-d90b-204f-e5514f4f5e9c}">
          <p14:sldIdLst>
            <p14:sldId id="292"/>
            <p14:sldId id="293"/>
            <p14:sldId id="294"/>
            <p14:sldId id="295"/>
          </p14:sldIdLst>
        </p14:section>
        <p14:section name="Backup: anticipated questions" id="{7c982d53-c08b-3bbd-cfa7-d172c43ab352}">
          <p14:sldIdLst>
            <p14:sldId id="296"/>
            <p14:sldId id="297"/>
            <p14:sldId id="298"/>
            <p14:sldId id="299"/>
            <p14:sldId id="300"/>
          </p14:sldIdLst>
        </p14:section>
        <p14:section name="References" id="{51456326-1a67-088e-cad7-28f09f61121d}">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one sentence: we take Meta's open-weight brain encoder, which predicts fMRI from meaning, and run it backwards to measure how much meaning can actually be recovered from brain activity. Then say what Review II covers: literature and gap, objectives, the analytical model, implementation, and preliminary results that already exceed the 40%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40% requirement is met with margin. Formulation, instrumentation and the core characterisation (convergence, encoding-decoding dissociation, noise, spatial extent, priors, bandwidth) are complete. If asked how 45% is computed: it is the share of planned person-hours in Table-3 of Report I attached to completed activities. Do not over-claim the remaining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stakeholders, three objectives that cannot all be maximised at once. This maps to WP2 (conflicting requirements) in Report I. If asked for patient numbers, do not quote figures you cannot source; say the motivation is the existence of a cognitively intact but motor-locked population, documented in the BCI literature (e.g. Willett et al. 2023 for invasive speech BCIs).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non-specialist panel members: blurring a photo is easy; un-blurring it is not, because the blur destroys information. fMRI is a heavy blur of neural activity. The question is not 'can we build a decoder' but 'how much information survives the forward map, and can it be recovered'. Hadamard (1902): a problem is well posed if a solution exists, is unique, and depends continuously on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of the field: from linear features (Mitchell) to identification (Kay) to semantic maps (Huth) to full reconstruction (Tang). Every step improved encoding or trained a separate decoder. Antonello 2023 showed encoding scales with data; nobody checked whether decoding scales the same way. That is exactly what our dissociation experiment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Brain2Qwerty is the decisive reason we dropped EEG: even Meta, with 35 participants and a purpose-built architecture, gets 65% character error with EEG versus 29% with MEG. TRIBE v2's own paper frames it for in-silico neuroscience and lists decoders separately (Tang, Défossez); it never inverts itself. Weights and code are public (CC BY-NC 4.0), which makes our study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gap in one breath: the field optimises encoders and assumes decoding follows; we test that assumption directly. If challenged ('surely someone has inverted an encoder'): Kay 2008 and many others use encoders for identification among candidates, which is different from recovering the representation and characterising the inverse operator. TRIBE v2's release (March 2026) is recent enough that its inverse has not been characterised.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are measurable: each maps to an experiment and a number. O1-O3 are complete and shown today. O4-O5 are partly run (results at Review III). O6 is the final phase. This slide directly addresses the 'Research problem and objectives' rubric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is novel if the model is Meta's?': the model is the instrument, not the contribution. Analogy: characterising a published sensor's transfer function is a contribution even though the sensor was built elsewhere. The aggregate_features finding is practical novelty: it is why gradient inversion is possible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paper does this; ○ = it does not. Tang 2023 optimises over word sequences (beam search scored by a linear encoder on GPT features) and compares cortical networks, so it gets two marks; its encoder is linear in the LM features, and it never asks whether the answer is unique. Gardner &amp; Liu is the theoretical ancestor of our question, for linear models only. If a reviewer names another paper, ask which column it fills; none we found fills the third column for a deep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behind the word 'first'. Say it carefully: 'we found no published inverse or identifiability analysis of a deep foundation encoder as of 9 October 2026', not 'nobody has ever done this'. Both TRIBE v2 follow-ups are from 2026 and are the closest possible competitors; neither touches uniqueness or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is paired with the number that supports it, so a reviewer can challenge the evidence rather than the wording. Status 'Shown' means the evidence is on a slide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targets, not just goals, because the rubric's top band requires 'specific SDG target(s)'. Be honest about the link: this is enabling research, not a deployed device. The well-being link (3.4) is through assistive communication; 9.5 through research capability; 10.2 through disability inclusion. Target texts are quoted from the UN SDG indicator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Top row is TRIBE v2 as Meta ships it: text is converted to speech, transcribed with Whisper, embedded with LLaMA; none of that is differentiable, and the published predict() runs under torch.inference_mode(), which blocks gradients permanently. The orange dashed line is the boundary we found in the source: aggregate_features is the only function that touches the input batch. Everything to its right is tensor arithmetic, so we feed our own x there. Bottom row is our system: generate a known x*, push it through the frozen operator with optional noise and vertex masking, invert by gradient descent on x only, evaluate against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analytical model the rubric asks for. Hadamard well-posedness has three parts and each maps to an experiment: existence (does inversion fit the data: yes, MSE to 1e-7), uniqueness (do different starts agree: tested by initialisation control), stability (does output degrade gracefully with noise: tested by noise sweep). Why cosine: semantic embeddings are compared by direction in NLP; we also report relative error, which captures magnitude, because the two can disagree. M is a 0/1 vertex mask used for the spatial-extent experiment; eta is additive Gaussian noise scaled to the BOLD standard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inspecting the loaded network, and we have since reproduced them independently on CPU from the raw checkpoint. Likely question: 'so you are not decoding words?' Correct, and deliberately: we decode the representation the encoder actually consumes. Mapping x back to words is a separate, easier step (nearest-neighbour search in embedding space) and is not where the information is lost. temporal_smoothing = None matters later: it explains the bandwidth null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Hyperparameters: Adam lr 0.05, cosine annealing over the full budget, budgets from 250 to 64 000 steps. Why Adam: the loss is a 36 864-dimensional non-convex function of x; Adam's per-coordinate scaling handles very different gradient magnitudes across the three modality slots. Why not a trained decoder: training a decoder conflates the decoder's capacity with the operator's invertibility; direct inversion isolates the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reproducibility: every experiment is seeded (ground truth, initialisation, masks, noise), results are written after every condition, and the network has been rebuilt independently on CPU from the raw checkpoint with identical parameter counts. Licence: TRIBE v2 is CC BY-NC 4.0, which permits non-commercial academic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unedited screenshots from our Colab sessions. Left: the first time the gradient flowed (norm 7972) and the first inversion. Right: the Stage 2 run that produced the dissociation curve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play (about 13 seconds). This is a short-budget recording for demonstration; with the full 32 000-step budget the same procedure reaches 0.944. The point is the contrast between the two BOLD panels (matching) and the cosine curve (incomplete). If the video does not play on the venue PC, the poster frame shows the final state and the MP4 is supplied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hardest methodological question ('how do you know you are not just measuring your optimiser?'). We fell into exactly that trap, recognised it from the flat curves, and rebuilt the protocol. Convergence: 4000 → 0.77, 8000 → 0.87, 16000 → 0.89, 32000 → 0.89 (plateau), from a single annealed run; independent runs to completion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result. Eight independent inversions, each run to the end of its own cosine schedule. Encoding error falls from 7.55e-2 to 2.66e-3 (28.4x); recovery rises then saturates at 0.944. The last halving of encoding error (5.65e-3 → 2.66e-3) adds only 0.015 to recovery. Implication for the field: scaling encoders (Antonello 2023, TRIBE v2's log-linear scaling) should not be expected to deliver proportional decoding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Hadamard's stability condition, tested empirically. Graceful monotone decay means the inverse is reasonably well conditioned against additive noise. The split between retrieval and relative error is important: noise mostly corrupts the magnitude of the recovered representation, not which moment it corresponds to. Retrieval here asks whether the recovered vector at time t is closest to the true vector at time t among the other 31 time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Vertices sampled uniformly at random (seeded). Below ~500 vertices the problem is genuinely underdetermined. Note that encoding error on the observed vertices is lowest for the smallest subsets, while recovery is worst: fitting a few vertices perfectly says little about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Priors: tested in the 500-vertex regime where a prior should help most. Neither small norm nor temporal smoothness describes semantic representations under this operator; better priors must come from the structure of language embeddings. Bandwidth: we report this as a null with its cause, not as 'bandwidth does not matter'. The haemodynamic low-pass was learned into the training data, not built as an operator, so this experiment cannot measure HRF bandwidth. Pooling was checked and excluded as the cause (pooled vs unpooled output separation 49.9 vs 28.8).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the panel can refer back to during viva. Every number is from results.json. Mean ± sd for the manifold comparison is over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initialisations reach the same prediction error (fit-matched within 2x) yet agree with each other only at 0.82-0.90 cosine. Replicated across four ground truths (min pairwise 0.8165 +/- 0.0068). This is the first sign that the limit is the shape of the problem, not lost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null space would keep d cheap at every scale. It does not, so information is not destroyed. The test uses forward passes only, so it does not depend on the optimiser.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sensitivity = finite-difference probe of the Jacobian along a direction. The solution-difference direction falls below every one of 200 random directions sampled.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simple alternative explanations excluded early: the decoder is not just losing overall magnitude, and a linear readout fitted on the same model does far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sensitivity per vertex to perturbations confined to each modality slot of x, 16 directions each, forward passes only. z against 2 000 random vertex sets of the same size (ignores spatial autocorrelation, so read as effect sizes). Independent check that the operator we invert is neuroanatomically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S1-S3 are complete. S4 and S5 are already running (some control experiments have results we will present at Review III). S6 uses the LeBel 2023 corpus (OpenNeuro ds003020), the same corpus TRIBE v2 was trained on, so the encoder is in-distribution. S7 overlaps S6 so the write-up does not wait for the last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as declared in Report I. The two tracks meet at the regional analysis: the ROI definitions come from the neurobiology side and the inversion from the computational side. Both members should be ready to explain the whole pipeline at a high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finding: recovery is incomplete because the inverse is non-convex and anisotropically conditioned, not because information is destroyed. Review III completes the controls, adds the regional analysis and starts the real-data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Telesford et al., Sci. Data 2023 is the NKI simultaneous EEG-fMRI dataset if they ask for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phrase: the model is the instrument; the contribution is the characterisation of its 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Adam's bias: the Review III initialisation and perturbation experiments address this; the perturbation test does not depend on any optimiser.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UNESCO adopted its Recommendation on the Ethics of Neurotechnology on 12 November 2025; OECD Recommendation on Responsible Innovation in Neurotechnology,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format, peer-reviewed sources and three arXiv preprints (TRIBE v2 and its two 2026 follow-ups, needed as novelty evidence). No websites. Placed last so it stays on screen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lstStyle>
            <a:lvl1pPr algn="l" indent="0" marL="0">
              <a:buNone/>
              <a:defRPr lang="en-US" sz="3000" b="1" dirty="0">
                <a:solidFill>
                  <a:srgbClr val="1324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8A8984"/>
                </a:solidFill>
                <a:latin typeface="Calibri" pitchFamily="34" charset="0"/>
                <a:ea typeface="Calibri" pitchFamily="34" charset="-122"/>
                <a:cs typeface="Calibri" pitchFamily="34" charset="-120"/>
              </a:rPr>
              <a:t>BECE497J Project-I  ·  Review II  ·  A. Sarkar (23BML0077)  ·  T. Choudhuri (23BML0081)</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video" Target="../media/media-24-1.mp4"/><Relationship Id="rId2" Type="http://schemas.microsoft.com/office/2007/relationships/media" Target="../media/media-24-1.mp4"/><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Conditioning and Non-Convexity of Semantic Decoding by Inversion of Deep Brain Encoding Models</a:t>
            </a: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Project-I (BECE497J)  ·  Review II  ·  40% milestone</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Abhranil Sarkar (23BML0077)   ·   Tanisha Choudhuri (23BML0081)</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Guide: Dr. Sharmila Nageswaran, Associate Professor, School of Electronics Engineering</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Panel SBT_PANEL_3  ·  TT501  ·  14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Where the project stands at Review II</a:t>
            </a:r>
            <a:endParaRPr lang="en-US" sz="3000" dirty="0"/>
          </a:p>
        </p:txBody>
      </p:sp>
      <p:sp>
        <p:nvSpPr>
          <p:cNvPr id="3" name="Text 1"/>
          <p:cNvSpPr txBox="1"/>
          <p:nvPr/>
        </p:nvSpPr>
        <p:spPr>
          <a:xfrm>
            <a:off x="548640" y="1325880"/>
            <a:ext cx="2651760" cy="731520"/>
          </a:xfrm>
          <a:prstGeom prst="rect">
            <a:avLst/>
          </a:prstGeom>
          <a:noFill/>
          <a:ln/>
        </p:spPr>
        <p:txBody>
          <a:bodyPr wrap="square" lIns="0" tIns="0" rIns="0" bIns="0" rtlCol="0" anchor="b"/>
          <a:lstStyle/>
          <a:p>
            <a:pPr indent="0" marL="0">
              <a:buNone/>
            </a:pPr>
            <a:r>
              <a:rPr lang="en-US" sz="4000" b="1" dirty="0">
                <a:solidFill>
                  <a:srgbClr val="2A78D6"/>
                </a:solidFill>
                <a:latin typeface="Cambria" pitchFamily="34" charset="0"/>
                <a:ea typeface="Cambria" pitchFamily="34" charset="-122"/>
                <a:cs typeface="Cambria" pitchFamily="34" charset="-120"/>
              </a:rPr>
              <a:t>177 M</a:t>
            </a:r>
            <a:endParaRPr lang="en-US" sz="4000" dirty="0"/>
          </a:p>
        </p:txBody>
      </p:sp>
      <p:sp>
        <p:nvSpPr>
          <p:cNvPr id="4" name="Text 2"/>
          <p:cNvSpPr txBox="1"/>
          <p:nvPr/>
        </p:nvSpPr>
        <p:spPr>
          <a:xfrm>
            <a:off x="548640" y="210312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parameter brain encoder made differentiable end-to-end from its feature boundary</a:t>
            </a:r>
            <a:endParaRPr lang="en-US" sz="1300" dirty="0"/>
          </a:p>
        </p:txBody>
      </p:sp>
      <p:sp>
        <p:nvSpPr>
          <p:cNvPr id="5" name="Text 3"/>
          <p:cNvSpPr txBox="1"/>
          <p:nvPr/>
        </p:nvSpPr>
        <p:spPr>
          <a:xfrm>
            <a:off x="3383280" y="1325880"/>
            <a:ext cx="2651760" cy="731520"/>
          </a:xfrm>
          <a:prstGeom prst="rect">
            <a:avLst/>
          </a:prstGeom>
          <a:noFill/>
          <a:ln/>
        </p:spPr>
        <p:txBody>
          <a:bodyPr wrap="square" lIns="0" tIns="0" rIns="0" bIns="0" rtlCol="0" anchor="b"/>
          <a:lstStyle/>
          <a:p>
            <a:pPr indent="0" marL="0">
              <a:buNone/>
            </a:pPr>
            <a:r>
              <a:rPr lang="en-US" sz="4000" b="1" dirty="0">
                <a:solidFill>
                  <a:srgbClr val="2A78D6"/>
                </a:solidFill>
                <a:latin typeface="Cambria" pitchFamily="34" charset="0"/>
                <a:ea typeface="Cambria" pitchFamily="34" charset="-122"/>
                <a:cs typeface="Cambria" pitchFamily="34" charset="-120"/>
              </a:rPr>
              <a:t>20 484</a:t>
            </a:r>
            <a:endParaRPr lang="en-US" sz="4000" dirty="0"/>
          </a:p>
        </p:txBody>
      </p:sp>
      <p:sp>
        <p:nvSpPr>
          <p:cNvPr id="6" name="Text 4"/>
          <p:cNvSpPr txBox="1"/>
          <p:nvPr/>
        </p:nvSpPr>
        <p:spPr>
          <a:xfrm>
            <a:off x="3383280" y="210312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cortical vertices recovered from, on the fsaverage5 surface</a:t>
            </a:r>
            <a:endParaRPr lang="en-US" sz="1300" dirty="0"/>
          </a:p>
        </p:txBody>
      </p:sp>
      <p:sp>
        <p:nvSpPr>
          <p:cNvPr id="7" name="Text 5"/>
          <p:cNvSpPr txBox="1"/>
          <p:nvPr/>
        </p:nvSpPr>
        <p:spPr>
          <a:xfrm>
            <a:off x="6217920" y="1325880"/>
            <a:ext cx="2651760" cy="731520"/>
          </a:xfrm>
          <a:prstGeom prst="rect">
            <a:avLst/>
          </a:prstGeom>
          <a:noFill/>
          <a:ln/>
        </p:spPr>
        <p:txBody>
          <a:bodyPr wrap="square" lIns="0" tIns="0" rIns="0" bIns="0" rtlCol="0" anchor="b"/>
          <a:lstStyle/>
          <a:p>
            <a:pPr indent="0" marL="0">
              <a:buNone/>
            </a:pPr>
            <a:r>
              <a:rPr lang="en-US" sz="4000" b="1" dirty="0">
                <a:solidFill>
                  <a:srgbClr val="EB6834"/>
                </a:solidFill>
                <a:latin typeface="Cambria" pitchFamily="34" charset="0"/>
                <a:ea typeface="Cambria" pitchFamily="34" charset="-122"/>
                <a:cs typeface="Cambria" pitchFamily="34" charset="-120"/>
              </a:rPr>
              <a:t>28×</a:t>
            </a:r>
            <a:endParaRPr lang="en-US" sz="4000" dirty="0"/>
          </a:p>
        </p:txBody>
      </p:sp>
      <p:sp>
        <p:nvSpPr>
          <p:cNvPr id="8" name="Text 6"/>
          <p:cNvSpPr txBox="1"/>
          <p:nvPr/>
        </p:nvSpPr>
        <p:spPr>
          <a:xfrm>
            <a:off x="6217920" y="210312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fall in encoding error while decoding recovery saturates</a:t>
            </a:r>
            <a:endParaRPr lang="en-US" sz="1300" dirty="0"/>
          </a:p>
        </p:txBody>
      </p:sp>
      <p:sp>
        <p:nvSpPr>
          <p:cNvPr id="9" name="Text 7"/>
          <p:cNvSpPr txBox="1"/>
          <p:nvPr/>
        </p:nvSpPr>
        <p:spPr>
          <a:xfrm>
            <a:off x="9052560" y="1325880"/>
            <a:ext cx="2651760" cy="731520"/>
          </a:xfrm>
          <a:prstGeom prst="rect">
            <a:avLst/>
          </a:prstGeom>
          <a:noFill/>
          <a:ln/>
        </p:spPr>
        <p:txBody>
          <a:bodyPr wrap="square" lIns="0" tIns="0" rIns="0" bIns="0" rtlCol="0" anchor="b"/>
          <a:lstStyle/>
          <a:p>
            <a:pPr indent="0" marL="0">
              <a:buNone/>
            </a:pPr>
            <a:r>
              <a:rPr lang="en-US" sz="4000" b="1" dirty="0">
                <a:solidFill>
                  <a:srgbClr val="1BAF7A"/>
                </a:solidFill>
                <a:latin typeface="Cambria" pitchFamily="34" charset="0"/>
                <a:ea typeface="Cambria" pitchFamily="34" charset="-122"/>
                <a:cs typeface="Cambria" pitchFamily="34" charset="-120"/>
              </a:rPr>
              <a:t>26</a:t>
            </a:r>
            <a:endParaRPr lang="en-US" sz="4000" dirty="0"/>
          </a:p>
        </p:txBody>
      </p:sp>
      <p:sp>
        <p:nvSpPr>
          <p:cNvPr id="10" name="Text 8"/>
          <p:cNvSpPr txBox="1"/>
          <p:nvPr/>
        </p:nvSpPr>
        <p:spPr>
          <a:xfrm>
            <a:off x="9052560" y="210312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experimental stages logged with exact ground truth</a:t>
            </a:r>
            <a:endParaRPr lang="en-US" sz="1300" dirty="0"/>
          </a:p>
        </p:txBody>
      </p:sp>
      <p:sp>
        <p:nvSpPr>
          <p:cNvPr id="11" name="Text 9"/>
          <p:cNvSpPr txBox="1"/>
          <p:nvPr/>
        </p:nvSpPr>
        <p:spPr>
          <a:xfrm>
            <a:off x="548640" y="3429000"/>
            <a:ext cx="7315200" cy="320040"/>
          </a:xfrm>
          <a:prstGeom prst="rect">
            <a:avLst/>
          </a:prstGeom>
          <a:noFill/>
          <a:ln/>
        </p:spPr>
        <p:txBody>
          <a:bodyPr wrap="square" lIns="0" tIns="0" rIns="0" bIns="0" rtlCol="0" anchor="t"/>
          <a:lstStyle/>
          <a:p>
            <a:pPr indent="0" marL="0">
              <a:buNone/>
            </a:pPr>
            <a:r>
              <a:rPr lang="en-US" sz="1500" b="1" dirty="0">
                <a:solidFill>
                  <a:srgbClr val="13243B"/>
                </a:solidFill>
                <a:latin typeface="Calibri" pitchFamily="34" charset="0"/>
                <a:ea typeface="Calibri" pitchFamily="34" charset="-122"/>
                <a:cs typeface="Calibri" pitchFamily="34" charset="-120"/>
              </a:rPr>
              <a:t>Completion against the project plan</a:t>
            </a:r>
            <a:endParaRPr lang="en-US" sz="1500" dirty="0"/>
          </a:p>
        </p:txBody>
      </p:sp>
      <p:sp>
        <p:nvSpPr>
          <p:cNvPr id="12" name="Shape 10"/>
          <p:cNvSpPr/>
          <p:nvPr/>
        </p:nvSpPr>
        <p:spPr>
          <a:xfrm>
            <a:off x="548640" y="3840480"/>
            <a:ext cx="1525742" cy="384048"/>
          </a:xfrm>
          <a:prstGeom prst="rect">
            <a:avLst/>
          </a:prstGeom>
          <a:solidFill>
            <a:srgbClr val="E4E8EE"/>
          </a:solidFill>
          <a:ln w="12700">
            <a:solidFill>
              <a:srgbClr val="E4E8EE"/>
            </a:solidFill>
            <a:prstDash val="solid"/>
          </a:ln>
        </p:spPr>
      </p:sp>
      <p:sp>
        <p:nvSpPr>
          <p:cNvPr id="13" name="Shape 11"/>
          <p:cNvSpPr/>
          <p:nvPr/>
        </p:nvSpPr>
        <p:spPr>
          <a:xfrm>
            <a:off x="548640" y="3840480"/>
            <a:ext cx="1525742" cy="384048"/>
          </a:xfrm>
          <a:prstGeom prst="rect">
            <a:avLst/>
          </a:prstGeom>
          <a:solidFill>
            <a:srgbClr val="1BAF7A"/>
          </a:solidFill>
          <a:ln w="12700">
            <a:solidFill>
              <a:srgbClr val="1BAF7A"/>
            </a:solidFill>
            <a:prstDash val="solid"/>
          </a:ln>
        </p:spPr>
      </p:sp>
      <p:sp>
        <p:nvSpPr>
          <p:cNvPr id="14" name="Text 12"/>
          <p:cNvSpPr txBox="1"/>
          <p:nvPr/>
        </p:nvSpPr>
        <p:spPr>
          <a:xfrm>
            <a:off x="548640"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Formulation</a:t>
            </a:r>
            <a:endParaRPr lang="en-US" sz="1200" dirty="0"/>
          </a:p>
        </p:txBody>
      </p:sp>
      <p:sp>
        <p:nvSpPr>
          <p:cNvPr id="15" name="Shape 13"/>
          <p:cNvSpPr/>
          <p:nvPr/>
        </p:nvSpPr>
        <p:spPr>
          <a:xfrm>
            <a:off x="2129246" y="3840480"/>
            <a:ext cx="1525742" cy="384048"/>
          </a:xfrm>
          <a:prstGeom prst="rect">
            <a:avLst/>
          </a:prstGeom>
          <a:solidFill>
            <a:srgbClr val="E4E8EE"/>
          </a:solidFill>
          <a:ln w="12700">
            <a:solidFill>
              <a:srgbClr val="E4E8EE"/>
            </a:solidFill>
            <a:prstDash val="solid"/>
          </a:ln>
        </p:spPr>
      </p:sp>
      <p:sp>
        <p:nvSpPr>
          <p:cNvPr id="16" name="Shape 14"/>
          <p:cNvSpPr/>
          <p:nvPr/>
        </p:nvSpPr>
        <p:spPr>
          <a:xfrm>
            <a:off x="2129246" y="3840480"/>
            <a:ext cx="1525742" cy="384048"/>
          </a:xfrm>
          <a:prstGeom prst="rect">
            <a:avLst/>
          </a:prstGeom>
          <a:solidFill>
            <a:srgbClr val="1BAF7A"/>
          </a:solidFill>
          <a:ln w="12700">
            <a:solidFill>
              <a:srgbClr val="1BAF7A"/>
            </a:solidFill>
            <a:prstDash val="solid"/>
          </a:ln>
        </p:spPr>
      </p:sp>
      <p:sp>
        <p:nvSpPr>
          <p:cNvPr id="17" name="Text 15"/>
          <p:cNvSpPr txBox="1"/>
          <p:nvPr/>
        </p:nvSpPr>
        <p:spPr>
          <a:xfrm>
            <a:off x="2129246"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Instrumentation</a:t>
            </a:r>
            <a:endParaRPr lang="en-US" sz="1200" dirty="0"/>
          </a:p>
        </p:txBody>
      </p:sp>
      <p:sp>
        <p:nvSpPr>
          <p:cNvPr id="18" name="Shape 16"/>
          <p:cNvSpPr/>
          <p:nvPr/>
        </p:nvSpPr>
        <p:spPr>
          <a:xfrm>
            <a:off x="3709851" y="3840480"/>
            <a:ext cx="1525742" cy="384048"/>
          </a:xfrm>
          <a:prstGeom prst="rect">
            <a:avLst/>
          </a:prstGeom>
          <a:solidFill>
            <a:srgbClr val="E4E8EE"/>
          </a:solidFill>
          <a:ln w="12700">
            <a:solidFill>
              <a:srgbClr val="E4E8EE"/>
            </a:solidFill>
            <a:prstDash val="solid"/>
          </a:ln>
        </p:spPr>
      </p:sp>
      <p:sp>
        <p:nvSpPr>
          <p:cNvPr id="19" name="Shape 17"/>
          <p:cNvSpPr/>
          <p:nvPr/>
        </p:nvSpPr>
        <p:spPr>
          <a:xfrm>
            <a:off x="3709851" y="3840480"/>
            <a:ext cx="1525742" cy="384048"/>
          </a:xfrm>
          <a:prstGeom prst="rect">
            <a:avLst/>
          </a:prstGeom>
          <a:solidFill>
            <a:srgbClr val="1BAF7A"/>
          </a:solidFill>
          <a:ln w="12700">
            <a:solidFill>
              <a:srgbClr val="1BAF7A"/>
            </a:solidFill>
            <a:prstDash val="solid"/>
          </a:ln>
        </p:spPr>
      </p:sp>
      <p:sp>
        <p:nvSpPr>
          <p:cNvPr id="20" name="Text 18"/>
          <p:cNvSpPr txBox="1"/>
          <p:nvPr/>
        </p:nvSpPr>
        <p:spPr>
          <a:xfrm>
            <a:off x="3709851"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Core characterisation</a:t>
            </a:r>
            <a:endParaRPr lang="en-US" sz="1200" dirty="0"/>
          </a:p>
        </p:txBody>
      </p:sp>
      <p:sp>
        <p:nvSpPr>
          <p:cNvPr id="21" name="Shape 19"/>
          <p:cNvSpPr/>
          <p:nvPr/>
        </p:nvSpPr>
        <p:spPr>
          <a:xfrm>
            <a:off x="5290457" y="3840480"/>
            <a:ext cx="1525742" cy="384048"/>
          </a:xfrm>
          <a:prstGeom prst="rect">
            <a:avLst/>
          </a:prstGeom>
          <a:solidFill>
            <a:srgbClr val="E4E8EE"/>
          </a:solidFill>
          <a:ln w="12700">
            <a:solidFill>
              <a:srgbClr val="E4E8EE"/>
            </a:solidFill>
            <a:prstDash val="solid"/>
          </a:ln>
        </p:spPr>
      </p:sp>
      <p:sp>
        <p:nvSpPr>
          <p:cNvPr id="22" name="Shape 20"/>
          <p:cNvSpPr/>
          <p:nvPr/>
        </p:nvSpPr>
        <p:spPr>
          <a:xfrm>
            <a:off x="5290457" y="3840480"/>
            <a:ext cx="610297" cy="384048"/>
          </a:xfrm>
          <a:prstGeom prst="rect">
            <a:avLst/>
          </a:prstGeom>
          <a:solidFill>
            <a:srgbClr val="EDA100"/>
          </a:solidFill>
          <a:ln w="12700">
            <a:solidFill>
              <a:srgbClr val="EDA100"/>
            </a:solidFill>
            <a:prstDash val="solid"/>
          </a:ln>
        </p:spPr>
      </p:sp>
      <p:sp>
        <p:nvSpPr>
          <p:cNvPr id="23" name="Text 21"/>
          <p:cNvSpPr txBox="1"/>
          <p:nvPr/>
        </p:nvSpPr>
        <p:spPr>
          <a:xfrm>
            <a:off x="5290457"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Controls &amp; validation</a:t>
            </a:r>
            <a:endParaRPr lang="en-US" sz="1200" dirty="0"/>
          </a:p>
        </p:txBody>
      </p:sp>
      <p:sp>
        <p:nvSpPr>
          <p:cNvPr id="24" name="Shape 22"/>
          <p:cNvSpPr/>
          <p:nvPr/>
        </p:nvSpPr>
        <p:spPr>
          <a:xfrm>
            <a:off x="6871063" y="3840480"/>
            <a:ext cx="1525742" cy="384048"/>
          </a:xfrm>
          <a:prstGeom prst="rect">
            <a:avLst/>
          </a:prstGeom>
          <a:solidFill>
            <a:srgbClr val="E4E8EE"/>
          </a:solidFill>
          <a:ln w="12700">
            <a:solidFill>
              <a:srgbClr val="E4E8EE"/>
            </a:solidFill>
            <a:prstDash val="solid"/>
          </a:ln>
        </p:spPr>
      </p:sp>
      <p:sp>
        <p:nvSpPr>
          <p:cNvPr id="25" name="Shape 23"/>
          <p:cNvSpPr/>
          <p:nvPr/>
        </p:nvSpPr>
        <p:spPr>
          <a:xfrm>
            <a:off x="6871063" y="3840480"/>
            <a:ext cx="305148" cy="384048"/>
          </a:xfrm>
          <a:prstGeom prst="rect">
            <a:avLst/>
          </a:prstGeom>
          <a:solidFill>
            <a:srgbClr val="EDA100"/>
          </a:solidFill>
          <a:ln w="12700">
            <a:solidFill>
              <a:srgbClr val="EDA100"/>
            </a:solidFill>
            <a:prstDash val="solid"/>
          </a:ln>
        </p:spPr>
      </p:sp>
      <p:sp>
        <p:nvSpPr>
          <p:cNvPr id="26" name="Text 24"/>
          <p:cNvSpPr txBox="1"/>
          <p:nvPr/>
        </p:nvSpPr>
        <p:spPr>
          <a:xfrm>
            <a:off x="6871063"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Regional analysis</a:t>
            </a:r>
            <a:endParaRPr lang="en-US" sz="1200" dirty="0"/>
          </a:p>
        </p:txBody>
      </p:sp>
      <p:sp>
        <p:nvSpPr>
          <p:cNvPr id="27" name="Shape 25"/>
          <p:cNvSpPr/>
          <p:nvPr/>
        </p:nvSpPr>
        <p:spPr>
          <a:xfrm>
            <a:off x="8451669" y="3840480"/>
            <a:ext cx="1525742" cy="384048"/>
          </a:xfrm>
          <a:prstGeom prst="rect">
            <a:avLst/>
          </a:prstGeom>
          <a:solidFill>
            <a:srgbClr val="E4E8EE"/>
          </a:solidFill>
          <a:ln w="12700">
            <a:solidFill>
              <a:srgbClr val="E4E8EE"/>
            </a:solidFill>
            <a:prstDash val="solid"/>
          </a:ln>
        </p:spPr>
      </p:sp>
      <p:sp>
        <p:nvSpPr>
          <p:cNvPr id="28" name="Text 26"/>
          <p:cNvSpPr txBox="1"/>
          <p:nvPr/>
        </p:nvSpPr>
        <p:spPr>
          <a:xfrm>
            <a:off x="8451669"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Real-data study</a:t>
            </a:r>
            <a:endParaRPr lang="en-US" sz="1200" dirty="0"/>
          </a:p>
        </p:txBody>
      </p:sp>
      <p:sp>
        <p:nvSpPr>
          <p:cNvPr id="29" name="Shape 27"/>
          <p:cNvSpPr/>
          <p:nvPr/>
        </p:nvSpPr>
        <p:spPr>
          <a:xfrm>
            <a:off x="10032274" y="3840480"/>
            <a:ext cx="1525742" cy="384048"/>
          </a:xfrm>
          <a:prstGeom prst="rect">
            <a:avLst/>
          </a:prstGeom>
          <a:solidFill>
            <a:srgbClr val="E4E8EE"/>
          </a:solidFill>
          <a:ln w="12700">
            <a:solidFill>
              <a:srgbClr val="E4E8EE"/>
            </a:solidFill>
            <a:prstDash val="solid"/>
          </a:ln>
        </p:spPr>
      </p:sp>
      <p:sp>
        <p:nvSpPr>
          <p:cNvPr id="30" name="Text 28"/>
          <p:cNvSpPr txBox="1"/>
          <p:nvPr/>
        </p:nvSpPr>
        <p:spPr>
          <a:xfrm>
            <a:off x="10032274"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Write-up</a:t>
            </a:r>
            <a:endParaRPr lang="en-US" sz="1200" dirty="0"/>
          </a:p>
        </p:txBody>
      </p:sp>
      <p:sp>
        <p:nvSpPr>
          <p:cNvPr id="31" name="card"/>
          <p:cNvSpPr/>
          <p:nvPr/>
        </p:nvSpPr>
        <p:spPr>
          <a:xfrm>
            <a:off x="548640" y="4983480"/>
            <a:ext cx="11064240" cy="1234440"/>
          </a:xfrm>
          <a:prstGeom prst="roundRect">
            <a:avLst>
              <a:gd name="adj" fmla="val 5926"/>
            </a:avLst>
          </a:prstGeom>
          <a:solidFill>
            <a:srgbClr val="EEF3F9"/>
          </a:solidFill>
          <a:ln w="12700">
            <a:solidFill>
              <a:srgbClr val="EEF3F9"/>
            </a:solidFill>
            <a:prstDash val="solid"/>
          </a:ln>
        </p:spPr>
      </p:sp>
      <p:sp>
        <p:nvSpPr>
          <p:cNvPr id="32" name="Text 30"/>
          <p:cNvSpPr txBox="1"/>
          <p:nvPr/>
        </p:nvSpPr>
        <p:spPr>
          <a:xfrm>
            <a:off x="777240" y="5120640"/>
            <a:ext cx="10607040" cy="1005840"/>
          </a:xfrm>
          <a:prstGeom prst="rect">
            <a:avLst/>
          </a:prstGeom>
          <a:noFill/>
          <a:ln/>
        </p:spPr>
        <p:txBody>
          <a:bodyPr wrap="square" lIns="0" tIns="0" rIns="0" bIns="0" rtlCol="0" anchor="ctr"/>
          <a:lstStyle/>
          <a:p>
            <a:pPr indent="0" marL="0">
              <a:buNone/>
            </a:pPr>
            <a:r>
              <a:rPr lang="en-US" sz="1600" b="1" dirty="0">
                <a:solidFill>
                  <a:srgbClr val="13243B"/>
                </a:solidFill>
                <a:latin typeface="Calibri" pitchFamily="34" charset="0"/>
                <a:ea typeface="Calibri" pitchFamily="34" charset="-122"/>
                <a:cs typeface="Calibri" pitchFamily="34" charset="-120"/>
              </a:rPr>
              <a:t>Status: ≈ 45% complete. </a:t>
            </a:r>
            <a:pPr indent="0" marL="0">
              <a:buNone/>
            </a:pPr>
            <a:r>
              <a:rPr lang="en-US" sz="1600" dirty="0">
                <a:solidFill>
                  <a:srgbClr val="0B0B0B"/>
                </a:solidFill>
                <a:latin typeface="Calibri" pitchFamily="34" charset="0"/>
                <a:ea typeface="Calibri" pitchFamily="34" charset="-122"/>
                <a:cs typeface="Calibri" pitchFamily="34" charset="-120"/>
              </a:rPr>
              <a:t>The method, the analytical model and the core synthetic characterisation are finished and reproducible. Controls, regional analysis and the real-data study are scheduled for Review III and the final review.</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1  ·  Problem and motivation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Why decoding meaning from brain activity matters, and why it is harder than predicting brain activity</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An open problem with conflicting interests</a:t>
            </a:r>
            <a:endParaRPr lang="en-US" sz="3000" dirty="0"/>
          </a:p>
        </p:txBody>
      </p:sp>
      <p:sp>
        <p:nvSpPr>
          <p:cNvPr id="3" name="card"/>
          <p:cNvSpPr/>
          <p:nvPr/>
        </p:nvSpPr>
        <p:spPr>
          <a:xfrm>
            <a:off x="548640" y="1371600"/>
            <a:ext cx="3520440" cy="4206240"/>
          </a:xfrm>
          <a:prstGeom prst="roundRect">
            <a:avLst>
              <a:gd name="adj" fmla="val 2078"/>
            </a:avLst>
          </a:prstGeom>
          <a:solidFill>
            <a:srgbClr val="EEF3F9"/>
          </a:solidFill>
          <a:ln w="12700">
            <a:solidFill>
              <a:srgbClr val="EEF3F9"/>
            </a:solidFill>
            <a:prstDash val="solid"/>
          </a:ln>
        </p:spPr>
      </p:sp>
      <p:sp>
        <p:nvSpPr>
          <p:cNvPr id="4" name="Shape 2"/>
          <p:cNvSpPr/>
          <p:nvPr/>
        </p:nvSpPr>
        <p:spPr>
          <a:xfrm>
            <a:off x="822960" y="1645920"/>
            <a:ext cx="777240" cy="77724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1009498" y="1832458"/>
            <a:ext cx="404165" cy="404165"/>
          </a:xfrm>
          <a:prstGeom prst="rect">
            <a:avLst/>
          </a:prstGeom>
        </p:spPr>
      </p:pic>
      <p:sp>
        <p:nvSpPr>
          <p:cNvPr id="6" name="Text 3"/>
          <p:cNvSpPr txBox="1"/>
          <p:nvPr/>
        </p:nvSpPr>
        <p:spPr>
          <a:xfrm>
            <a:off x="822960" y="2606040"/>
            <a:ext cx="3017520" cy="457200"/>
          </a:xfrm>
          <a:prstGeom prst="rect">
            <a:avLst/>
          </a:prstGeom>
          <a:noFill/>
          <a:ln/>
        </p:spPr>
        <p:txBody>
          <a:bodyPr wrap="square" lIns="0" tIns="0" rIns="0" bIns="0" rtlCol="0" anchor="t"/>
          <a:lstStyle/>
          <a:p>
            <a:pPr indent="0" marL="0">
              <a:buNone/>
            </a:pPr>
            <a:r>
              <a:rPr lang="en-US" sz="2000" b="1" dirty="0">
                <a:solidFill>
                  <a:srgbClr val="13243B"/>
                </a:solidFill>
                <a:latin typeface="Cambria" pitchFamily="34" charset="0"/>
                <a:ea typeface="Cambria" pitchFamily="34" charset="-122"/>
                <a:cs typeface="Cambria" pitchFamily="34" charset="-120"/>
              </a:rPr>
              <a:t>Clinical need</a:t>
            </a:r>
            <a:endParaRPr lang="en-US" sz="2000" dirty="0"/>
          </a:p>
        </p:txBody>
      </p:sp>
      <p:sp>
        <p:nvSpPr>
          <p:cNvPr id="7" name="Text 4"/>
          <p:cNvSpPr txBox="1"/>
          <p:nvPr/>
        </p:nvSpPr>
        <p:spPr>
          <a:xfrm>
            <a:off x="822960" y="3154680"/>
            <a:ext cx="3017520" cy="22860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ALS, brainstem stroke, locked-in syndrome and severe aphasia can leave comprehension intact while removing speech and writing. A non-invasive decoder would restore a channel without neurosurgery.</a:t>
            </a:r>
            <a:endParaRPr lang="en-US" sz="1500" dirty="0"/>
          </a:p>
        </p:txBody>
      </p:sp>
      <p:sp>
        <p:nvSpPr>
          <p:cNvPr id="8" name="card"/>
          <p:cNvSpPr/>
          <p:nvPr/>
        </p:nvSpPr>
        <p:spPr>
          <a:xfrm>
            <a:off x="4297680" y="1371600"/>
            <a:ext cx="3520440" cy="4206240"/>
          </a:xfrm>
          <a:prstGeom prst="roundRect">
            <a:avLst>
              <a:gd name="adj" fmla="val 2078"/>
            </a:avLst>
          </a:prstGeom>
          <a:solidFill>
            <a:srgbClr val="EEF3F9"/>
          </a:solidFill>
          <a:ln w="12700">
            <a:solidFill>
              <a:srgbClr val="EEF3F9"/>
            </a:solidFill>
            <a:prstDash val="solid"/>
          </a:ln>
        </p:spPr>
      </p:sp>
      <p:sp>
        <p:nvSpPr>
          <p:cNvPr id="9" name="Shape 6"/>
          <p:cNvSpPr/>
          <p:nvPr/>
        </p:nvSpPr>
        <p:spPr>
          <a:xfrm>
            <a:off x="4572000" y="1645920"/>
            <a:ext cx="777240" cy="777240"/>
          </a:xfrm>
          <a:prstGeom prst="ellipse">
            <a:avLst/>
          </a:prstGeom>
          <a:solidFill>
            <a:srgbClr val="EB6834"/>
          </a:solidFill>
          <a:ln w="12700">
            <a:solidFill>
              <a:srgbClr val="EB6834"/>
            </a:solidFill>
            <a:prstDash val="solid"/>
          </a:ln>
        </p:spPr>
      </p:sp>
      <p:pic>
        <p:nvPicPr>
          <p:cNvPr id="10" name="Image 1" descr="preencoded.png">    </p:cNvPr>
          <p:cNvPicPr>
            <a:picLocks noChangeAspect="1"/>
          </p:cNvPicPr>
          <p:nvPr/>
        </p:nvPicPr>
        <p:blipFill>
          <a:blip r:embed="rId2"/>
          <a:stretch>
            <a:fillRect/>
          </a:stretch>
        </p:blipFill>
        <p:spPr>
          <a:xfrm>
            <a:off x="4758538" y="1832458"/>
            <a:ext cx="404165" cy="404165"/>
          </a:xfrm>
          <a:prstGeom prst="rect">
            <a:avLst/>
          </a:prstGeom>
        </p:spPr>
      </p:pic>
      <p:sp>
        <p:nvSpPr>
          <p:cNvPr id="11" name="Text 7"/>
          <p:cNvSpPr txBox="1"/>
          <p:nvPr/>
        </p:nvSpPr>
        <p:spPr>
          <a:xfrm>
            <a:off x="4572000" y="2606040"/>
            <a:ext cx="3017520" cy="457200"/>
          </a:xfrm>
          <a:prstGeom prst="rect">
            <a:avLst/>
          </a:prstGeom>
          <a:noFill/>
          <a:ln/>
        </p:spPr>
        <p:txBody>
          <a:bodyPr wrap="square" lIns="0" tIns="0" rIns="0" bIns="0" rtlCol="0" anchor="t"/>
          <a:lstStyle/>
          <a:p>
            <a:pPr indent="0" marL="0">
              <a:buNone/>
            </a:pPr>
            <a:r>
              <a:rPr lang="en-US" sz="2000" b="1" dirty="0">
                <a:solidFill>
                  <a:srgbClr val="13243B"/>
                </a:solidFill>
                <a:latin typeface="Cambria" pitchFamily="34" charset="0"/>
                <a:ea typeface="Cambria" pitchFamily="34" charset="-122"/>
                <a:cs typeface="Cambria" pitchFamily="34" charset="-120"/>
              </a:rPr>
              <a:t>Engineering goal</a:t>
            </a:r>
            <a:endParaRPr lang="en-US" sz="2000" dirty="0"/>
          </a:p>
        </p:txBody>
      </p:sp>
      <p:sp>
        <p:nvSpPr>
          <p:cNvPr id="12" name="Text 8"/>
          <p:cNvSpPr txBox="1"/>
          <p:nvPr/>
        </p:nvSpPr>
        <p:spPr>
          <a:xfrm>
            <a:off x="4572000" y="3154680"/>
            <a:ext cx="3017520" cy="22860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Maximise decoding fidelity from fMRI, a measurement that is slow (seconds), spatially blurred and indirect: it records blood oxygenation, not neurons.</a:t>
            </a:r>
            <a:endParaRPr lang="en-US" sz="1500" dirty="0"/>
          </a:p>
        </p:txBody>
      </p:sp>
      <p:sp>
        <p:nvSpPr>
          <p:cNvPr id="13" name="card"/>
          <p:cNvSpPr/>
          <p:nvPr/>
        </p:nvSpPr>
        <p:spPr>
          <a:xfrm>
            <a:off x="8046720" y="1371600"/>
            <a:ext cx="3520440" cy="4206240"/>
          </a:xfrm>
          <a:prstGeom prst="roundRect">
            <a:avLst>
              <a:gd name="adj" fmla="val 2078"/>
            </a:avLst>
          </a:prstGeom>
          <a:solidFill>
            <a:srgbClr val="EEF3F9"/>
          </a:solidFill>
          <a:ln w="12700">
            <a:solidFill>
              <a:srgbClr val="EEF3F9"/>
            </a:solidFill>
            <a:prstDash val="solid"/>
          </a:ln>
        </p:spPr>
      </p:sp>
      <p:sp>
        <p:nvSpPr>
          <p:cNvPr id="14" name="Shape 10"/>
          <p:cNvSpPr/>
          <p:nvPr/>
        </p:nvSpPr>
        <p:spPr>
          <a:xfrm>
            <a:off x="8321040" y="1645920"/>
            <a:ext cx="777240" cy="777240"/>
          </a:xfrm>
          <a:prstGeom prst="ellipse">
            <a:avLst/>
          </a:prstGeom>
          <a:solidFill>
            <a:srgbClr val="4A3AA7"/>
          </a:solidFill>
          <a:ln w="12700">
            <a:solidFill>
              <a:srgbClr val="4A3AA7"/>
            </a:solidFill>
            <a:prstDash val="solid"/>
          </a:ln>
        </p:spPr>
      </p:sp>
      <p:pic>
        <p:nvPicPr>
          <p:cNvPr id="15" name="Image 2" descr="preencoded.png">    </p:cNvPr>
          <p:cNvPicPr>
            <a:picLocks noChangeAspect="1"/>
          </p:cNvPicPr>
          <p:nvPr/>
        </p:nvPicPr>
        <p:blipFill>
          <a:blip r:embed="rId3"/>
          <a:stretch>
            <a:fillRect/>
          </a:stretch>
        </p:blipFill>
        <p:spPr>
          <a:xfrm>
            <a:off x="8507578" y="1832458"/>
            <a:ext cx="404165" cy="404165"/>
          </a:xfrm>
          <a:prstGeom prst="rect">
            <a:avLst/>
          </a:prstGeom>
        </p:spPr>
      </p:pic>
      <p:sp>
        <p:nvSpPr>
          <p:cNvPr id="16" name="Text 11"/>
          <p:cNvSpPr txBox="1"/>
          <p:nvPr/>
        </p:nvSpPr>
        <p:spPr>
          <a:xfrm>
            <a:off x="8321040" y="2606040"/>
            <a:ext cx="3017520" cy="457200"/>
          </a:xfrm>
          <a:prstGeom prst="rect">
            <a:avLst/>
          </a:prstGeom>
          <a:noFill/>
          <a:ln/>
        </p:spPr>
        <p:txBody>
          <a:bodyPr wrap="square" lIns="0" tIns="0" rIns="0" bIns="0" rtlCol="0" anchor="t"/>
          <a:lstStyle/>
          <a:p>
            <a:pPr indent="0" marL="0">
              <a:buNone/>
            </a:pPr>
            <a:r>
              <a:rPr lang="en-US" sz="2000" b="1" dirty="0">
                <a:solidFill>
                  <a:srgbClr val="13243B"/>
                </a:solidFill>
                <a:latin typeface="Cambria" pitchFamily="34" charset="0"/>
                <a:ea typeface="Cambria" pitchFamily="34" charset="-122"/>
                <a:cs typeface="Cambria" pitchFamily="34" charset="-120"/>
              </a:rPr>
              <a:t>Ethical constraint</a:t>
            </a:r>
            <a:endParaRPr lang="en-US" sz="2000" dirty="0"/>
          </a:p>
        </p:txBody>
      </p:sp>
      <p:sp>
        <p:nvSpPr>
          <p:cNvPr id="17" name="Text 12"/>
          <p:cNvSpPr txBox="1"/>
          <p:nvPr/>
        </p:nvSpPr>
        <p:spPr>
          <a:xfrm>
            <a:off x="8321040" y="3154680"/>
            <a:ext cx="3017520" cy="22860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Neural data is uniquely private. Higher fidelity and stronger mental privacy pull in opposite directions; a system tuned only for accuracy may be clinically or socially unacceptable.</a:t>
            </a:r>
            <a:endParaRPr lang="en-US" sz="1500" dirty="0"/>
          </a:p>
        </p:txBody>
      </p:sp>
      <p:sp>
        <p:nvSpPr>
          <p:cNvPr id="18" name="Text 13"/>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400" i="1" dirty="0">
                <a:solidFill>
                  <a:srgbClr val="52514E"/>
                </a:solidFill>
                <a:latin typeface="Calibri" pitchFamily="34" charset="0"/>
                <a:ea typeface="Calibri" pitchFamily="34" charset="-122"/>
                <a:cs typeface="Calibri" pitchFamily="34" charset="-120"/>
              </a:rPr>
              <a:t>This is the open-ended, multi-stakeholder problem the capstone rubric asks for: electronics/signal processing meets biomedicine and ethics.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Encoding predicts the brain; decoding inverts it</a:t>
            </a:r>
            <a:endParaRPr lang="en-US" sz="3000" dirty="0"/>
          </a:p>
        </p:txBody>
      </p:sp>
      <p:sp>
        <p:nvSpPr>
          <p:cNvPr id="3" name="Shape 1"/>
          <p:cNvSpPr/>
          <p:nvPr/>
        </p:nvSpPr>
        <p:spPr>
          <a:xfrm>
            <a:off x="640080" y="1554480"/>
            <a:ext cx="2377440" cy="1097280"/>
          </a:xfrm>
          <a:prstGeom prst="roundRect">
            <a:avLst>
              <a:gd name="adj" fmla="val 6667"/>
            </a:avLst>
          </a:prstGeom>
          <a:solidFill>
            <a:srgbClr val="13243B"/>
          </a:solidFill>
          <a:ln w="12700">
            <a:solidFill>
              <a:srgbClr val="13243B"/>
            </a:solidFill>
            <a:prstDash val="solid"/>
          </a:ln>
        </p:spPr>
      </p:sp>
      <p:sp>
        <p:nvSpPr>
          <p:cNvPr id="4" name="Text 2"/>
          <p:cNvSpPr txBox="1"/>
          <p:nvPr/>
        </p:nvSpPr>
        <p:spPr>
          <a:xfrm>
            <a:off x="713232" y="1554480"/>
            <a:ext cx="2231136"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Stimulus meaning</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words heard, story context</a:t>
            </a:r>
            <a:endParaRPr lang="en-US" sz="1400" dirty="0"/>
          </a:p>
        </p:txBody>
      </p:sp>
      <p:sp>
        <p:nvSpPr>
          <p:cNvPr id="5" name="Shape 3"/>
          <p:cNvSpPr/>
          <p:nvPr/>
        </p:nvSpPr>
        <p:spPr>
          <a:xfrm>
            <a:off x="4892040" y="1554480"/>
            <a:ext cx="2377440" cy="1097280"/>
          </a:xfrm>
          <a:prstGeom prst="roundRect">
            <a:avLst>
              <a:gd name="adj" fmla="val 6667"/>
            </a:avLst>
          </a:prstGeom>
          <a:solidFill>
            <a:srgbClr val="2A78D6"/>
          </a:solidFill>
          <a:ln w="12700">
            <a:solidFill>
              <a:srgbClr val="2A78D6"/>
            </a:solidFill>
            <a:prstDash val="solid"/>
          </a:ln>
        </p:spPr>
      </p:sp>
      <p:sp>
        <p:nvSpPr>
          <p:cNvPr id="6" name="Text 4"/>
          <p:cNvSpPr txBox="1"/>
          <p:nvPr/>
        </p:nvSpPr>
        <p:spPr>
          <a:xfrm>
            <a:off x="4965192" y="1554480"/>
            <a:ext cx="2231136"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Encoding model</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learned from fMRI</a:t>
            </a:r>
            <a:endParaRPr lang="en-US" sz="1400" dirty="0"/>
          </a:p>
        </p:txBody>
      </p:sp>
      <p:sp>
        <p:nvSpPr>
          <p:cNvPr id="7" name="Shape 5"/>
          <p:cNvSpPr/>
          <p:nvPr/>
        </p:nvSpPr>
        <p:spPr>
          <a:xfrm>
            <a:off x="9144000" y="1554480"/>
            <a:ext cx="2377440" cy="1097280"/>
          </a:xfrm>
          <a:prstGeom prst="roundRect">
            <a:avLst>
              <a:gd name="adj" fmla="val 6667"/>
            </a:avLst>
          </a:prstGeom>
          <a:solidFill>
            <a:srgbClr val="13243B"/>
          </a:solidFill>
          <a:ln w="12700">
            <a:solidFill>
              <a:srgbClr val="13243B"/>
            </a:solidFill>
            <a:prstDash val="solid"/>
          </a:ln>
        </p:spPr>
      </p:sp>
      <p:sp>
        <p:nvSpPr>
          <p:cNvPr id="8" name="Text 6"/>
          <p:cNvSpPr txBox="1"/>
          <p:nvPr/>
        </p:nvSpPr>
        <p:spPr>
          <a:xfrm>
            <a:off x="9217152" y="1554480"/>
            <a:ext cx="2231136"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Predicted BOLD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20 484 vertices</a:t>
            </a:r>
            <a:endParaRPr lang="en-US" sz="1400" dirty="0"/>
          </a:p>
        </p:txBody>
      </p:sp>
      <p:sp>
        <p:nvSpPr>
          <p:cNvPr id="9" name="Shape 7"/>
          <p:cNvSpPr/>
          <p:nvPr/>
        </p:nvSpPr>
        <p:spPr>
          <a:xfrm>
            <a:off x="3063240" y="2103120"/>
            <a:ext cx="1783080" cy="914"/>
          </a:xfrm>
          <a:prstGeom prst="line">
            <a:avLst/>
          </a:prstGeom>
          <a:noFill/>
          <a:ln w="31750">
            <a:solidFill>
              <a:srgbClr val="2A78D6"/>
            </a:solidFill>
            <a:prstDash val="solid"/>
            <a:tailEnd type="triangle"/>
          </a:ln>
        </p:spPr>
      </p:sp>
      <p:sp>
        <p:nvSpPr>
          <p:cNvPr id="10" name="Shape 8"/>
          <p:cNvSpPr/>
          <p:nvPr/>
        </p:nvSpPr>
        <p:spPr>
          <a:xfrm>
            <a:off x="7315200" y="2103120"/>
            <a:ext cx="1783080" cy="914"/>
          </a:xfrm>
          <a:prstGeom prst="line">
            <a:avLst/>
          </a:prstGeom>
          <a:noFill/>
          <a:ln w="31750">
            <a:solidFill>
              <a:srgbClr val="2A78D6"/>
            </a:solidFill>
            <a:prstDash val="solid"/>
            <a:tailEnd type="triangle"/>
          </a:ln>
        </p:spPr>
      </p:sp>
      <p:sp>
        <p:nvSpPr>
          <p:cNvPr id="11" name="Text 9"/>
          <p:cNvSpPr txBox="1"/>
          <p:nvPr/>
        </p:nvSpPr>
        <p:spPr>
          <a:xfrm>
            <a:off x="3063240" y="1143000"/>
            <a:ext cx="6035040" cy="320040"/>
          </a:xfrm>
          <a:prstGeom prst="rect">
            <a:avLst/>
          </a:prstGeom>
          <a:noFill/>
          <a:ln/>
        </p:spPr>
        <p:txBody>
          <a:bodyPr wrap="square" lIns="0" tIns="0" rIns="0" bIns="0" rtlCol="0" anchor="t"/>
          <a:lstStyle/>
          <a:p>
            <a:pPr algn="ctr" indent="0" marL="0">
              <a:buNone/>
            </a:pPr>
            <a:r>
              <a:rPr lang="en-US" sz="1300" b="1" dirty="0">
                <a:solidFill>
                  <a:srgbClr val="2A78D6"/>
                </a:solidFill>
                <a:latin typeface="Calibri" pitchFamily="34" charset="0"/>
                <a:ea typeface="Calibri" pitchFamily="34" charset="-122"/>
                <a:cs typeface="Calibri" pitchFamily="34" charset="-120"/>
              </a:rPr>
              <a:t>ENCODING  (well studied, highly accurate)</a:t>
            </a:r>
            <a:endParaRPr lang="en-US" sz="1300" dirty="0"/>
          </a:p>
        </p:txBody>
      </p:sp>
      <p:sp>
        <p:nvSpPr>
          <p:cNvPr id="12" name="Shape 10"/>
          <p:cNvSpPr/>
          <p:nvPr/>
        </p:nvSpPr>
        <p:spPr>
          <a:xfrm flipH="1">
            <a:off x="7315200" y="3520440"/>
            <a:ext cx="1783080" cy="914"/>
          </a:xfrm>
          <a:prstGeom prst="line">
            <a:avLst/>
          </a:prstGeom>
          <a:noFill/>
          <a:ln w="31750">
            <a:solidFill>
              <a:srgbClr val="EB6834"/>
            </a:solidFill>
            <a:prstDash val="solid"/>
            <a:tailEnd type="triangle"/>
          </a:ln>
        </p:spPr>
      </p:sp>
      <p:sp>
        <p:nvSpPr>
          <p:cNvPr id="13" name="Shape 11"/>
          <p:cNvSpPr/>
          <p:nvPr/>
        </p:nvSpPr>
        <p:spPr>
          <a:xfrm flipH="1">
            <a:off x="3063240" y="3520440"/>
            <a:ext cx="1783080" cy="914"/>
          </a:xfrm>
          <a:prstGeom prst="line">
            <a:avLst/>
          </a:prstGeom>
          <a:noFill/>
          <a:ln w="31750">
            <a:solidFill>
              <a:srgbClr val="EB6834"/>
            </a:solidFill>
            <a:prstDash val="solid"/>
            <a:tailEnd type="triangle"/>
          </a:ln>
        </p:spPr>
      </p:sp>
      <p:sp>
        <p:nvSpPr>
          <p:cNvPr id="14" name="Shape 12"/>
          <p:cNvSpPr/>
          <p:nvPr/>
        </p:nvSpPr>
        <p:spPr>
          <a:xfrm>
            <a:off x="4892040" y="2971800"/>
            <a:ext cx="2377440" cy="1097280"/>
          </a:xfrm>
          <a:prstGeom prst="roundRect">
            <a:avLst>
              <a:gd name="adj" fmla="val 6667"/>
            </a:avLst>
          </a:prstGeom>
          <a:solidFill>
            <a:srgbClr val="EB6834"/>
          </a:solidFill>
          <a:ln w="12700">
            <a:solidFill>
              <a:srgbClr val="EB6834"/>
            </a:solidFill>
            <a:prstDash val="solid"/>
          </a:ln>
        </p:spPr>
      </p:sp>
      <p:sp>
        <p:nvSpPr>
          <p:cNvPr id="15" name="Text 13"/>
          <p:cNvSpPr txBox="1"/>
          <p:nvPr/>
        </p:nvSpPr>
        <p:spPr>
          <a:xfrm>
            <a:off x="4965192" y="2971800"/>
            <a:ext cx="2231136"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Inverse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this project</a:t>
            </a:r>
            <a:endParaRPr lang="en-US" sz="1400" dirty="0"/>
          </a:p>
        </p:txBody>
      </p:sp>
      <p:sp>
        <p:nvSpPr>
          <p:cNvPr id="16" name="Text 14"/>
          <p:cNvSpPr txBox="1"/>
          <p:nvPr/>
        </p:nvSpPr>
        <p:spPr>
          <a:xfrm>
            <a:off x="3063240" y="4160520"/>
            <a:ext cx="6035040" cy="320040"/>
          </a:xfrm>
          <a:prstGeom prst="rect">
            <a:avLst/>
          </a:prstGeom>
          <a:noFill/>
          <a:ln/>
        </p:spPr>
        <p:txBody>
          <a:bodyPr wrap="square" lIns="0" tIns="0" rIns="0" bIns="0" rtlCol="0" anchor="t"/>
          <a:lstStyle/>
          <a:p>
            <a:pPr algn="ctr" indent="0" marL="0">
              <a:buNone/>
            </a:pPr>
            <a:r>
              <a:rPr lang="en-US" sz="1300" b="1" dirty="0">
                <a:solidFill>
                  <a:srgbClr val="EB6834"/>
                </a:solidFill>
                <a:latin typeface="Calibri" pitchFamily="34" charset="0"/>
                <a:ea typeface="Calibri" pitchFamily="34" charset="-122"/>
                <a:cs typeface="Calibri" pitchFamily="34" charset="-120"/>
              </a:rPr>
              <a:t>DECODING  (the inverse problem: is it well posed?)</a:t>
            </a:r>
            <a:endParaRPr lang="en-US" sz="1300" dirty="0"/>
          </a:p>
        </p:txBody>
      </p:sp>
      <p:sp>
        <p:nvSpPr>
          <p:cNvPr id="17" name="card"/>
          <p:cNvSpPr/>
          <p:nvPr/>
        </p:nvSpPr>
        <p:spPr>
          <a:xfrm>
            <a:off x="640080" y="4754880"/>
            <a:ext cx="10881360" cy="1417320"/>
          </a:xfrm>
          <a:prstGeom prst="roundRect">
            <a:avLst>
              <a:gd name="adj" fmla="val 5161"/>
            </a:avLst>
          </a:prstGeom>
          <a:solidFill>
            <a:srgbClr val="EEF3F9"/>
          </a:solidFill>
          <a:ln w="12700">
            <a:solidFill>
              <a:srgbClr val="EEF3F9"/>
            </a:solidFill>
            <a:prstDash val="solid"/>
          </a:ln>
        </p:spPr>
      </p:sp>
      <p:sp>
        <p:nvSpPr>
          <p:cNvPr id="18" name="Text 16"/>
          <p:cNvSpPr txBox="1"/>
          <p:nvPr/>
        </p:nvSpPr>
        <p:spPr>
          <a:xfrm>
            <a:off x="868680" y="4892040"/>
            <a:ext cx="10424160" cy="1188720"/>
          </a:xfrm>
          <a:prstGeom prst="rect">
            <a:avLst/>
          </a:prstGeom>
          <a:noFill/>
          <a:ln/>
        </p:spPr>
        <p:txBody>
          <a:bodyPr wrap="square" lIns="0" tIns="0" rIns="0" bIns="0" rtlCol="0" anchor="ctr"/>
          <a:lstStyle/>
          <a:p>
            <a:pPr indent="0" marL="0">
              <a:buNone/>
            </a:pPr>
            <a:r>
              <a:rPr lang="en-US" sz="1600" b="1" dirty="0">
                <a:solidFill>
                  <a:srgbClr val="13243B"/>
                </a:solidFill>
                <a:latin typeface="Calibri" pitchFamily="34" charset="0"/>
                <a:ea typeface="Calibri" pitchFamily="34" charset="-122"/>
                <a:cs typeface="Calibri" pitchFamily="34" charset="-120"/>
              </a:rPr>
              <a:t>Key point.  </a:t>
            </a:r>
            <a:pPr indent="0" marL="0">
              <a:buNone/>
            </a:pPr>
            <a:r>
              <a:rPr lang="en-US" sz="1600" dirty="0">
                <a:solidFill>
                  <a:srgbClr val="0B0B0B"/>
                </a:solidFill>
                <a:latin typeface="Calibri" pitchFamily="34" charset="0"/>
                <a:ea typeface="Calibri" pitchFamily="34" charset="-122"/>
                <a:cs typeface="Calibri" pitchFamily="34" charset="-120"/>
              </a:rPr>
              <a:t>A forward model can be highly accurate and still be hard or impossible to invert: accuracy in the forward direction says nothing about conditioning, uniqueness or stability of the inverse (Hadamard's three conditions for a well-posed problem [14]). Nobody has measured these properties for a modern deep brain encoder.</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2  ·  Literature survey and research gap</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Two decades of encoding and decoding, and the question that was skipped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Literature survey I: encoding and decoding with fMRI</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834640"/>
                <a:gridCol w="4754880"/>
                <a:gridCol w="365760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Limitation relevant to us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Mitchell et al., Science 2008 [1]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Linear model predicts fMRI for unseen nouns from word co-occurrence features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Single words, hand-built features, linear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Kay et al., Nature 2008 [2]</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Identified viewed images by matching measured to predicted responses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Identification among candidates, not recovery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Naselaris et al., NeuroImage 2011 [3]</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Unified framework: encoding models as the route to decoding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Assumes invertibility; not characterised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Huth et al., Nature 2016 [4]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Voxelwise semantic maps tiling cortex from natural speech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Linear encoding; no inverse analysis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Antonello, Vaidya &amp; Huth, NeurIPS 2023 [5]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accuracy scales log-linearly with model size and data</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Scaling shown for encoding only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Tang et al., Nat. Neurosci. 2023 [6]</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Continuous language reconstructed from fMRI via LM-guided search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Decoder trained per subject (~16 h); search, not inversion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LeBel et al., Sci. Data 2023 [7]</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Open naturalistic-listening fMRI corpus (8 subjects, ~86 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Our real-data target (final phase)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Literature survey II: non-invasive decoding and foundation encoders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108960"/>
                <a:gridCol w="4572000"/>
                <a:gridCol w="356616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Limitation relevant to us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Défossez et al., Nat. Mach. Intell. 2023 [8]</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Contrastive decoding of perceived speech from MEG/EEG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MEG far stronger than EEG; segment identification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Scotti et al. (MindEye2), ICML 2024 [9]</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fMRI-to-image with 1 h of subject data via shared-subject model</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Vision; trained decoder, no operator analysis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d'Ascoli et al., Nat. Commun. 2025 [10]</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Single-word decoding across 723 participants (MEG/EEG)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Word level; accuracy limited by modality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Lévy et al. (Brain2Qwerty), Nat. Neurosci. 2026 [11]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Typed sentences decoded: CER 29% with MEG vs 65% with EEG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Shows EEG is too weak for language decoding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d'Ascoli et al. (TRIBE), ICLR 2026 [12]</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Trimodal encoder; 1st of 263 teams, Algonauts 2025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only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d'Ascoli et al. (TRIBE v2), 2026 [13]</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Open-weight foundation encoder: 1 117.7 h fMRI, 720 subjects, 20 484 vertices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Explicitly an encoder; inverse never studied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Hansen, SIAM 2010 [14]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Theory of discrete ill-posed problems: conditioning, regularisation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Our analytical lens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Research gap</a:t>
            </a:r>
            <a:endParaRPr lang="en-US" sz="3000" dirty="0"/>
          </a:p>
        </p:txBody>
      </p:sp>
      <p:sp>
        <p:nvSpPr>
          <p:cNvPr id="3" name="Shape 1"/>
          <p:cNvSpPr/>
          <p:nvPr/>
        </p:nvSpPr>
        <p:spPr>
          <a:xfrm>
            <a:off x="640080" y="1417320"/>
            <a:ext cx="731520" cy="731520"/>
          </a:xfrm>
          <a:prstGeom prst="ellipse">
            <a:avLst/>
          </a:prstGeom>
          <a:solidFill>
            <a:srgbClr val="2A78D6"/>
          </a:solidFill>
          <a:ln w="12700">
            <a:solidFill>
              <a:srgbClr val="2A78D6"/>
            </a:solidFill>
            <a:prstDash val="solid"/>
          </a:ln>
        </p:spPr>
      </p:sp>
      <p:pic>
        <p:nvPicPr>
          <p:cNvPr id="4" name="Image 0" descr="preencoded.png">    </p:cNvPr>
          <p:cNvPicPr>
            <a:picLocks noChangeAspect="1"/>
          </p:cNvPicPr>
          <p:nvPr/>
        </p:nvPicPr>
        <p:blipFill>
          <a:blip r:embed="rId1"/>
          <a:stretch>
            <a:fillRect/>
          </a:stretch>
        </p:blipFill>
        <p:spPr>
          <a:xfrm>
            <a:off x="815645" y="1592885"/>
            <a:ext cx="380390" cy="380390"/>
          </a:xfrm>
          <a:prstGeom prst="rect">
            <a:avLst/>
          </a:prstGeom>
        </p:spPr>
      </p:pic>
      <p:sp>
        <p:nvSpPr>
          <p:cNvPr id="5" name="Text 2"/>
          <p:cNvSpPr txBox="1"/>
          <p:nvPr/>
        </p:nvSpPr>
        <p:spPr>
          <a:xfrm>
            <a:off x="1600200" y="1325880"/>
            <a:ext cx="987552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Encoding keeps improving</a:t>
            </a:r>
            <a:endParaRPr lang="en-US" sz="1900" dirty="0"/>
          </a:p>
        </p:txBody>
      </p:sp>
      <p:sp>
        <p:nvSpPr>
          <p:cNvPr id="6" name="Text 3"/>
          <p:cNvSpPr txBox="1"/>
          <p:nvPr/>
        </p:nvSpPr>
        <p:spPr>
          <a:xfrm>
            <a:off x="1600200" y="1764792"/>
            <a:ext cx="9875520" cy="6858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Accuracy scales log-linearly with data with no plateau (Antonello 2023 [5]; TRIBE v2 2026 [13]).</a:t>
            </a:r>
            <a:endParaRPr lang="en-US" sz="1500" dirty="0"/>
          </a:p>
        </p:txBody>
      </p:sp>
      <p:sp>
        <p:nvSpPr>
          <p:cNvPr id="7" name="Shape 4"/>
          <p:cNvSpPr/>
          <p:nvPr/>
        </p:nvSpPr>
        <p:spPr>
          <a:xfrm>
            <a:off x="640080" y="2624328"/>
            <a:ext cx="731520" cy="731520"/>
          </a:xfrm>
          <a:prstGeom prst="ellipse">
            <a:avLst/>
          </a:prstGeom>
          <a:solidFill>
            <a:srgbClr val="EB6834"/>
          </a:solidFill>
          <a:ln w="12700">
            <a:solidFill>
              <a:srgbClr val="EB6834"/>
            </a:solidFill>
            <a:prstDash val="solid"/>
          </a:ln>
        </p:spPr>
      </p:sp>
      <p:pic>
        <p:nvPicPr>
          <p:cNvPr id="8" name="Image 1" descr="preencoded.png">    </p:cNvPr>
          <p:cNvPicPr>
            <a:picLocks noChangeAspect="1"/>
          </p:cNvPicPr>
          <p:nvPr/>
        </p:nvPicPr>
        <p:blipFill>
          <a:blip r:embed="rId2"/>
          <a:stretch>
            <a:fillRect/>
          </a:stretch>
        </p:blipFill>
        <p:spPr>
          <a:xfrm>
            <a:off x="815645" y="2799893"/>
            <a:ext cx="380390" cy="380390"/>
          </a:xfrm>
          <a:prstGeom prst="rect">
            <a:avLst/>
          </a:prstGeom>
        </p:spPr>
      </p:pic>
      <p:sp>
        <p:nvSpPr>
          <p:cNvPr id="9" name="Text 5"/>
          <p:cNvSpPr txBox="1"/>
          <p:nvPr/>
        </p:nvSpPr>
        <p:spPr>
          <a:xfrm>
            <a:off x="1600200" y="2532888"/>
            <a:ext cx="987552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Decoding is studied separately</a:t>
            </a:r>
            <a:endParaRPr lang="en-US" sz="1900" dirty="0"/>
          </a:p>
        </p:txBody>
      </p:sp>
      <p:sp>
        <p:nvSpPr>
          <p:cNvPr id="10" name="Text 6"/>
          <p:cNvSpPr txBox="1"/>
          <p:nvPr/>
        </p:nvSpPr>
        <p:spPr>
          <a:xfrm>
            <a:off x="1600200" y="2971800"/>
            <a:ext cx="9875520" cy="6858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Decoders are trained per subject and judged by proxy metrics, because the true stimulus representation behind real fMRI is unknown.</a:t>
            </a:r>
            <a:endParaRPr lang="en-US" sz="1500" dirty="0"/>
          </a:p>
        </p:txBody>
      </p:sp>
      <p:sp>
        <p:nvSpPr>
          <p:cNvPr id="11" name="Shape 7"/>
          <p:cNvSpPr/>
          <p:nvPr/>
        </p:nvSpPr>
        <p:spPr>
          <a:xfrm>
            <a:off x="640080" y="3831336"/>
            <a:ext cx="731520" cy="731520"/>
          </a:xfrm>
          <a:prstGeom prst="ellipse">
            <a:avLst/>
          </a:prstGeom>
          <a:solidFill>
            <a:srgbClr val="4A3AA7"/>
          </a:solidFill>
          <a:ln w="12700">
            <a:solidFill>
              <a:srgbClr val="4A3AA7"/>
            </a:solidFill>
            <a:prstDash val="solid"/>
          </a:ln>
        </p:spPr>
      </p:sp>
      <p:pic>
        <p:nvPicPr>
          <p:cNvPr id="12" name="Image 2" descr="preencoded.png">    </p:cNvPr>
          <p:cNvPicPr>
            <a:picLocks noChangeAspect="1"/>
          </p:cNvPicPr>
          <p:nvPr/>
        </p:nvPicPr>
        <p:blipFill>
          <a:blip r:embed="rId3"/>
          <a:stretch>
            <a:fillRect/>
          </a:stretch>
        </p:blipFill>
        <p:spPr>
          <a:xfrm>
            <a:off x="815645" y="4006901"/>
            <a:ext cx="380390" cy="380390"/>
          </a:xfrm>
          <a:prstGeom prst="rect">
            <a:avLst/>
          </a:prstGeom>
        </p:spPr>
      </p:pic>
      <p:sp>
        <p:nvSpPr>
          <p:cNvPr id="13" name="Text 8"/>
          <p:cNvSpPr txBox="1"/>
          <p:nvPr/>
        </p:nvSpPr>
        <p:spPr>
          <a:xfrm>
            <a:off x="1600200" y="3739896"/>
            <a:ext cx="987552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The inverse is never characterised</a:t>
            </a:r>
            <a:endParaRPr lang="en-US" sz="1900" dirty="0"/>
          </a:p>
        </p:txBody>
      </p:sp>
      <p:sp>
        <p:nvSpPr>
          <p:cNvPr id="14" name="Text 9"/>
          <p:cNvSpPr txBox="1"/>
          <p:nvPr/>
        </p:nvSpPr>
        <p:spPr>
          <a:xfrm>
            <a:off x="1600200" y="4178808"/>
            <a:ext cx="9875520" cy="68580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No study measures conditioning, uniqueness or stability of a deep encoder's inverse, or whether encoding gains transfer to decoding. Linear inverted encoding models are identifiable only up to a linear transform [16]; deep encoders have never been tested.</a:t>
            </a:r>
            <a:endParaRPr lang="en-US" sz="1500" dirty="0"/>
          </a:p>
        </p:txBody>
      </p:sp>
      <p:sp>
        <p:nvSpPr>
          <p:cNvPr id="15" name="card"/>
          <p:cNvSpPr/>
          <p:nvPr/>
        </p:nvSpPr>
        <p:spPr>
          <a:xfrm>
            <a:off x="640080" y="5029200"/>
            <a:ext cx="10881360" cy="1188720"/>
          </a:xfrm>
          <a:prstGeom prst="roundRect">
            <a:avLst>
              <a:gd name="adj" fmla="val 6154"/>
            </a:avLst>
          </a:prstGeom>
          <a:solidFill>
            <a:srgbClr val="13243B"/>
          </a:solidFill>
          <a:ln w="12700">
            <a:solidFill>
              <a:srgbClr val="13243B"/>
            </a:solidFill>
            <a:prstDash val="solid"/>
          </a:ln>
        </p:spPr>
      </p:sp>
      <p:sp>
        <p:nvSpPr>
          <p:cNvPr id="16" name="Text 11"/>
          <p:cNvSpPr txBox="1"/>
          <p:nvPr/>
        </p:nvSpPr>
        <p:spPr>
          <a:xfrm>
            <a:off x="868680" y="5120640"/>
            <a:ext cx="10424160" cy="1005840"/>
          </a:xfrm>
          <a:prstGeom prst="rect">
            <a:avLst/>
          </a:prstGeom>
          <a:noFill/>
          <a:ln/>
        </p:spPr>
        <p:txBody>
          <a:bodyPr wrap="square" lIns="0" tIns="0" rIns="0" bIns="0" rtlCol="0" anchor="ctr"/>
          <a:lstStyle/>
          <a:p>
            <a:pPr indent="0" marL="0">
              <a:buNone/>
            </a:pPr>
            <a:r>
              <a:rPr lang="en-US" sz="1800" b="1" dirty="0">
                <a:solidFill>
                  <a:srgbClr val="FFC9A8"/>
                </a:solidFill>
                <a:latin typeface="Calibri" pitchFamily="34" charset="0"/>
                <a:ea typeface="Calibri" pitchFamily="34" charset="-122"/>
                <a:cs typeface="Calibri" pitchFamily="34" charset="-120"/>
              </a:rPr>
              <a:t>Gap.  </a:t>
            </a:r>
            <a:pPr indent="0" marL="0">
              <a:buNone/>
            </a:pPr>
            <a:r>
              <a:rPr lang="en-US" sz="1800" dirty="0">
                <a:solidFill>
                  <a:srgbClr val="FFFFFF"/>
                </a:solidFill>
                <a:latin typeface="Calibri" pitchFamily="34" charset="0"/>
                <a:ea typeface="Calibri" pitchFamily="34" charset="-122"/>
                <a:cs typeface="Calibri" pitchFamily="34" charset="-120"/>
              </a:rPr>
              <a:t>Does improving a brain encoding model make meaning more recoverable from fMRI, and if not, what limits the inverse: information loss, non-convexity, or noise?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Problem statement and objectives</a:t>
            </a:r>
            <a:endParaRPr lang="en-US" sz="3000" dirty="0"/>
          </a:p>
        </p:txBody>
      </p:sp>
      <p:sp>
        <p:nvSpPr>
          <p:cNvPr id="3" name="card"/>
          <p:cNvSpPr/>
          <p:nvPr/>
        </p:nvSpPr>
        <p:spPr>
          <a:xfrm>
            <a:off x="548640" y="1234440"/>
            <a:ext cx="11064240" cy="960120"/>
          </a:xfrm>
          <a:prstGeom prst="roundRect">
            <a:avLst>
              <a:gd name="adj" fmla="val 7619"/>
            </a:avLst>
          </a:prstGeom>
          <a:solidFill>
            <a:srgbClr val="EEF3F9"/>
          </a:solidFill>
          <a:ln w="12700">
            <a:solidFill>
              <a:srgbClr val="EEF3F9"/>
            </a:solidFill>
            <a:prstDash val="solid"/>
          </a:ln>
        </p:spPr>
      </p:sp>
      <p:sp>
        <p:nvSpPr>
          <p:cNvPr id="4" name="Text 2"/>
          <p:cNvSpPr txBox="1"/>
          <p:nvPr/>
        </p:nvSpPr>
        <p:spPr>
          <a:xfrm>
            <a:off x="777240" y="1325880"/>
            <a:ext cx="10607040" cy="777240"/>
          </a:xfrm>
          <a:prstGeom prst="rect">
            <a:avLst/>
          </a:prstGeom>
          <a:noFill/>
          <a:ln/>
        </p:spPr>
        <p:txBody>
          <a:bodyPr wrap="square" lIns="0" tIns="0" rIns="0" bIns="0" rtlCol="0" anchor="ctr"/>
          <a:lstStyle/>
          <a:p>
            <a:pPr indent="0" marL="0">
              <a:buNone/>
            </a:pPr>
            <a:r>
              <a:rPr lang="en-US" sz="1700" b="1" dirty="0">
                <a:solidFill>
                  <a:srgbClr val="13243B"/>
                </a:solidFill>
                <a:latin typeface="Calibri" pitchFamily="34" charset="0"/>
                <a:ea typeface="Calibri" pitchFamily="34" charset="-122"/>
                <a:cs typeface="Calibri" pitchFamily="34" charset="-120"/>
              </a:rPr>
              <a:t>Characterise semantic decoding from fMRI as the inverse of a frozen, differentiable deep encoder (TRIBE v2), and quantify its conditioning, uniqueness and stability under exact ground truth.</a:t>
            </a:r>
            <a:endParaRPr lang="en-US" sz="1700" dirty="0"/>
          </a:p>
        </p:txBody>
      </p:sp>
      <p:sp>
        <p:nvSpPr>
          <p:cNvPr id="5" name="Shape 3"/>
          <p:cNvSpPr/>
          <p:nvPr/>
        </p:nvSpPr>
        <p:spPr>
          <a:xfrm>
            <a:off x="640080" y="2377440"/>
            <a:ext cx="475488" cy="475488"/>
          </a:xfrm>
          <a:prstGeom prst="ellipse">
            <a:avLst/>
          </a:prstGeom>
          <a:solidFill>
            <a:srgbClr val="13243B"/>
          </a:solidFill>
          <a:ln w="12700">
            <a:solidFill>
              <a:srgbClr val="13243B"/>
            </a:solidFill>
            <a:prstDash val="solid"/>
          </a:ln>
        </p:spPr>
      </p:sp>
      <p:sp>
        <p:nvSpPr>
          <p:cNvPr id="6" name="Text 4"/>
          <p:cNvSpPr txBox="1"/>
          <p:nvPr/>
        </p:nvSpPr>
        <p:spPr>
          <a:xfrm>
            <a:off x="640080" y="237744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O1</a:t>
            </a:r>
            <a:endParaRPr lang="en-US" sz="1300" dirty="0"/>
          </a:p>
        </p:txBody>
      </p:sp>
      <p:sp>
        <p:nvSpPr>
          <p:cNvPr id="7" name="Text 5"/>
          <p:cNvSpPr txBox="1"/>
          <p:nvPr/>
        </p:nvSpPr>
        <p:spPr>
          <a:xfrm>
            <a:off x="1280160" y="2395728"/>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Formulate decoding as inversion and locate the point where the encoder becomes differentiable</a:t>
            </a:r>
            <a:endParaRPr lang="en-US" sz="1500" dirty="0"/>
          </a:p>
        </p:txBody>
      </p:sp>
      <p:sp>
        <p:nvSpPr>
          <p:cNvPr id="8" name="Shape 6"/>
          <p:cNvSpPr/>
          <p:nvPr/>
        </p:nvSpPr>
        <p:spPr>
          <a:xfrm>
            <a:off x="9966960" y="2441448"/>
            <a:ext cx="1600200" cy="365760"/>
          </a:xfrm>
          <a:prstGeom prst="roundRect">
            <a:avLst>
              <a:gd name="adj" fmla="val 50000"/>
            </a:avLst>
          </a:prstGeom>
          <a:solidFill>
            <a:srgbClr val="1BAF7A"/>
          </a:solidFill>
          <a:ln w="12700">
            <a:solidFill>
              <a:srgbClr val="1BAF7A"/>
            </a:solidFill>
            <a:prstDash val="solid"/>
          </a:ln>
        </p:spPr>
      </p:sp>
      <p:sp>
        <p:nvSpPr>
          <p:cNvPr id="9" name="Text 7"/>
          <p:cNvSpPr txBox="1"/>
          <p:nvPr/>
        </p:nvSpPr>
        <p:spPr>
          <a:xfrm>
            <a:off x="9966960" y="244144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0" name="Shape 8"/>
          <p:cNvSpPr/>
          <p:nvPr/>
        </p:nvSpPr>
        <p:spPr>
          <a:xfrm>
            <a:off x="640080" y="2999232"/>
            <a:ext cx="475488" cy="475488"/>
          </a:xfrm>
          <a:prstGeom prst="ellipse">
            <a:avLst/>
          </a:prstGeom>
          <a:solidFill>
            <a:srgbClr val="13243B"/>
          </a:solidFill>
          <a:ln w="12700">
            <a:solidFill>
              <a:srgbClr val="13243B"/>
            </a:solidFill>
            <a:prstDash val="solid"/>
          </a:ln>
        </p:spPr>
      </p:sp>
      <p:sp>
        <p:nvSpPr>
          <p:cNvPr id="11" name="Text 9"/>
          <p:cNvSpPr txBox="1"/>
          <p:nvPr/>
        </p:nvSpPr>
        <p:spPr>
          <a:xfrm>
            <a:off x="640080" y="299923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O2</a:t>
            </a:r>
            <a:endParaRPr lang="en-US" sz="1300" dirty="0"/>
          </a:p>
        </p:txBody>
      </p:sp>
      <p:sp>
        <p:nvSpPr>
          <p:cNvPr id="12" name="Text 10"/>
          <p:cNvSpPr txBox="1"/>
          <p:nvPr/>
        </p:nvSpPr>
        <p:spPr>
          <a:xfrm>
            <a:off x="1280160" y="3017520"/>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Build a synthetic framework with exact ground truth for error measurement</a:t>
            </a:r>
            <a:endParaRPr lang="en-US" sz="1500" dirty="0"/>
          </a:p>
        </p:txBody>
      </p:sp>
      <p:sp>
        <p:nvSpPr>
          <p:cNvPr id="13" name="Shape 11"/>
          <p:cNvSpPr/>
          <p:nvPr/>
        </p:nvSpPr>
        <p:spPr>
          <a:xfrm>
            <a:off x="9966960" y="3063240"/>
            <a:ext cx="1600200" cy="365760"/>
          </a:xfrm>
          <a:prstGeom prst="roundRect">
            <a:avLst>
              <a:gd name="adj" fmla="val 50000"/>
            </a:avLst>
          </a:prstGeom>
          <a:solidFill>
            <a:srgbClr val="1BAF7A"/>
          </a:solidFill>
          <a:ln w="12700">
            <a:solidFill>
              <a:srgbClr val="1BAF7A"/>
            </a:solidFill>
            <a:prstDash val="solid"/>
          </a:ln>
        </p:spPr>
      </p:sp>
      <p:sp>
        <p:nvSpPr>
          <p:cNvPr id="14" name="Text 12"/>
          <p:cNvSpPr txBox="1"/>
          <p:nvPr/>
        </p:nvSpPr>
        <p:spPr>
          <a:xfrm>
            <a:off x="9966960" y="3063240"/>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5" name="Shape 13"/>
          <p:cNvSpPr/>
          <p:nvPr/>
        </p:nvSpPr>
        <p:spPr>
          <a:xfrm>
            <a:off x="640080" y="3621024"/>
            <a:ext cx="475488" cy="475488"/>
          </a:xfrm>
          <a:prstGeom prst="ellipse">
            <a:avLst/>
          </a:prstGeom>
          <a:solidFill>
            <a:srgbClr val="13243B"/>
          </a:solidFill>
          <a:ln w="12700">
            <a:solidFill>
              <a:srgbClr val="13243B"/>
            </a:solidFill>
            <a:prstDash val="solid"/>
          </a:ln>
        </p:spPr>
      </p:sp>
      <p:sp>
        <p:nvSpPr>
          <p:cNvPr id="16" name="Text 14"/>
          <p:cNvSpPr txBox="1"/>
          <p:nvPr/>
        </p:nvSpPr>
        <p:spPr>
          <a:xfrm>
            <a:off x="640080" y="362102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O3</a:t>
            </a:r>
            <a:endParaRPr lang="en-US" sz="1300" dirty="0"/>
          </a:p>
        </p:txBody>
      </p:sp>
      <p:sp>
        <p:nvSpPr>
          <p:cNvPr id="17" name="Text 15"/>
          <p:cNvSpPr txBox="1"/>
          <p:nvPr/>
        </p:nvSpPr>
        <p:spPr>
          <a:xfrm>
            <a:off x="1280160" y="3639312"/>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Characterise the inverse vs. budget, noise, cortical extent and priors</a:t>
            </a:r>
            <a:endParaRPr lang="en-US" sz="1500" dirty="0"/>
          </a:p>
        </p:txBody>
      </p:sp>
      <p:sp>
        <p:nvSpPr>
          <p:cNvPr id="18" name="Shape 16"/>
          <p:cNvSpPr/>
          <p:nvPr/>
        </p:nvSpPr>
        <p:spPr>
          <a:xfrm>
            <a:off x="9966960" y="3685032"/>
            <a:ext cx="1600200" cy="365760"/>
          </a:xfrm>
          <a:prstGeom prst="roundRect">
            <a:avLst>
              <a:gd name="adj" fmla="val 50000"/>
            </a:avLst>
          </a:prstGeom>
          <a:solidFill>
            <a:srgbClr val="1BAF7A"/>
          </a:solidFill>
          <a:ln w="12700">
            <a:solidFill>
              <a:srgbClr val="1BAF7A"/>
            </a:solidFill>
            <a:prstDash val="solid"/>
          </a:ln>
        </p:spPr>
      </p:sp>
      <p:sp>
        <p:nvSpPr>
          <p:cNvPr id="19" name="Text 17"/>
          <p:cNvSpPr txBox="1"/>
          <p:nvPr/>
        </p:nvSpPr>
        <p:spPr>
          <a:xfrm>
            <a:off x="9966960" y="3685032"/>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0" name="Shape 18"/>
          <p:cNvSpPr/>
          <p:nvPr/>
        </p:nvSpPr>
        <p:spPr>
          <a:xfrm>
            <a:off x="640080" y="4242816"/>
            <a:ext cx="475488" cy="475488"/>
          </a:xfrm>
          <a:prstGeom prst="ellipse">
            <a:avLst/>
          </a:prstGeom>
          <a:solidFill>
            <a:srgbClr val="13243B"/>
          </a:solidFill>
          <a:ln w="12700">
            <a:solidFill>
              <a:srgbClr val="13243B"/>
            </a:solidFill>
            <a:prstDash val="solid"/>
          </a:ln>
        </p:spPr>
      </p:sp>
      <p:sp>
        <p:nvSpPr>
          <p:cNvPr id="21" name="Text 19"/>
          <p:cNvSpPr txBox="1"/>
          <p:nvPr/>
        </p:nvSpPr>
        <p:spPr>
          <a:xfrm>
            <a:off x="640080" y="424281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O4</a:t>
            </a:r>
            <a:endParaRPr lang="en-US" sz="1300" dirty="0"/>
          </a:p>
        </p:txBody>
      </p:sp>
      <p:sp>
        <p:nvSpPr>
          <p:cNvPr id="22" name="Text 20"/>
          <p:cNvSpPr txBox="1"/>
          <p:nvPr/>
        </p:nvSpPr>
        <p:spPr>
          <a:xfrm>
            <a:off x="1280160" y="4261104"/>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Discriminate non-identifiability vs. non-convexity vs. optimiser limits</a:t>
            </a:r>
            <a:endParaRPr lang="en-US" sz="1500" dirty="0"/>
          </a:p>
        </p:txBody>
      </p:sp>
      <p:sp>
        <p:nvSpPr>
          <p:cNvPr id="23" name="Shape 21"/>
          <p:cNvSpPr/>
          <p:nvPr/>
        </p:nvSpPr>
        <p:spPr>
          <a:xfrm>
            <a:off x="9966960" y="4306824"/>
            <a:ext cx="1600200" cy="365760"/>
          </a:xfrm>
          <a:prstGeom prst="roundRect">
            <a:avLst>
              <a:gd name="adj" fmla="val 50000"/>
            </a:avLst>
          </a:prstGeom>
          <a:solidFill>
            <a:srgbClr val="EDA100"/>
          </a:solidFill>
          <a:ln w="12700">
            <a:solidFill>
              <a:srgbClr val="EDA100"/>
            </a:solidFill>
            <a:prstDash val="solid"/>
          </a:ln>
        </p:spPr>
      </p:sp>
      <p:sp>
        <p:nvSpPr>
          <p:cNvPr id="24" name="Text 22"/>
          <p:cNvSpPr txBox="1"/>
          <p:nvPr/>
        </p:nvSpPr>
        <p:spPr>
          <a:xfrm>
            <a:off x="9966960" y="4306824"/>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25" name="Shape 23"/>
          <p:cNvSpPr/>
          <p:nvPr/>
        </p:nvSpPr>
        <p:spPr>
          <a:xfrm>
            <a:off x="640080" y="4864608"/>
            <a:ext cx="475488" cy="475488"/>
          </a:xfrm>
          <a:prstGeom prst="ellipse">
            <a:avLst/>
          </a:prstGeom>
          <a:solidFill>
            <a:srgbClr val="13243B"/>
          </a:solidFill>
          <a:ln w="12700">
            <a:solidFill>
              <a:srgbClr val="13243B"/>
            </a:solidFill>
            <a:prstDash val="solid"/>
          </a:ln>
        </p:spPr>
      </p:sp>
      <p:sp>
        <p:nvSpPr>
          <p:cNvPr id="26" name="Text 24"/>
          <p:cNvSpPr txBox="1"/>
          <p:nvPr/>
        </p:nvSpPr>
        <p:spPr>
          <a:xfrm>
            <a:off x="640080" y="486460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O5</a:t>
            </a:r>
            <a:endParaRPr lang="en-US" sz="1300" dirty="0"/>
          </a:p>
        </p:txBody>
      </p:sp>
      <p:sp>
        <p:nvSpPr>
          <p:cNvPr id="27" name="Text 25"/>
          <p:cNvSpPr txBox="1"/>
          <p:nvPr/>
        </p:nvSpPr>
        <p:spPr>
          <a:xfrm>
            <a:off x="1280160" y="4882896"/>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Benchmark against a linear decoder; map recoverability by anatomical region</a:t>
            </a:r>
            <a:endParaRPr lang="en-US" sz="1500" dirty="0"/>
          </a:p>
        </p:txBody>
      </p:sp>
      <p:sp>
        <p:nvSpPr>
          <p:cNvPr id="28" name="Shape 26"/>
          <p:cNvSpPr/>
          <p:nvPr/>
        </p:nvSpPr>
        <p:spPr>
          <a:xfrm>
            <a:off x="9966960" y="4928616"/>
            <a:ext cx="1600200" cy="365760"/>
          </a:xfrm>
          <a:prstGeom prst="roundRect">
            <a:avLst>
              <a:gd name="adj" fmla="val 50000"/>
            </a:avLst>
          </a:prstGeom>
          <a:solidFill>
            <a:srgbClr val="EDA100"/>
          </a:solidFill>
          <a:ln w="12700">
            <a:solidFill>
              <a:srgbClr val="EDA100"/>
            </a:solidFill>
            <a:prstDash val="solid"/>
          </a:ln>
        </p:spPr>
      </p:sp>
      <p:sp>
        <p:nvSpPr>
          <p:cNvPr id="29" name="Text 27"/>
          <p:cNvSpPr txBox="1"/>
          <p:nvPr/>
        </p:nvSpPr>
        <p:spPr>
          <a:xfrm>
            <a:off x="9966960" y="4928616"/>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30" name="Shape 28"/>
          <p:cNvSpPr/>
          <p:nvPr/>
        </p:nvSpPr>
        <p:spPr>
          <a:xfrm>
            <a:off x="640080" y="5486400"/>
            <a:ext cx="475488" cy="475488"/>
          </a:xfrm>
          <a:prstGeom prst="ellipse">
            <a:avLst/>
          </a:prstGeom>
          <a:solidFill>
            <a:srgbClr val="13243B"/>
          </a:solidFill>
          <a:ln w="12700">
            <a:solidFill>
              <a:srgbClr val="13243B"/>
            </a:solidFill>
            <a:prstDash val="solid"/>
          </a:ln>
        </p:spPr>
      </p:sp>
      <p:sp>
        <p:nvSpPr>
          <p:cNvPr id="31" name="Text 29"/>
          <p:cNvSpPr txBox="1"/>
          <p:nvPr/>
        </p:nvSpPr>
        <p:spPr>
          <a:xfrm>
            <a:off x="640080" y="54864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O6</a:t>
            </a:r>
            <a:endParaRPr lang="en-US" sz="1300" dirty="0"/>
          </a:p>
        </p:txBody>
      </p:sp>
      <p:sp>
        <p:nvSpPr>
          <p:cNvPr id="32" name="Text 30"/>
          <p:cNvSpPr txBox="1"/>
          <p:nvPr/>
        </p:nvSpPr>
        <p:spPr>
          <a:xfrm>
            <a:off x="1280160" y="5504688"/>
            <a:ext cx="850392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Validate on real naturalistic fMRI (LeBel 2023)</a:t>
            </a:r>
            <a:endParaRPr lang="en-US" sz="1500" dirty="0"/>
          </a:p>
        </p:txBody>
      </p:sp>
      <p:sp>
        <p:nvSpPr>
          <p:cNvPr id="33" name="Shape 31"/>
          <p:cNvSpPr/>
          <p:nvPr/>
        </p:nvSpPr>
        <p:spPr>
          <a:xfrm>
            <a:off x="9966960" y="5550408"/>
            <a:ext cx="1600200" cy="365760"/>
          </a:xfrm>
          <a:prstGeom prst="roundRect">
            <a:avLst>
              <a:gd name="adj" fmla="val 50000"/>
            </a:avLst>
          </a:prstGeom>
          <a:solidFill>
            <a:srgbClr val="8A8984"/>
          </a:solidFill>
          <a:ln w="12700">
            <a:solidFill>
              <a:srgbClr val="8A8984"/>
            </a:solidFill>
            <a:prstDash val="solid"/>
          </a:ln>
        </p:spPr>
      </p:sp>
      <p:sp>
        <p:nvSpPr>
          <p:cNvPr id="34" name="Text 32"/>
          <p:cNvSpPr txBox="1"/>
          <p:nvPr/>
        </p:nvSpPr>
        <p:spPr>
          <a:xfrm>
            <a:off x="9966960" y="555040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Planned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is new in this work: four claims</a:t>
            </a:r>
            <a:endParaRPr lang="en-US" sz="3000" dirty="0"/>
          </a:p>
        </p:txBody>
      </p:sp>
      <p:sp>
        <p:nvSpPr>
          <p:cNvPr id="3" name="card"/>
          <p:cNvSpPr/>
          <p:nvPr/>
        </p:nvSpPr>
        <p:spPr>
          <a:xfrm>
            <a:off x="548640" y="1325880"/>
            <a:ext cx="5394960" cy="2240280"/>
          </a:xfrm>
          <a:prstGeom prst="roundRect">
            <a:avLst>
              <a:gd name="adj" fmla="val 3265"/>
            </a:avLst>
          </a:prstGeom>
          <a:solidFill>
            <a:srgbClr val="EEF3F9"/>
          </a:solidFill>
          <a:ln w="12700">
            <a:solidFill>
              <a:srgbClr val="EEF3F9"/>
            </a:solidFill>
            <a:prstDash val="solid"/>
          </a:ln>
        </p:spPr>
      </p:sp>
      <p:sp>
        <p:nvSpPr>
          <p:cNvPr id="4" name="Shape 2"/>
          <p:cNvSpPr/>
          <p:nvPr/>
        </p:nvSpPr>
        <p:spPr>
          <a:xfrm>
            <a:off x="822960" y="1600200"/>
            <a:ext cx="685800" cy="68580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987552" y="1764792"/>
            <a:ext cx="356616" cy="356616"/>
          </a:xfrm>
          <a:prstGeom prst="rect">
            <a:avLst/>
          </a:prstGeom>
        </p:spPr>
      </p:pic>
      <p:sp>
        <p:nvSpPr>
          <p:cNvPr id="6" name="Text 3"/>
          <p:cNvSpPr txBox="1"/>
          <p:nvPr/>
        </p:nvSpPr>
        <p:spPr>
          <a:xfrm>
            <a:off x="1691640" y="1554480"/>
            <a:ext cx="4023360" cy="777240"/>
          </a:xfrm>
          <a:prstGeom prst="rect">
            <a:avLst/>
          </a:prstGeom>
          <a:noFill/>
          <a:ln/>
        </p:spPr>
        <p:txBody>
          <a:bodyPr wrap="square" lIns="0" tIns="0" rIns="0" bIns="0" rtlCol="0" anchor="ctr"/>
          <a:lstStyle/>
          <a:p>
            <a:pPr indent="0" marL="0">
              <a:buNone/>
            </a:pPr>
            <a:r>
              <a:rPr lang="en-US" sz="1700" b="1" dirty="0">
                <a:solidFill>
                  <a:srgbClr val="13243B"/>
                </a:solidFill>
                <a:latin typeface="Calibri" pitchFamily="34" charset="0"/>
                <a:ea typeface="Calibri" pitchFamily="34" charset="-122"/>
                <a:cs typeface="Calibri" pitchFamily="34" charset="-120"/>
              </a:rPr>
              <a:t>First inverse analysis of a foundation brain encoder</a:t>
            </a:r>
            <a:endParaRPr lang="en-US" sz="1700" dirty="0"/>
          </a:p>
        </p:txBody>
      </p:sp>
      <p:sp>
        <p:nvSpPr>
          <p:cNvPr id="7" name="Text 4"/>
          <p:cNvSpPr txBox="1"/>
          <p:nvPr/>
        </p:nvSpPr>
        <p:spPr>
          <a:xfrm>
            <a:off x="822960" y="2377440"/>
            <a:ext cx="4892040" cy="109728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TRIBE v2 [13] was released for in-silico neuroscience. We treat it as a forward operator and study its inverse; its authors and both 2026 follow-ups [17, 18] did not (proof on the next two slides).</a:t>
            </a:r>
            <a:endParaRPr lang="en-US" sz="1400" dirty="0"/>
          </a:p>
        </p:txBody>
      </p:sp>
      <p:sp>
        <p:nvSpPr>
          <p:cNvPr id="8" name="card"/>
          <p:cNvSpPr/>
          <p:nvPr/>
        </p:nvSpPr>
        <p:spPr>
          <a:xfrm>
            <a:off x="6172200" y="1325880"/>
            <a:ext cx="5394960" cy="2240280"/>
          </a:xfrm>
          <a:prstGeom prst="roundRect">
            <a:avLst>
              <a:gd name="adj" fmla="val 3265"/>
            </a:avLst>
          </a:prstGeom>
          <a:solidFill>
            <a:srgbClr val="EEF3F9"/>
          </a:solidFill>
          <a:ln w="12700">
            <a:solidFill>
              <a:srgbClr val="EEF3F9"/>
            </a:solidFill>
            <a:prstDash val="solid"/>
          </a:ln>
        </p:spPr>
      </p:sp>
      <p:sp>
        <p:nvSpPr>
          <p:cNvPr id="9" name="Shape 6"/>
          <p:cNvSpPr/>
          <p:nvPr/>
        </p:nvSpPr>
        <p:spPr>
          <a:xfrm>
            <a:off x="6446520" y="1600200"/>
            <a:ext cx="685800" cy="685800"/>
          </a:xfrm>
          <a:prstGeom prst="ellipse">
            <a:avLst/>
          </a:prstGeom>
          <a:solidFill>
            <a:srgbClr val="EB6834"/>
          </a:solidFill>
          <a:ln w="12700">
            <a:solidFill>
              <a:srgbClr val="EB6834"/>
            </a:solidFill>
            <a:prstDash val="solid"/>
          </a:ln>
        </p:spPr>
      </p:sp>
      <p:pic>
        <p:nvPicPr>
          <p:cNvPr id="10" name="Image 1" descr="preencoded.png">    </p:cNvPr>
          <p:cNvPicPr>
            <a:picLocks noChangeAspect="1"/>
          </p:cNvPicPr>
          <p:nvPr/>
        </p:nvPicPr>
        <p:blipFill>
          <a:blip r:embed="rId2"/>
          <a:stretch>
            <a:fillRect/>
          </a:stretch>
        </p:blipFill>
        <p:spPr>
          <a:xfrm>
            <a:off x="6611112" y="1764792"/>
            <a:ext cx="356616" cy="356616"/>
          </a:xfrm>
          <a:prstGeom prst="rect">
            <a:avLst/>
          </a:prstGeom>
        </p:spPr>
      </p:pic>
      <p:sp>
        <p:nvSpPr>
          <p:cNvPr id="11" name="Text 7"/>
          <p:cNvSpPr txBox="1"/>
          <p:nvPr/>
        </p:nvSpPr>
        <p:spPr>
          <a:xfrm>
            <a:off x="7315200" y="1554480"/>
            <a:ext cx="4023360" cy="777240"/>
          </a:xfrm>
          <a:prstGeom prst="rect">
            <a:avLst/>
          </a:prstGeom>
          <a:noFill/>
          <a:ln/>
        </p:spPr>
        <p:txBody>
          <a:bodyPr wrap="square" lIns="0" tIns="0" rIns="0" bIns="0" rtlCol="0" anchor="ctr"/>
          <a:lstStyle/>
          <a:p>
            <a:pPr indent="0" marL="0">
              <a:buNone/>
            </a:pPr>
            <a:r>
              <a:rPr lang="en-US" sz="1700" b="1" dirty="0">
                <a:solidFill>
                  <a:srgbClr val="13243B"/>
                </a:solidFill>
                <a:latin typeface="Calibri" pitchFamily="34" charset="0"/>
                <a:ea typeface="Calibri" pitchFamily="34" charset="-122"/>
                <a:cs typeface="Calibri" pitchFamily="34" charset="-120"/>
              </a:rPr>
              <a:t>Exact evaluation, not proxy metrics</a:t>
            </a:r>
            <a:endParaRPr lang="en-US" sz="1700" dirty="0"/>
          </a:p>
        </p:txBody>
      </p:sp>
      <p:sp>
        <p:nvSpPr>
          <p:cNvPr id="12" name="Text 8"/>
          <p:cNvSpPr txBox="1"/>
          <p:nvPr/>
        </p:nvSpPr>
        <p:spPr>
          <a:xfrm>
            <a:off x="6446520" y="2377440"/>
            <a:ext cx="4892040" cy="109728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Synthetic ground truth lets us measure recovery error exactly. Real-data decoders can only score proxies such as retrieval rank.</a:t>
            </a:r>
            <a:endParaRPr lang="en-US" sz="1400" dirty="0"/>
          </a:p>
        </p:txBody>
      </p:sp>
      <p:sp>
        <p:nvSpPr>
          <p:cNvPr id="13" name="card"/>
          <p:cNvSpPr/>
          <p:nvPr/>
        </p:nvSpPr>
        <p:spPr>
          <a:xfrm>
            <a:off x="548640" y="3794760"/>
            <a:ext cx="5394960" cy="2240280"/>
          </a:xfrm>
          <a:prstGeom prst="roundRect">
            <a:avLst>
              <a:gd name="adj" fmla="val 3265"/>
            </a:avLst>
          </a:prstGeom>
          <a:solidFill>
            <a:srgbClr val="EEF3F9"/>
          </a:solidFill>
          <a:ln w="12700">
            <a:solidFill>
              <a:srgbClr val="EEF3F9"/>
            </a:solidFill>
            <a:prstDash val="solid"/>
          </a:ln>
        </p:spPr>
      </p:sp>
      <p:sp>
        <p:nvSpPr>
          <p:cNvPr id="14" name="Shape 10"/>
          <p:cNvSpPr/>
          <p:nvPr/>
        </p:nvSpPr>
        <p:spPr>
          <a:xfrm>
            <a:off x="822960" y="4069080"/>
            <a:ext cx="685800" cy="685800"/>
          </a:xfrm>
          <a:prstGeom prst="ellipse">
            <a:avLst/>
          </a:prstGeom>
          <a:solidFill>
            <a:srgbClr val="1BAF7A"/>
          </a:solidFill>
          <a:ln w="12700">
            <a:solidFill>
              <a:srgbClr val="1BAF7A"/>
            </a:solidFill>
            <a:prstDash val="solid"/>
          </a:ln>
        </p:spPr>
      </p:sp>
      <p:pic>
        <p:nvPicPr>
          <p:cNvPr id="15" name="Image 2" descr="preencoded.png">    </p:cNvPr>
          <p:cNvPicPr>
            <a:picLocks noChangeAspect="1"/>
          </p:cNvPicPr>
          <p:nvPr/>
        </p:nvPicPr>
        <p:blipFill>
          <a:blip r:embed="rId3"/>
          <a:stretch>
            <a:fillRect/>
          </a:stretch>
        </p:blipFill>
        <p:spPr>
          <a:xfrm>
            <a:off x="987552" y="4233672"/>
            <a:ext cx="356616" cy="356616"/>
          </a:xfrm>
          <a:prstGeom prst="rect">
            <a:avLst/>
          </a:prstGeom>
        </p:spPr>
      </p:pic>
      <p:sp>
        <p:nvSpPr>
          <p:cNvPr id="16" name="Text 11"/>
          <p:cNvSpPr txBox="1"/>
          <p:nvPr/>
        </p:nvSpPr>
        <p:spPr>
          <a:xfrm>
            <a:off x="1691640" y="4023360"/>
            <a:ext cx="4023360" cy="777240"/>
          </a:xfrm>
          <a:prstGeom prst="rect">
            <a:avLst/>
          </a:prstGeom>
          <a:noFill/>
          <a:ln/>
        </p:spPr>
        <p:txBody>
          <a:bodyPr wrap="square" lIns="0" tIns="0" rIns="0" bIns="0" rtlCol="0" anchor="ctr"/>
          <a:lstStyle/>
          <a:p>
            <a:pPr indent="0" marL="0">
              <a:buNone/>
            </a:pPr>
            <a:r>
              <a:rPr lang="en-US" sz="1700" b="1" dirty="0">
                <a:solidFill>
                  <a:srgbClr val="13243B"/>
                </a:solidFill>
                <a:latin typeface="Calibri" pitchFamily="34" charset="0"/>
                <a:ea typeface="Calibri" pitchFamily="34" charset="-122"/>
                <a:cs typeface="Calibri" pitchFamily="34" charset="-120"/>
              </a:rPr>
              <a:t>A differentiable entry point into a closed pipeline</a:t>
            </a:r>
            <a:endParaRPr lang="en-US" sz="1700" dirty="0"/>
          </a:p>
        </p:txBody>
      </p:sp>
      <p:sp>
        <p:nvSpPr>
          <p:cNvPr id="17" name="Text 12"/>
          <p:cNvSpPr txBox="1"/>
          <p:nvPr/>
        </p:nvSpPr>
        <p:spPr>
          <a:xfrm>
            <a:off x="822960" y="4846320"/>
            <a:ext cx="4892040" cy="109728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The public pipeline (TTS → Whisper → LLaMA) is not differentiable. We identified the aggregate_features boundary and re-entered the network there.</a:t>
            </a:r>
            <a:endParaRPr lang="en-US" sz="1400" dirty="0"/>
          </a:p>
        </p:txBody>
      </p:sp>
      <p:sp>
        <p:nvSpPr>
          <p:cNvPr id="18" name="card"/>
          <p:cNvSpPr/>
          <p:nvPr/>
        </p:nvSpPr>
        <p:spPr>
          <a:xfrm>
            <a:off x="6172200" y="3794760"/>
            <a:ext cx="5394960" cy="2240280"/>
          </a:xfrm>
          <a:prstGeom prst="roundRect">
            <a:avLst>
              <a:gd name="adj" fmla="val 3265"/>
            </a:avLst>
          </a:prstGeom>
          <a:solidFill>
            <a:srgbClr val="EEF3F9"/>
          </a:solidFill>
          <a:ln w="12700">
            <a:solidFill>
              <a:srgbClr val="EEF3F9"/>
            </a:solidFill>
            <a:prstDash val="solid"/>
          </a:ln>
        </p:spPr>
      </p:sp>
      <p:sp>
        <p:nvSpPr>
          <p:cNvPr id="19" name="Shape 14"/>
          <p:cNvSpPr/>
          <p:nvPr/>
        </p:nvSpPr>
        <p:spPr>
          <a:xfrm>
            <a:off x="6446520" y="4069080"/>
            <a:ext cx="685800" cy="685800"/>
          </a:xfrm>
          <a:prstGeom prst="ellipse">
            <a:avLst/>
          </a:prstGeom>
          <a:solidFill>
            <a:srgbClr val="4A3AA7"/>
          </a:solidFill>
          <a:ln w="12700">
            <a:solidFill>
              <a:srgbClr val="4A3AA7"/>
            </a:solidFill>
            <a:prstDash val="solid"/>
          </a:ln>
        </p:spPr>
      </p:sp>
      <p:pic>
        <p:nvPicPr>
          <p:cNvPr id="20" name="Image 3" descr="preencoded.png">    </p:cNvPr>
          <p:cNvPicPr>
            <a:picLocks noChangeAspect="1"/>
          </p:cNvPicPr>
          <p:nvPr/>
        </p:nvPicPr>
        <p:blipFill>
          <a:blip r:embed="rId4"/>
          <a:stretch>
            <a:fillRect/>
          </a:stretch>
        </p:blipFill>
        <p:spPr>
          <a:xfrm>
            <a:off x="6611112" y="4233672"/>
            <a:ext cx="356616" cy="356616"/>
          </a:xfrm>
          <a:prstGeom prst="rect">
            <a:avLst/>
          </a:prstGeom>
        </p:spPr>
      </p:pic>
      <p:sp>
        <p:nvSpPr>
          <p:cNvPr id="21" name="Text 15"/>
          <p:cNvSpPr txBox="1"/>
          <p:nvPr/>
        </p:nvSpPr>
        <p:spPr>
          <a:xfrm>
            <a:off x="7315200" y="4023360"/>
            <a:ext cx="4023360" cy="777240"/>
          </a:xfrm>
          <a:prstGeom prst="rect">
            <a:avLst/>
          </a:prstGeom>
          <a:noFill/>
          <a:ln/>
        </p:spPr>
        <p:txBody>
          <a:bodyPr wrap="square" lIns="0" tIns="0" rIns="0" bIns="0" rtlCol="0" anchor="ctr"/>
          <a:lstStyle/>
          <a:p>
            <a:pPr indent="0" marL="0">
              <a:buNone/>
            </a:pPr>
            <a:r>
              <a:rPr lang="en-US" sz="1700" b="1" dirty="0">
                <a:solidFill>
                  <a:srgbClr val="13243B"/>
                </a:solidFill>
                <a:latin typeface="Calibri" pitchFamily="34" charset="0"/>
                <a:ea typeface="Calibri" pitchFamily="34" charset="-122"/>
                <a:cs typeface="Calibri" pitchFamily="34" charset="-120"/>
              </a:rPr>
              <a:t>Decoder-independent limits</a:t>
            </a:r>
            <a:endParaRPr lang="en-US" sz="1700" dirty="0"/>
          </a:p>
        </p:txBody>
      </p:sp>
      <p:sp>
        <p:nvSpPr>
          <p:cNvPr id="22" name="Text 16"/>
          <p:cNvSpPr txBox="1"/>
          <p:nvPr/>
        </p:nvSpPr>
        <p:spPr>
          <a:xfrm>
            <a:off x="6446520" y="4846320"/>
            <a:ext cx="4892040" cy="109728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Results describe the measurement, not one decoder's architecture, so they bound what any decoder built on this encoder can achieve.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 prior-art comparison</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931920"/>
                <a:gridCol w="1828800"/>
                <a:gridCol w="1828800"/>
                <a:gridCol w="1828800"/>
                <a:gridCol w="1828800"/>
              </a:tblGrid>
              <a:tr h="45720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Closest prior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Nonlinear deep encoder</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Optimises encoder input</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Tests uniqueness / conditioning</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Region-wise recoverability</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Kay et al., Nature 2008 [2]</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Gardner &amp; Liu, eNeuro 2019 [16]</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Tang et al., Nat. Neurosci. 2023 [6]</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d'Ascoli et al., TRIBE v2, 2026 [13]</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Bladon &amp; Bent, arXiv May 2026 [17]</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Benchetrit et al., arXiv Jun 2026 [18]</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b="1" dirty="0">
                          <a:solidFill>
                            <a:srgbClr val="0B0B0B"/>
                          </a:solidFill>
                          <a:latin typeface="Calibri" pitchFamily="34" charset="0"/>
                          <a:ea typeface="Calibri" pitchFamily="34" charset="-122"/>
                          <a:cs typeface="Calibri" pitchFamily="34" charset="-120"/>
                        </a:rPr>
                        <a:t>This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r>
            </a:tbl>
          </a:graphicData>
        </a:graphic>
      </p:graphicFrame>
      <p:sp>
        <p:nvSpPr>
          <p:cNvPr id="4" name="card"/>
          <p:cNvSpPr/>
          <p:nvPr/>
        </p:nvSpPr>
        <p:spPr>
          <a:xfrm>
            <a:off x="457200" y="4937760"/>
            <a:ext cx="11247120" cy="1325880"/>
          </a:xfrm>
          <a:prstGeom prst="roundRect">
            <a:avLst>
              <a:gd name="adj" fmla="val 5517"/>
            </a:avLst>
          </a:prstGeom>
          <a:solidFill>
            <a:srgbClr val="13243B"/>
          </a:solidFill>
          <a:ln w="12700">
            <a:solidFill>
              <a:srgbClr val="13243B"/>
            </a:solidFill>
            <a:prstDash val="solid"/>
          </a:ln>
        </p:spPr>
      </p:sp>
      <p:sp>
        <p:nvSpPr>
          <p:cNvPr id="5" name="Text 2"/>
          <p:cNvSpPr txBox="1"/>
          <p:nvPr/>
        </p:nvSpPr>
        <p:spPr>
          <a:xfrm>
            <a:off x="685800" y="5029200"/>
            <a:ext cx="10789920" cy="1143000"/>
          </a:xfrm>
          <a:prstGeom prst="rect">
            <a:avLst/>
          </a:prstGeom>
          <a:noFill/>
          <a:ln/>
        </p:spPr>
        <p:txBody>
          <a:bodyPr wrap="square" lIns="0" tIns="0" rIns="0" bIns="0" rtlCol="0" anchor="ctr"/>
          <a:lstStyle/>
          <a:p>
            <a:pPr indent="0" marL="0">
              <a:buNone/>
            </a:pPr>
            <a:r>
              <a:rPr lang="en-US" sz="1500" b="1" dirty="0">
                <a:solidFill>
                  <a:srgbClr val="FFC9A8"/>
                </a:solidFill>
                <a:latin typeface="Calibri" pitchFamily="34" charset="0"/>
                <a:ea typeface="Calibri" pitchFamily="34" charset="-122"/>
                <a:cs typeface="Calibri" pitchFamily="34" charset="-120"/>
              </a:rPr>
              <a:t>Only this work fills all four columns.  </a:t>
            </a:r>
            <a:pPr indent="0" marL="0">
              <a:buNone/>
            </a:pPr>
            <a:r>
              <a:rPr lang="en-US" sz="1500" dirty="0">
                <a:solidFill>
                  <a:srgbClr val="FFFFFF"/>
                </a:solidFill>
                <a:latin typeface="Calibri" pitchFamily="34" charset="0"/>
                <a:ea typeface="Calibri" pitchFamily="34" charset="-122"/>
                <a:cs typeface="Calibri" pitchFamily="34" charset="-120"/>
              </a:rPr>
              <a:t>The closest result, Gardner &amp; Liu [16], proves that a linear inverted encoding model recovers the stimulus only up to an invertible linear transform. We ask the same question of a 177 M-parameter nonlinear encoder, where no closed-form answer exists, and answer it empirically with exact ground truth.</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II: search protocol and the closest TRIBE v2 work</a:t>
            </a:r>
            <a:endParaRPr lang="en-US" sz="3000" dirty="0"/>
          </a:p>
        </p:txBody>
      </p:sp>
      <p:sp>
        <p:nvSpPr>
          <p:cNvPr id="3" name="card"/>
          <p:cNvSpPr/>
          <p:nvPr/>
        </p:nvSpPr>
        <p:spPr>
          <a:xfrm>
            <a:off x="457200" y="1234440"/>
            <a:ext cx="512064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685800" y="1371600"/>
            <a:ext cx="46634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Search protocol</a:t>
            </a:r>
            <a:endParaRPr lang="en-US" sz="1900" dirty="0"/>
          </a:p>
        </p:txBody>
      </p:sp>
      <p:sp>
        <p:nvSpPr>
          <p:cNvPr id="5" name="Text 3"/>
          <p:cNvSpPr txBox="1"/>
          <p:nvPr/>
        </p:nvSpPr>
        <p:spPr>
          <a:xfrm>
            <a:off x="685800" y="1874520"/>
            <a:ext cx="4709160" cy="4206240"/>
          </a:xfrm>
          <a:prstGeom prst="rect">
            <a:avLst/>
          </a:prstGeom>
          <a:noFill/>
          <a:ln/>
        </p:spPr>
        <p:txBody>
          <a:bodyPr wrap="square" lIns="0" tIns="0" rIns="0" bIns="0" rtlCol="0" anchor="t"/>
          <a:lstStyle/>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Date: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9 October 2026</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Sources: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arXiv, Google Scholar, general web</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Queries: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"TRIBE v2"; invert / inversion / identifiability / conditioning / non-convex + "brain encoding model" / "fMRI encoder"</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Inclusion: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any work that inverts, optimises the input of, or analyses the identifiability of a brain encoding model</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Result: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two TRIBE v2 follow-ups (right). Neither tests whether the inverse is unique or how it is conditioned.</a:t>
            </a:r>
            <a:endParaRPr lang="en-US" sz="1450" dirty="0"/>
          </a:p>
        </p:txBody>
      </p:sp>
      <p:sp>
        <p:nvSpPr>
          <p:cNvPr id="6" name="card"/>
          <p:cNvSpPr/>
          <p:nvPr/>
        </p:nvSpPr>
        <p:spPr>
          <a:xfrm>
            <a:off x="5806440" y="1234440"/>
            <a:ext cx="5897880" cy="2377440"/>
          </a:xfrm>
          <a:prstGeom prst="roundRect">
            <a:avLst>
              <a:gd name="adj" fmla="val 3077"/>
            </a:avLst>
          </a:prstGeom>
          <a:solidFill>
            <a:srgbClr val="DCE9FA"/>
          </a:solidFill>
          <a:ln w="12700">
            <a:solidFill>
              <a:srgbClr val="DCE9FA"/>
            </a:solidFill>
            <a:prstDash val="solid"/>
          </a:ln>
        </p:spPr>
      </p:sp>
      <p:sp>
        <p:nvSpPr>
          <p:cNvPr id="7" name="Text 5"/>
          <p:cNvSpPr txBox="1"/>
          <p:nvPr/>
        </p:nvSpPr>
        <p:spPr>
          <a:xfrm>
            <a:off x="6035040" y="134416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Bladon &amp; Bent, May 2026 [17]</a:t>
            </a:r>
            <a:endParaRPr lang="en-US" sz="1600" dirty="0"/>
          </a:p>
        </p:txBody>
      </p:sp>
      <p:sp>
        <p:nvSpPr>
          <p:cNvPr id="8" name="Text 6"/>
          <p:cNvSpPr txBox="1"/>
          <p:nvPr/>
        </p:nvSpPr>
        <p:spPr>
          <a:xfrm>
            <a:off x="6035040" y="178308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Feature visualisation: optimises inputs to maximise a region's predicted response and recovers known cortical selectivity.</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Asks what a region prefers. Does not ask whether the input can be recovered, or whether the answer is unique.</a:t>
            </a:r>
            <a:endParaRPr lang="en-US" sz="1450" dirty="0"/>
          </a:p>
        </p:txBody>
      </p:sp>
      <p:sp>
        <p:nvSpPr>
          <p:cNvPr id="9" name="card"/>
          <p:cNvSpPr/>
          <p:nvPr/>
        </p:nvSpPr>
        <p:spPr>
          <a:xfrm>
            <a:off x="5806440" y="3794760"/>
            <a:ext cx="5897880" cy="2377440"/>
          </a:xfrm>
          <a:prstGeom prst="roundRect">
            <a:avLst>
              <a:gd name="adj" fmla="val 3077"/>
            </a:avLst>
          </a:prstGeom>
          <a:solidFill>
            <a:srgbClr val="F6F8FB"/>
          </a:solidFill>
          <a:ln w="12700">
            <a:solidFill>
              <a:srgbClr val="F6F8FB"/>
            </a:solidFill>
            <a:prstDash val="solid"/>
          </a:ln>
        </p:spPr>
      </p:sp>
      <p:sp>
        <p:nvSpPr>
          <p:cNvPr id="10" name="Text 8"/>
          <p:cNvSpPr txBox="1"/>
          <p:nvPr/>
        </p:nvSpPr>
        <p:spPr>
          <a:xfrm>
            <a:off x="6035040" y="390448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Benchetrit et al., June 2026 [18]</a:t>
            </a:r>
            <a:endParaRPr lang="en-US" sz="1600" dirty="0"/>
          </a:p>
        </p:txBody>
      </p:sp>
      <p:sp>
        <p:nvSpPr>
          <p:cNvPr id="11" name="Text 9"/>
          <p:cNvSpPr txBox="1"/>
          <p:nvPr/>
        </p:nvSpPr>
        <p:spPr>
          <a:xfrm>
            <a:off x="6035040" y="434340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Uses TRIBE v2 forwards to synthesise fMRI that augments training of a brain-to-image decoder.</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The encoder is only run forwards; its inverse is never analysed.</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Novel contributions, each with its evidence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457200"/>
                <a:gridCol w="4206240"/>
                <a:gridCol w="5303520"/>
                <a:gridCol w="1280160"/>
              </a:tblGrid>
              <a:tr h="71323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First inverse (uniqueness and conditioning) analysis of a deep foundation brain encoder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Prior-art matrix and dated search protocol (previous two slides)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 differentiable re-entry point into the closed TRIBE v2 pipeline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Gradient reaches every entry of x at the aggregate_features boundary: ‖∂y/∂x‖ = 7.97 × 10³</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Exact, decoder-independent measurement of decodability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Synthetic ground truth: recovery measured as cosine to the true x, not a proxy rank</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accuracy and decodability dissociate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error falls 28.4×; final halving buys +0.015 recovery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Cause of incomplete recovery: non-convexity, not information loss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Fit-matched solutions differ (min cosine 0.817); barrier test 2.6× → 0.6×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EDA100"/>
                          </a:solidFill>
                          <a:latin typeface="Calibri" pitchFamily="34" charset="0"/>
                          <a:ea typeface="Calibri" pitchFamily="34" charset="-122"/>
                          <a:cs typeface="Calibri" pitchFamily="34" charset="-120"/>
                        </a:rPr>
                        <a:t>Shown (early)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Alignment with specific SDG targets</a:t>
            </a:r>
            <a:endParaRPr lang="en-US" sz="3000" dirty="0"/>
          </a:p>
        </p:txBody>
      </p:sp>
      <p:sp>
        <p:nvSpPr>
          <p:cNvPr id="3" name="Shape 1"/>
          <p:cNvSpPr/>
          <p:nvPr/>
        </p:nvSpPr>
        <p:spPr>
          <a:xfrm>
            <a:off x="640080" y="1417320"/>
            <a:ext cx="868680" cy="868680"/>
          </a:xfrm>
          <a:prstGeom prst="ellipse">
            <a:avLst/>
          </a:prstGeom>
          <a:solidFill>
            <a:srgbClr val="C5192D"/>
          </a:solidFill>
          <a:ln w="12700">
            <a:solidFill>
              <a:srgbClr val="C5192D"/>
            </a:solidFill>
            <a:prstDash val="solid"/>
          </a:ln>
        </p:spPr>
      </p:sp>
      <p:pic>
        <p:nvPicPr>
          <p:cNvPr id="4" name="Image 0" descr="preencoded.png">    </p:cNvPr>
          <p:cNvPicPr>
            <a:picLocks noChangeAspect="1"/>
          </p:cNvPicPr>
          <p:nvPr/>
        </p:nvPicPr>
        <p:blipFill>
          <a:blip r:embed="rId1"/>
          <a:stretch>
            <a:fillRect/>
          </a:stretch>
        </p:blipFill>
        <p:spPr>
          <a:xfrm>
            <a:off x="848563" y="1625803"/>
            <a:ext cx="451714" cy="451714"/>
          </a:xfrm>
          <a:prstGeom prst="rect">
            <a:avLst/>
          </a:prstGeom>
        </p:spPr>
      </p:pic>
      <p:sp>
        <p:nvSpPr>
          <p:cNvPr id="5" name="Text 2"/>
          <p:cNvSpPr txBox="1"/>
          <p:nvPr/>
        </p:nvSpPr>
        <p:spPr>
          <a:xfrm>
            <a:off x="1783080" y="1280160"/>
            <a:ext cx="96926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SDG 3 · Target 3.4</a:t>
            </a:r>
            <a:endParaRPr lang="en-US" sz="1900" dirty="0"/>
          </a:p>
        </p:txBody>
      </p:sp>
      <p:sp>
        <p:nvSpPr>
          <p:cNvPr id="6" name="Text 3"/>
          <p:cNvSpPr txBox="1"/>
          <p:nvPr/>
        </p:nvSpPr>
        <p:spPr>
          <a:xfrm>
            <a:off x="1783080" y="1737360"/>
            <a:ext cx="9692640" cy="1051560"/>
          </a:xfrm>
          <a:prstGeom prst="rect">
            <a:avLst/>
          </a:prstGeom>
          <a:noFill/>
          <a:ln/>
        </p:spPr>
        <p:txBody>
          <a:bodyPr wrap="square" lIns="0" tIns="0" rIns="0" bIns="0" rtlCol="0" anchor="t"/>
          <a:lstStyle/>
          <a:p>
            <a:pPr indent="0" marL="0">
              <a:buNone/>
            </a:pPr>
            <a:r>
              <a:rPr lang="en-US" sz="1450" dirty="0">
                <a:solidFill>
                  <a:srgbClr val="0B0B0B"/>
                </a:solidFill>
                <a:latin typeface="Calibri" pitchFamily="34" charset="0"/>
                <a:ea typeface="Calibri" pitchFamily="34" charset="-122"/>
                <a:cs typeface="Calibri" pitchFamily="34" charset="-120"/>
              </a:rPr>
              <a:t>“…promote mental health and well-being.” Restoring communication to cognitively intact, motor-impaired patients (ALS, stroke, locked-in) addresses well-being directly; limits we measure tell clinicians what non-invasive decoding can and cannot deliver.</a:t>
            </a:r>
            <a:endParaRPr lang="en-US" sz="1450" dirty="0"/>
          </a:p>
        </p:txBody>
      </p:sp>
      <p:sp>
        <p:nvSpPr>
          <p:cNvPr id="7" name="Shape 4"/>
          <p:cNvSpPr/>
          <p:nvPr/>
        </p:nvSpPr>
        <p:spPr>
          <a:xfrm>
            <a:off x="640080" y="3017520"/>
            <a:ext cx="868680" cy="868680"/>
          </a:xfrm>
          <a:prstGeom prst="ellipse">
            <a:avLst/>
          </a:prstGeom>
          <a:solidFill>
            <a:srgbClr val="FD6925"/>
          </a:solidFill>
          <a:ln w="12700">
            <a:solidFill>
              <a:srgbClr val="FD6925"/>
            </a:solidFill>
            <a:prstDash val="solid"/>
          </a:ln>
        </p:spPr>
      </p:sp>
      <p:pic>
        <p:nvPicPr>
          <p:cNvPr id="8" name="Image 1" descr="preencoded.png">    </p:cNvPr>
          <p:cNvPicPr>
            <a:picLocks noChangeAspect="1"/>
          </p:cNvPicPr>
          <p:nvPr/>
        </p:nvPicPr>
        <p:blipFill>
          <a:blip r:embed="rId2"/>
          <a:stretch>
            <a:fillRect/>
          </a:stretch>
        </p:blipFill>
        <p:spPr>
          <a:xfrm>
            <a:off x="848563" y="3226003"/>
            <a:ext cx="451714" cy="451714"/>
          </a:xfrm>
          <a:prstGeom prst="rect">
            <a:avLst/>
          </a:prstGeom>
        </p:spPr>
      </p:pic>
      <p:sp>
        <p:nvSpPr>
          <p:cNvPr id="9" name="Text 5"/>
          <p:cNvSpPr txBox="1"/>
          <p:nvPr/>
        </p:nvSpPr>
        <p:spPr>
          <a:xfrm>
            <a:off x="1783080" y="2880360"/>
            <a:ext cx="96926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SDG 9 · Target 9.5</a:t>
            </a:r>
            <a:endParaRPr lang="en-US" sz="1900" dirty="0"/>
          </a:p>
        </p:txBody>
      </p:sp>
      <p:sp>
        <p:nvSpPr>
          <p:cNvPr id="10" name="Text 6"/>
          <p:cNvSpPr txBox="1"/>
          <p:nvPr/>
        </p:nvSpPr>
        <p:spPr>
          <a:xfrm>
            <a:off x="1783080" y="3337560"/>
            <a:ext cx="9692640" cy="1051560"/>
          </a:xfrm>
          <a:prstGeom prst="rect">
            <a:avLst/>
          </a:prstGeom>
          <a:noFill/>
          <a:ln/>
        </p:spPr>
        <p:txBody>
          <a:bodyPr wrap="square" lIns="0" tIns="0" rIns="0" bIns="0" rtlCol="0" anchor="t"/>
          <a:lstStyle/>
          <a:p>
            <a:pPr indent="0" marL="0">
              <a:buNone/>
            </a:pPr>
            <a:r>
              <a:rPr lang="en-US" sz="1450" dirty="0">
                <a:solidFill>
                  <a:srgbClr val="0B0B0B"/>
                </a:solidFill>
                <a:latin typeface="Calibri" pitchFamily="34" charset="0"/>
                <a:ea typeface="Calibri" pitchFamily="34" charset="-122"/>
                <a:cs typeface="Calibri" pitchFamily="34" charset="-120"/>
              </a:rPr>
              <a:t>“Enhance scientific research, upgrade the technological capabilities…” Methodological contribution to neural-interface engineering using open models and open data, reproducible on free compute.</a:t>
            </a:r>
            <a:endParaRPr lang="en-US" sz="1450" dirty="0"/>
          </a:p>
        </p:txBody>
      </p:sp>
      <p:sp>
        <p:nvSpPr>
          <p:cNvPr id="11" name="Shape 7"/>
          <p:cNvSpPr/>
          <p:nvPr/>
        </p:nvSpPr>
        <p:spPr>
          <a:xfrm>
            <a:off x="640080" y="4617720"/>
            <a:ext cx="868680" cy="868680"/>
          </a:xfrm>
          <a:prstGeom prst="ellipse">
            <a:avLst/>
          </a:prstGeom>
          <a:solidFill>
            <a:srgbClr val="DD1367"/>
          </a:solidFill>
          <a:ln w="12700">
            <a:solidFill>
              <a:srgbClr val="DD1367"/>
            </a:solidFill>
            <a:prstDash val="solid"/>
          </a:ln>
        </p:spPr>
      </p:sp>
      <p:pic>
        <p:nvPicPr>
          <p:cNvPr id="12" name="Image 2" descr="preencoded.png">    </p:cNvPr>
          <p:cNvPicPr>
            <a:picLocks noChangeAspect="1"/>
          </p:cNvPicPr>
          <p:nvPr/>
        </p:nvPicPr>
        <p:blipFill>
          <a:blip r:embed="rId3"/>
          <a:stretch>
            <a:fillRect/>
          </a:stretch>
        </p:blipFill>
        <p:spPr>
          <a:xfrm>
            <a:off x="848563" y="4826203"/>
            <a:ext cx="451714" cy="451714"/>
          </a:xfrm>
          <a:prstGeom prst="rect">
            <a:avLst/>
          </a:prstGeom>
        </p:spPr>
      </p:pic>
      <p:sp>
        <p:nvSpPr>
          <p:cNvPr id="13" name="Text 8"/>
          <p:cNvSpPr txBox="1"/>
          <p:nvPr/>
        </p:nvSpPr>
        <p:spPr>
          <a:xfrm>
            <a:off x="1783080" y="4480560"/>
            <a:ext cx="96926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SDG 10 · Target 10.2</a:t>
            </a:r>
            <a:endParaRPr lang="en-US" sz="1900" dirty="0"/>
          </a:p>
        </p:txBody>
      </p:sp>
      <p:sp>
        <p:nvSpPr>
          <p:cNvPr id="14" name="Text 9"/>
          <p:cNvSpPr txBox="1"/>
          <p:nvPr/>
        </p:nvSpPr>
        <p:spPr>
          <a:xfrm>
            <a:off x="1783080" y="4937760"/>
            <a:ext cx="9692640" cy="1051560"/>
          </a:xfrm>
          <a:prstGeom prst="rect">
            <a:avLst/>
          </a:prstGeom>
          <a:noFill/>
          <a:ln/>
        </p:spPr>
        <p:txBody>
          <a:bodyPr wrap="square" lIns="0" tIns="0" rIns="0" bIns="0" rtlCol="0" anchor="t"/>
          <a:lstStyle/>
          <a:p>
            <a:pPr indent="0" marL="0">
              <a:buNone/>
            </a:pPr>
            <a:r>
              <a:rPr lang="en-US" sz="1450" dirty="0">
                <a:solidFill>
                  <a:srgbClr val="0B0B0B"/>
                </a:solidFill>
                <a:latin typeface="Calibri" pitchFamily="34" charset="0"/>
                <a:ea typeface="Calibri" pitchFamily="34" charset="-122"/>
                <a:cs typeface="Calibri" pitchFamily="34" charset="-120"/>
              </a:rPr>
              <a:t>“…empower and promote the social, economic and political inclusion of all, irrespective of… disability…” Communication access is a precondition for inclusion of people with severe motor disability.</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3  ·  Methodology and analytical model</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Block diagram, mathematical formulation, algorithm and implementation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Functional block diagram</a:t>
            </a:r>
            <a:endParaRPr lang="en-US" sz="3000" dirty="0"/>
          </a:p>
        </p:txBody>
      </p:sp>
      <p:sp>
        <p:nvSpPr>
          <p:cNvPr id="3" name="Text 1"/>
          <p:cNvSpPr txBox="1"/>
          <p:nvPr/>
        </p:nvSpPr>
        <p:spPr>
          <a:xfrm>
            <a:off x="457200" y="1143000"/>
            <a:ext cx="6949440" cy="274320"/>
          </a:xfrm>
          <a:prstGeom prst="rect">
            <a:avLst/>
          </a:prstGeom>
          <a:noFill/>
          <a:ln/>
        </p:spPr>
        <p:txBody>
          <a:bodyPr wrap="square" lIns="0" tIns="0" rIns="0" bIns="0" rtlCol="0" anchor="t"/>
          <a:lstStyle/>
          <a:p>
            <a:pPr indent="0" marL="0">
              <a:buNone/>
            </a:pPr>
            <a:r>
              <a:rPr lang="en-US" sz="1200" b="1" dirty="0">
                <a:solidFill>
                  <a:srgbClr val="52514E"/>
                </a:solidFill>
                <a:latin typeface="Calibri" pitchFamily="34" charset="0"/>
                <a:ea typeface="Calibri" pitchFamily="34" charset="-122"/>
                <a:cs typeface="Calibri" pitchFamily="34" charset="-120"/>
              </a:rPr>
              <a:t>REFERENCE PATH  (TRIBE v2 as released — not differentiable before the boundary)</a:t>
            </a:r>
            <a:endParaRPr lang="en-US" sz="1200" dirty="0"/>
          </a:p>
        </p:txBody>
      </p:sp>
      <p:sp>
        <p:nvSpPr>
          <p:cNvPr id="4" name="Shape 2"/>
          <p:cNvSpPr/>
          <p:nvPr/>
        </p:nvSpPr>
        <p:spPr>
          <a:xfrm>
            <a:off x="457200" y="1508760"/>
            <a:ext cx="2240280" cy="960120"/>
          </a:xfrm>
          <a:prstGeom prst="roundRect">
            <a:avLst>
              <a:gd name="adj" fmla="val 7619"/>
            </a:avLst>
          </a:prstGeom>
          <a:solidFill>
            <a:srgbClr val="8A8984"/>
          </a:solidFill>
          <a:ln w="12700">
            <a:solidFill>
              <a:srgbClr val="8A8984"/>
            </a:solidFill>
            <a:prstDash val="solid"/>
          </a:ln>
        </p:spPr>
      </p:sp>
      <p:sp>
        <p:nvSpPr>
          <p:cNvPr id="5" name="Text 3"/>
          <p:cNvSpPr txBox="1"/>
          <p:nvPr/>
        </p:nvSpPr>
        <p:spPr>
          <a:xfrm>
            <a:off x="530352" y="1508760"/>
            <a:ext cx="209397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Stimulus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speech / text</a:t>
            </a:r>
            <a:endParaRPr lang="en-US" sz="1300" dirty="0"/>
          </a:p>
        </p:txBody>
      </p:sp>
      <p:sp>
        <p:nvSpPr>
          <p:cNvPr id="6" name="Shape 4"/>
          <p:cNvSpPr/>
          <p:nvPr/>
        </p:nvSpPr>
        <p:spPr>
          <a:xfrm>
            <a:off x="2971800" y="1508760"/>
            <a:ext cx="2240280" cy="960120"/>
          </a:xfrm>
          <a:prstGeom prst="roundRect">
            <a:avLst>
              <a:gd name="adj" fmla="val 7619"/>
            </a:avLst>
          </a:prstGeom>
          <a:solidFill>
            <a:srgbClr val="8A8984"/>
          </a:solidFill>
          <a:ln w="12700">
            <a:solidFill>
              <a:srgbClr val="8A8984"/>
            </a:solidFill>
            <a:prstDash val="solid"/>
          </a:ln>
        </p:spPr>
      </p:sp>
      <p:sp>
        <p:nvSpPr>
          <p:cNvPr id="7" name="Text 5"/>
          <p:cNvSpPr txBox="1"/>
          <p:nvPr/>
        </p:nvSpPr>
        <p:spPr>
          <a:xfrm>
            <a:off x="3044952" y="1508760"/>
            <a:ext cx="209397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 extractors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LLaMA-3.2-3B · Wav2Vec-BERT · V-JEPA2 (frozen)</a:t>
            </a:r>
            <a:endParaRPr lang="en-US" sz="1300" dirty="0"/>
          </a:p>
        </p:txBody>
      </p:sp>
      <p:sp>
        <p:nvSpPr>
          <p:cNvPr id="8" name="Shape 6"/>
          <p:cNvSpPr/>
          <p:nvPr/>
        </p:nvSpPr>
        <p:spPr>
          <a:xfrm>
            <a:off x="5486400" y="1508760"/>
            <a:ext cx="2240280" cy="960120"/>
          </a:xfrm>
          <a:prstGeom prst="roundRect">
            <a:avLst>
              <a:gd name="adj" fmla="val 7619"/>
            </a:avLst>
          </a:prstGeom>
          <a:solidFill>
            <a:srgbClr val="8A8984"/>
          </a:solidFill>
          <a:ln w="12700">
            <a:solidFill>
              <a:srgbClr val="8A8984"/>
            </a:solidFill>
            <a:prstDash val="solid"/>
          </a:ln>
        </p:spPr>
      </p:sp>
      <p:sp>
        <p:nvSpPr>
          <p:cNvPr id="9" name="Text 7"/>
          <p:cNvSpPr txBox="1"/>
          <p:nvPr/>
        </p:nvSpPr>
        <p:spPr>
          <a:xfrm>
            <a:off x="5559552" y="1508760"/>
            <a:ext cx="209397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Projectors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per modality → 384 d</a:t>
            </a:r>
            <a:endParaRPr lang="en-US" sz="1300" dirty="0"/>
          </a:p>
        </p:txBody>
      </p:sp>
      <p:sp>
        <p:nvSpPr>
          <p:cNvPr id="10" name="Shape 8"/>
          <p:cNvSpPr/>
          <p:nvPr/>
        </p:nvSpPr>
        <p:spPr>
          <a:xfrm>
            <a:off x="2697480" y="1984248"/>
            <a:ext cx="274320" cy="914"/>
          </a:xfrm>
          <a:prstGeom prst="line">
            <a:avLst/>
          </a:prstGeom>
          <a:noFill/>
          <a:ln w="22225">
            <a:solidFill>
              <a:srgbClr val="8A8984"/>
            </a:solidFill>
            <a:prstDash val="solid"/>
            <a:tailEnd type="triangle"/>
          </a:ln>
        </p:spPr>
      </p:sp>
      <p:sp>
        <p:nvSpPr>
          <p:cNvPr id="11" name="Shape 9"/>
          <p:cNvSpPr/>
          <p:nvPr/>
        </p:nvSpPr>
        <p:spPr>
          <a:xfrm>
            <a:off x="5212080" y="1984248"/>
            <a:ext cx="274320" cy="914"/>
          </a:xfrm>
          <a:prstGeom prst="line">
            <a:avLst/>
          </a:prstGeom>
          <a:noFill/>
          <a:ln w="22225">
            <a:solidFill>
              <a:srgbClr val="8A8984"/>
            </a:solidFill>
            <a:prstDash val="solid"/>
            <a:tailEnd type="triangle"/>
          </a:ln>
        </p:spPr>
      </p:sp>
      <p:sp>
        <p:nvSpPr>
          <p:cNvPr id="12" name="Shape 10"/>
          <p:cNvSpPr/>
          <p:nvPr/>
        </p:nvSpPr>
        <p:spPr>
          <a:xfrm>
            <a:off x="7909560" y="1417320"/>
            <a:ext cx="36576" cy="2926080"/>
          </a:xfrm>
          <a:prstGeom prst="rect">
            <a:avLst/>
          </a:prstGeom>
          <a:solidFill>
            <a:srgbClr val="EB6834"/>
          </a:solidFill>
          <a:ln w="12700">
            <a:solidFill>
              <a:srgbClr val="EB6834"/>
            </a:solidFill>
            <a:prstDash val="solid"/>
          </a:ln>
        </p:spPr>
      </p:sp>
      <p:sp>
        <p:nvSpPr>
          <p:cNvPr id="13" name="Text 11"/>
          <p:cNvSpPr txBox="1"/>
          <p:nvPr/>
        </p:nvSpPr>
        <p:spPr>
          <a:xfrm>
            <a:off x="8001000" y="1097280"/>
            <a:ext cx="3657600" cy="274320"/>
          </a:xfrm>
          <a:prstGeom prst="rect">
            <a:avLst/>
          </a:prstGeom>
          <a:noFill/>
          <a:ln/>
        </p:spPr>
        <p:txBody>
          <a:bodyPr wrap="square" lIns="0" tIns="0" rIns="0" bIns="0" rtlCol="0" anchor="t"/>
          <a:lstStyle/>
          <a:p>
            <a:pPr indent="0" marL="0">
              <a:buNone/>
            </a:pPr>
            <a:r>
              <a:rPr lang="en-US" sz="1200" b="1" dirty="0">
                <a:solidFill>
                  <a:srgbClr val="EB6834"/>
                </a:solidFill>
                <a:latin typeface="Calibri" pitchFamily="34" charset="0"/>
                <a:ea typeface="Calibri" pitchFamily="34" charset="-122"/>
                <a:cs typeface="Calibri" pitchFamily="34" charset="-120"/>
              </a:rPr>
              <a:t>aggregate_features boundary</a:t>
            </a:r>
            <a:endParaRPr lang="en-US" sz="1200" dirty="0"/>
          </a:p>
        </p:txBody>
      </p:sp>
      <p:sp>
        <p:nvSpPr>
          <p:cNvPr id="14" name="Shape 12"/>
          <p:cNvSpPr/>
          <p:nvPr/>
        </p:nvSpPr>
        <p:spPr>
          <a:xfrm>
            <a:off x="7269480" y="1984248"/>
            <a:ext cx="960120" cy="914"/>
          </a:xfrm>
          <a:prstGeom prst="line">
            <a:avLst/>
          </a:prstGeom>
          <a:noFill/>
          <a:ln w="22225">
            <a:solidFill>
              <a:srgbClr val="8A8984"/>
            </a:solidFill>
            <a:prstDash val="solid"/>
            <a:tailEnd type="triangle"/>
          </a:ln>
        </p:spPr>
      </p:sp>
      <p:sp>
        <p:nvSpPr>
          <p:cNvPr id="15" name="Shape 13"/>
          <p:cNvSpPr/>
          <p:nvPr/>
        </p:nvSpPr>
        <p:spPr>
          <a:xfrm>
            <a:off x="8229600" y="1508760"/>
            <a:ext cx="3474720" cy="960120"/>
          </a:xfrm>
          <a:prstGeom prst="roundRect">
            <a:avLst>
              <a:gd name="adj" fmla="val 7619"/>
            </a:avLst>
          </a:prstGeom>
          <a:solidFill>
            <a:srgbClr val="2A78D6"/>
          </a:solidFill>
          <a:ln w="12700">
            <a:solidFill>
              <a:srgbClr val="2A78D6"/>
            </a:solidFill>
            <a:prstDash val="solid"/>
          </a:ln>
        </p:spPr>
      </p:sp>
      <p:sp>
        <p:nvSpPr>
          <p:cNvPr id="16" name="Text 14"/>
          <p:cNvSpPr txBox="1"/>
          <p:nvPr/>
        </p:nvSpPr>
        <p:spPr>
          <a:xfrm>
            <a:off x="8302752" y="1508760"/>
            <a:ext cx="332841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Frozen forward operator  f(x)</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Transformer → low-rank head → subject layer → pool</a:t>
            </a:r>
            <a:endParaRPr lang="en-US" sz="1300" dirty="0"/>
          </a:p>
        </p:txBody>
      </p:sp>
      <p:sp>
        <p:nvSpPr>
          <p:cNvPr id="17" name="Text 15"/>
          <p:cNvSpPr txBox="1"/>
          <p:nvPr/>
        </p:nvSpPr>
        <p:spPr>
          <a:xfrm>
            <a:off x="457200" y="2788920"/>
            <a:ext cx="11247120" cy="274320"/>
          </a:xfrm>
          <a:prstGeom prst="rect">
            <a:avLst/>
          </a:prstGeom>
          <a:noFill/>
          <a:ln/>
        </p:spPr>
        <p:txBody>
          <a:bodyPr wrap="square" lIns="0" tIns="0" rIns="0" bIns="0" rtlCol="0" anchor="t"/>
          <a:lstStyle/>
          <a:p>
            <a:pPr indent="0" marL="0">
              <a:buNone/>
            </a:pPr>
            <a:r>
              <a:rPr lang="en-US" sz="1200" b="1" dirty="0">
                <a:solidFill>
                  <a:srgbClr val="52514E"/>
                </a:solidFill>
                <a:latin typeface="Calibri" pitchFamily="34" charset="0"/>
                <a:ea typeface="Calibri" pitchFamily="34" charset="-122"/>
                <a:cs typeface="Calibri" pitchFamily="34" charset="-120"/>
              </a:rPr>
              <a:t>OUR PIPELINE  (everything differentiable)</a:t>
            </a:r>
            <a:endParaRPr lang="en-US" sz="1200" dirty="0"/>
          </a:p>
        </p:txBody>
      </p:sp>
      <p:sp>
        <p:nvSpPr>
          <p:cNvPr id="18" name="Shape 16"/>
          <p:cNvSpPr/>
          <p:nvPr/>
        </p:nvSpPr>
        <p:spPr>
          <a:xfrm>
            <a:off x="457200" y="3154680"/>
            <a:ext cx="2240280" cy="1051560"/>
          </a:xfrm>
          <a:prstGeom prst="roundRect">
            <a:avLst>
              <a:gd name="adj" fmla="val 6957"/>
            </a:avLst>
          </a:prstGeom>
          <a:solidFill>
            <a:srgbClr val="13243B"/>
          </a:solidFill>
          <a:ln w="12700">
            <a:solidFill>
              <a:srgbClr val="13243B"/>
            </a:solidFill>
            <a:prstDash val="solid"/>
          </a:ln>
        </p:spPr>
      </p:sp>
      <p:sp>
        <p:nvSpPr>
          <p:cNvPr id="19" name="Text 17"/>
          <p:cNvSpPr txBox="1"/>
          <p:nvPr/>
        </p:nvSpPr>
        <p:spPr>
          <a:xfrm>
            <a:off x="530352" y="3154680"/>
            <a:ext cx="209397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Ground-truth generator</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x* ∈ ℝ^(32×1152)</a:t>
            </a:r>
            <a:endParaRPr lang="en-US" sz="1300" dirty="0"/>
          </a:p>
        </p:txBody>
      </p:sp>
      <p:sp>
        <p:nvSpPr>
          <p:cNvPr id="20" name="Shape 18"/>
          <p:cNvSpPr/>
          <p:nvPr/>
        </p:nvSpPr>
        <p:spPr>
          <a:xfrm>
            <a:off x="2971800" y="3154680"/>
            <a:ext cx="2240280" cy="1051560"/>
          </a:xfrm>
          <a:prstGeom prst="roundRect">
            <a:avLst>
              <a:gd name="adj" fmla="val 6957"/>
            </a:avLst>
          </a:prstGeom>
          <a:solidFill>
            <a:srgbClr val="13243B"/>
          </a:solidFill>
          <a:ln w="12700">
            <a:solidFill>
              <a:srgbClr val="13243B"/>
            </a:solidFill>
            <a:prstDash val="solid"/>
          </a:ln>
        </p:spPr>
      </p:sp>
      <p:sp>
        <p:nvSpPr>
          <p:cNvPr id="21" name="Text 19"/>
          <p:cNvSpPr txBox="1"/>
          <p:nvPr/>
        </p:nvSpPr>
        <p:spPr>
          <a:xfrm>
            <a:off x="3044952" y="3154680"/>
            <a:ext cx="209397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Measurement model</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y = M ⊙ f(x*) + η</a:t>
            </a:r>
            <a:endParaRPr lang="en-US" sz="1300" dirty="0"/>
          </a:p>
        </p:txBody>
      </p:sp>
      <p:sp>
        <p:nvSpPr>
          <p:cNvPr id="22" name="Shape 20"/>
          <p:cNvSpPr/>
          <p:nvPr/>
        </p:nvSpPr>
        <p:spPr>
          <a:xfrm>
            <a:off x="5486400" y="3154680"/>
            <a:ext cx="2240280" cy="1051560"/>
          </a:xfrm>
          <a:prstGeom prst="roundRect">
            <a:avLst>
              <a:gd name="adj" fmla="val 6957"/>
            </a:avLst>
          </a:prstGeom>
          <a:solidFill>
            <a:srgbClr val="EB6834"/>
          </a:solidFill>
          <a:ln w="12700">
            <a:solidFill>
              <a:srgbClr val="EB6834"/>
            </a:solidFill>
            <a:prstDash val="solid"/>
          </a:ln>
        </p:spPr>
      </p:sp>
      <p:sp>
        <p:nvSpPr>
          <p:cNvPr id="23" name="Text 21"/>
          <p:cNvSpPr txBox="1"/>
          <p:nvPr/>
        </p:nvSpPr>
        <p:spPr>
          <a:xfrm>
            <a:off x="5559552" y="3154680"/>
            <a:ext cx="209397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Inversion engine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Adam on x, θ frozen</a:t>
            </a:r>
            <a:endParaRPr lang="en-US" sz="1300" dirty="0"/>
          </a:p>
        </p:txBody>
      </p:sp>
      <p:sp>
        <p:nvSpPr>
          <p:cNvPr id="24" name="Shape 22"/>
          <p:cNvSpPr/>
          <p:nvPr/>
        </p:nvSpPr>
        <p:spPr>
          <a:xfrm>
            <a:off x="8229600" y="3154680"/>
            <a:ext cx="3474720" cy="1051560"/>
          </a:xfrm>
          <a:prstGeom prst="roundRect">
            <a:avLst>
              <a:gd name="adj" fmla="val 6957"/>
            </a:avLst>
          </a:prstGeom>
          <a:solidFill>
            <a:srgbClr val="2A78D6"/>
          </a:solidFill>
          <a:ln w="12700">
            <a:solidFill>
              <a:srgbClr val="2A78D6"/>
            </a:solidFill>
            <a:prstDash val="solid"/>
          </a:ln>
        </p:spPr>
      </p:sp>
      <p:sp>
        <p:nvSpPr>
          <p:cNvPr id="25" name="Text 23"/>
          <p:cNvSpPr txBox="1"/>
          <p:nvPr/>
        </p:nvSpPr>
        <p:spPr>
          <a:xfrm>
            <a:off x="8302752" y="31546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f(x̂)  via autograd</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∂L/∂x back-propagated to the input</a:t>
            </a:r>
            <a:endParaRPr lang="en-US" sz="1300" dirty="0"/>
          </a:p>
        </p:txBody>
      </p:sp>
      <p:sp>
        <p:nvSpPr>
          <p:cNvPr id="26" name="Shape 24"/>
          <p:cNvSpPr/>
          <p:nvPr/>
        </p:nvSpPr>
        <p:spPr>
          <a:xfrm>
            <a:off x="2697480" y="3675888"/>
            <a:ext cx="274320" cy="914"/>
          </a:xfrm>
          <a:prstGeom prst="line">
            <a:avLst/>
          </a:prstGeom>
          <a:noFill/>
          <a:ln w="22225">
            <a:solidFill>
              <a:srgbClr val="8A8984"/>
            </a:solidFill>
            <a:prstDash val="solid"/>
            <a:tailEnd type="triangle"/>
          </a:ln>
        </p:spPr>
      </p:sp>
      <p:sp>
        <p:nvSpPr>
          <p:cNvPr id="27" name="Shape 25"/>
          <p:cNvSpPr/>
          <p:nvPr/>
        </p:nvSpPr>
        <p:spPr>
          <a:xfrm>
            <a:off x="5212080" y="3675888"/>
            <a:ext cx="274320" cy="914"/>
          </a:xfrm>
          <a:prstGeom prst="line">
            <a:avLst/>
          </a:prstGeom>
          <a:noFill/>
          <a:ln w="22225">
            <a:solidFill>
              <a:srgbClr val="8A8984"/>
            </a:solidFill>
            <a:prstDash val="solid"/>
            <a:tailEnd type="triangle"/>
          </a:ln>
        </p:spPr>
      </p:sp>
      <p:sp>
        <p:nvSpPr>
          <p:cNvPr id="28" name="Shape 26"/>
          <p:cNvSpPr/>
          <p:nvPr/>
        </p:nvSpPr>
        <p:spPr>
          <a:xfrm>
            <a:off x="7726680" y="3474720"/>
            <a:ext cx="502920" cy="914"/>
          </a:xfrm>
          <a:prstGeom prst="line">
            <a:avLst/>
          </a:prstGeom>
          <a:noFill/>
          <a:ln w="22225">
            <a:solidFill>
              <a:srgbClr val="EB6834"/>
            </a:solidFill>
            <a:prstDash val="solid"/>
            <a:tailEnd type="triangle"/>
          </a:ln>
        </p:spPr>
      </p:sp>
      <p:sp>
        <p:nvSpPr>
          <p:cNvPr id="29" name="Shape 27"/>
          <p:cNvSpPr/>
          <p:nvPr/>
        </p:nvSpPr>
        <p:spPr>
          <a:xfrm flipH="1">
            <a:off x="7726680" y="3931920"/>
            <a:ext cx="502920" cy="914"/>
          </a:xfrm>
          <a:prstGeom prst="line">
            <a:avLst/>
          </a:prstGeom>
          <a:noFill/>
          <a:ln w="22225">
            <a:solidFill>
              <a:srgbClr val="EB6834"/>
            </a:solidFill>
            <a:prstDash val="solid"/>
            <a:tailEnd type="triangle"/>
          </a:ln>
        </p:spPr>
      </p:sp>
      <p:sp>
        <p:nvSpPr>
          <p:cNvPr id="30" name="Shape 28"/>
          <p:cNvSpPr/>
          <p:nvPr/>
        </p:nvSpPr>
        <p:spPr>
          <a:xfrm>
            <a:off x="9966960" y="2468880"/>
            <a:ext cx="914" cy="685800"/>
          </a:xfrm>
          <a:prstGeom prst="line">
            <a:avLst/>
          </a:prstGeom>
          <a:noFill/>
          <a:ln w="22225">
            <a:solidFill>
              <a:srgbClr val="2A78D6"/>
            </a:solidFill>
            <a:prstDash val="solid"/>
            <a:tailEnd type="triangle"/>
          </a:ln>
        </p:spPr>
      </p:sp>
      <p:sp>
        <p:nvSpPr>
          <p:cNvPr id="31" name="Shape 29"/>
          <p:cNvSpPr/>
          <p:nvPr/>
        </p:nvSpPr>
        <p:spPr>
          <a:xfrm>
            <a:off x="457200" y="4709160"/>
            <a:ext cx="3474720" cy="1188720"/>
          </a:xfrm>
          <a:prstGeom prst="roundRect">
            <a:avLst>
              <a:gd name="adj" fmla="val 6154"/>
            </a:avLst>
          </a:prstGeom>
          <a:solidFill>
            <a:srgbClr val="4A3AA7"/>
          </a:solidFill>
          <a:ln w="12700">
            <a:solidFill>
              <a:srgbClr val="4A3AA7"/>
            </a:solidFill>
            <a:prstDash val="solid"/>
          </a:ln>
        </p:spPr>
      </p:sp>
      <p:sp>
        <p:nvSpPr>
          <p:cNvPr id="32" name="Text 30"/>
          <p:cNvSpPr txBox="1"/>
          <p:nvPr/>
        </p:nvSpPr>
        <p:spPr>
          <a:xfrm>
            <a:off x="530352" y="4709160"/>
            <a:ext cx="3328416"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Experiment controller</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budget · noise η · vertex mask M · prior R · init</a:t>
            </a:r>
            <a:endParaRPr lang="en-US" sz="1300" dirty="0"/>
          </a:p>
        </p:txBody>
      </p:sp>
      <p:sp>
        <p:nvSpPr>
          <p:cNvPr id="33" name="Shape 31"/>
          <p:cNvSpPr/>
          <p:nvPr/>
        </p:nvSpPr>
        <p:spPr>
          <a:xfrm>
            <a:off x="4206240" y="4709160"/>
            <a:ext cx="3520440" cy="1188720"/>
          </a:xfrm>
          <a:prstGeom prst="roundRect">
            <a:avLst>
              <a:gd name="adj" fmla="val 6154"/>
            </a:avLst>
          </a:prstGeom>
          <a:solidFill>
            <a:srgbClr val="1BAF7A"/>
          </a:solidFill>
          <a:ln w="12700">
            <a:solidFill>
              <a:srgbClr val="1BAF7A"/>
            </a:solidFill>
            <a:prstDash val="solid"/>
          </a:ln>
        </p:spPr>
      </p:sp>
      <p:sp>
        <p:nvSpPr>
          <p:cNvPr id="34" name="Text 32"/>
          <p:cNvSpPr txBox="1"/>
          <p:nvPr/>
        </p:nvSpPr>
        <p:spPr>
          <a:xfrm>
            <a:off x="4279392" y="4709160"/>
            <a:ext cx="3374136"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cosine · relative error · retrieval · directional sensitivity</a:t>
            </a:r>
            <a:endParaRPr lang="en-US" sz="1300" dirty="0"/>
          </a:p>
        </p:txBody>
      </p:sp>
      <p:sp>
        <p:nvSpPr>
          <p:cNvPr id="35" name="Shape 33"/>
          <p:cNvSpPr/>
          <p:nvPr/>
        </p:nvSpPr>
        <p:spPr>
          <a:xfrm>
            <a:off x="8229600" y="4709160"/>
            <a:ext cx="3474720" cy="1188720"/>
          </a:xfrm>
          <a:prstGeom prst="roundRect">
            <a:avLst>
              <a:gd name="adj" fmla="val 6154"/>
            </a:avLst>
          </a:prstGeom>
          <a:solidFill>
            <a:srgbClr val="13243B"/>
          </a:solidFill>
          <a:ln w="12700">
            <a:solidFill>
              <a:srgbClr val="13243B"/>
            </a:solidFill>
            <a:prstDash val="solid"/>
          </a:ln>
        </p:spPr>
      </p:sp>
      <p:sp>
        <p:nvSpPr>
          <p:cNvPr id="36" name="Text 34"/>
          <p:cNvSpPr txBox="1"/>
          <p:nvPr/>
        </p:nvSpPr>
        <p:spPr>
          <a:xfrm>
            <a:off x="8302752" y="4709160"/>
            <a:ext cx="3328416"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Results store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results.json (26 stages) · figures · Drive backup</a:t>
            </a:r>
            <a:endParaRPr lang="en-US" sz="1300" dirty="0"/>
          </a:p>
        </p:txBody>
      </p:sp>
      <p:sp>
        <p:nvSpPr>
          <p:cNvPr id="37" name="Shape 35"/>
          <p:cNvSpPr/>
          <p:nvPr/>
        </p:nvSpPr>
        <p:spPr>
          <a:xfrm flipV="1">
            <a:off x="1554480" y="4206240"/>
            <a:ext cx="914" cy="502920"/>
          </a:xfrm>
          <a:prstGeom prst="line">
            <a:avLst/>
          </a:prstGeom>
          <a:noFill/>
          <a:ln w="22225">
            <a:solidFill>
              <a:srgbClr val="4A3AA7"/>
            </a:solidFill>
            <a:prstDash val="solid"/>
            <a:tailEnd type="triangle"/>
          </a:ln>
        </p:spPr>
      </p:sp>
      <p:sp>
        <p:nvSpPr>
          <p:cNvPr id="38" name="Shape 36"/>
          <p:cNvSpPr/>
          <p:nvPr/>
        </p:nvSpPr>
        <p:spPr>
          <a:xfrm flipV="1">
            <a:off x="3566160" y="4206240"/>
            <a:ext cx="914" cy="502920"/>
          </a:xfrm>
          <a:prstGeom prst="line">
            <a:avLst/>
          </a:prstGeom>
          <a:noFill/>
          <a:ln w="22225">
            <a:solidFill>
              <a:srgbClr val="4A3AA7"/>
            </a:solidFill>
            <a:prstDash val="solid"/>
            <a:tailEnd type="triangle"/>
          </a:ln>
        </p:spPr>
      </p:sp>
      <p:sp>
        <p:nvSpPr>
          <p:cNvPr id="39" name="Shape 37"/>
          <p:cNvSpPr/>
          <p:nvPr/>
        </p:nvSpPr>
        <p:spPr>
          <a:xfrm>
            <a:off x="6583680" y="4206240"/>
            <a:ext cx="914" cy="502920"/>
          </a:xfrm>
          <a:prstGeom prst="line">
            <a:avLst/>
          </a:prstGeom>
          <a:noFill/>
          <a:ln w="22225">
            <a:solidFill>
              <a:srgbClr val="EB6834"/>
            </a:solidFill>
            <a:prstDash val="solid"/>
            <a:tailEnd type="triangle"/>
          </a:ln>
        </p:spPr>
      </p:sp>
      <p:sp>
        <p:nvSpPr>
          <p:cNvPr id="40" name="Shape 38"/>
          <p:cNvSpPr/>
          <p:nvPr/>
        </p:nvSpPr>
        <p:spPr>
          <a:xfrm>
            <a:off x="7726680" y="5303520"/>
            <a:ext cx="502920" cy="914"/>
          </a:xfrm>
          <a:prstGeom prst="line">
            <a:avLst/>
          </a:prstGeom>
          <a:noFill/>
          <a:ln w="22225">
            <a:solidFill>
              <a:srgbClr val="8A8984"/>
            </a:solidFill>
            <a:prstDash val="solid"/>
            <a:tailEnd type="triangle"/>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Analytical model</a:t>
            </a:r>
            <a:endParaRPr lang="en-US" sz="3000" dirty="0"/>
          </a:p>
        </p:txBody>
      </p:sp>
      <p:sp>
        <p:nvSpPr>
          <p:cNvPr id="3" name="card"/>
          <p:cNvSpPr/>
          <p:nvPr/>
        </p:nvSpPr>
        <p:spPr>
          <a:xfrm>
            <a:off x="548640" y="1234440"/>
            <a:ext cx="548640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777240" y="1371600"/>
            <a:ext cx="5029200" cy="36576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Forward operator</a:t>
            </a:r>
            <a:endParaRPr lang="en-US" sz="1800" dirty="0"/>
          </a:p>
        </p:txBody>
      </p:sp>
      <p:sp>
        <p:nvSpPr>
          <p:cNvPr id="5" name="Text 3"/>
          <p:cNvSpPr txBox="1"/>
          <p:nvPr/>
        </p:nvSpPr>
        <p:spPr>
          <a:xfrm>
            <a:off x="777240" y="1828800"/>
            <a:ext cx="5029200" cy="3108960"/>
          </a:xfrm>
          <a:prstGeom prst="rect">
            <a:avLst/>
          </a:prstGeom>
          <a:noFill/>
          <a:ln/>
        </p:spPr>
        <p:txBody>
          <a:bodyPr wrap="square" lIns="0" tIns="0" rIns="0" bIns="0" rtlCol="0" anchor="t"/>
          <a:lstStyle/>
          <a:p>
            <a:pPr indent="0" marL="0">
              <a:spcAft>
                <a:spcPts val="400"/>
              </a:spcAft>
              <a:buNone/>
            </a:pPr>
            <a:r>
              <a:rPr lang="en-US" sz="1800" b="1" dirty="0">
                <a:solidFill>
                  <a:srgbClr val="0B0B0B"/>
                </a:solidFill>
                <a:latin typeface="Cambria Math" pitchFamily="34" charset="0"/>
                <a:ea typeface="Cambria Math" pitchFamily="34" charset="-122"/>
                <a:cs typeface="Cambria Math" pitchFamily="34" charset="-120"/>
              </a:rPr>
              <a:t>y = f_θ(x) = P ∘ S ∘ L ∘ E (x)</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x ∈ ℝ^(T×H),  T = 32,  H = 1152</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y ∈ ℝ^(V×T′),  V = 20 484,  T′ = 100</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E: 8-layer transformer encoder (127.5 M)</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L: low-rank head 1152 → 2048</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S: shared subject layer 2048 → 20 484</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P: adaptive average pooling to T′</a:t>
            </a:r>
            <a:endParaRPr lang="en-US" sz="1500" dirty="0"/>
          </a:p>
          <a:p>
            <a:pPr indent="0" marL="0">
              <a:spcAft>
                <a:spcPts val="400"/>
              </a:spcAft>
              <a:buNone/>
            </a:pPr>
            <a:r>
              <a:rPr lang="en-US" sz="1500" dirty="0">
                <a:solidFill>
                  <a:srgbClr val="0B0B0B"/>
                </a:solidFill>
                <a:latin typeface="Calibri" pitchFamily="34" charset="0"/>
                <a:ea typeface="Calibri" pitchFamily="34" charset="-122"/>
                <a:cs typeface="Calibri" pitchFamily="34" charset="-120"/>
              </a:rPr>
              <a:t>θ frozen (177.21 M parameters)</a:t>
            </a:r>
            <a:endParaRPr lang="en-US" sz="1500" dirty="0"/>
          </a:p>
        </p:txBody>
      </p:sp>
      <p:sp>
        <p:nvSpPr>
          <p:cNvPr id="6" name="Text 4"/>
          <p:cNvSpPr txBox="1"/>
          <p:nvPr/>
        </p:nvSpPr>
        <p:spPr>
          <a:xfrm>
            <a:off x="777240" y="5074920"/>
            <a:ext cx="5029200" cy="100584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Ground truth:  x*_t = Σₖ cos(2π k c t) bₖ ,  k = 1…8,  normalised; c sets the rate of semantic change</a:t>
            </a:r>
            <a:endParaRPr lang="en-US" sz="1400" dirty="0"/>
          </a:p>
        </p:txBody>
      </p:sp>
      <p:sp>
        <p:nvSpPr>
          <p:cNvPr id="7" name="card"/>
          <p:cNvSpPr/>
          <p:nvPr/>
        </p:nvSpPr>
        <p:spPr>
          <a:xfrm>
            <a:off x="6263640" y="1234440"/>
            <a:ext cx="5349240" cy="2514600"/>
          </a:xfrm>
          <a:prstGeom prst="roundRect">
            <a:avLst>
              <a:gd name="adj" fmla="val 2909"/>
            </a:avLst>
          </a:prstGeom>
          <a:solidFill>
            <a:srgbClr val="FCE4D9"/>
          </a:solidFill>
          <a:ln w="12700">
            <a:solidFill>
              <a:srgbClr val="FCE4D9"/>
            </a:solidFill>
            <a:prstDash val="solid"/>
          </a:ln>
        </p:spPr>
      </p:sp>
      <p:sp>
        <p:nvSpPr>
          <p:cNvPr id="8" name="Text 6"/>
          <p:cNvSpPr txBox="1"/>
          <p:nvPr/>
        </p:nvSpPr>
        <p:spPr>
          <a:xfrm>
            <a:off x="6492240" y="1371600"/>
            <a:ext cx="4937760" cy="36576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Inverse problem</a:t>
            </a:r>
            <a:endParaRPr lang="en-US" sz="1800" dirty="0"/>
          </a:p>
        </p:txBody>
      </p:sp>
      <p:sp>
        <p:nvSpPr>
          <p:cNvPr id="9" name="Text 7"/>
          <p:cNvSpPr txBox="1"/>
          <p:nvPr/>
        </p:nvSpPr>
        <p:spPr>
          <a:xfrm>
            <a:off x="6492240" y="1828800"/>
            <a:ext cx="4937760" cy="1828800"/>
          </a:xfrm>
          <a:prstGeom prst="rect">
            <a:avLst/>
          </a:prstGeom>
          <a:noFill/>
          <a:ln/>
        </p:spPr>
        <p:txBody>
          <a:bodyPr wrap="square" lIns="0" tIns="0" rIns="0" bIns="0" rtlCol="0" anchor="t"/>
          <a:lstStyle/>
          <a:p>
            <a:pPr indent="0" marL="0">
              <a:spcAft>
                <a:spcPts val="500"/>
              </a:spcAft>
              <a:buNone/>
            </a:pPr>
            <a:r>
              <a:rPr lang="en-US" sz="1700" b="1" dirty="0">
                <a:solidFill>
                  <a:srgbClr val="0B0B0B"/>
                </a:solidFill>
                <a:latin typeface="Cambria Math" pitchFamily="34" charset="0"/>
                <a:ea typeface="Cambria Math" pitchFamily="34" charset="-122"/>
                <a:cs typeface="Cambria Math" pitchFamily="34" charset="-120"/>
              </a:rPr>
              <a:t>x̂ = argminₓ  ‖M ⊙ (f_θ(x) − y)‖² + λ R(x)</a:t>
            </a:r>
            <a:endParaRPr lang="en-US" sz="1400" dirty="0"/>
          </a:p>
          <a:p>
            <a:pPr indent="0" marL="0">
              <a:spcAft>
                <a:spcPts val="500"/>
              </a:spcAft>
              <a:buNone/>
            </a:pPr>
            <a:r>
              <a:rPr lang="en-US" sz="1400" dirty="0">
                <a:solidFill>
                  <a:srgbClr val="0B0B0B"/>
                </a:solidFill>
                <a:latin typeface="Calibri" pitchFamily="34" charset="0"/>
                <a:ea typeface="Calibri" pitchFamily="34" charset="-122"/>
                <a:cs typeface="Calibri" pitchFamily="34" charset="-120"/>
              </a:rPr>
              <a:t>R(x) = ‖x‖²  (ℓ2)   or   Σₜ ‖xₜ − xₜ₋₁‖²  (smoothness)</a:t>
            </a:r>
            <a:endParaRPr lang="en-US" sz="1400" dirty="0"/>
          </a:p>
          <a:p>
            <a:pPr indent="0" marL="0">
              <a:spcAft>
                <a:spcPts val="500"/>
              </a:spcAft>
              <a:buNone/>
            </a:pPr>
            <a:r>
              <a:rPr lang="en-US" sz="1400" dirty="0">
                <a:solidFill>
                  <a:srgbClr val="0B0B0B"/>
                </a:solidFill>
                <a:latin typeface="Calibri" pitchFamily="34" charset="0"/>
                <a:ea typeface="Calibri" pitchFamily="34" charset="-122"/>
                <a:cs typeface="Calibri" pitchFamily="34" charset="-120"/>
              </a:rPr>
              <a:t>Linearised: f(x + δ) ≈ f(x) + J δ, so error grows along directions with small singular values of the Jacobian J (ill-conditioning).</a:t>
            </a:r>
            <a:endParaRPr lang="en-US" sz="1400" dirty="0"/>
          </a:p>
        </p:txBody>
      </p:sp>
      <p:sp>
        <p:nvSpPr>
          <p:cNvPr id="10" name="card"/>
          <p:cNvSpPr/>
          <p:nvPr/>
        </p:nvSpPr>
        <p:spPr>
          <a:xfrm>
            <a:off x="6263640" y="3931920"/>
            <a:ext cx="5349240" cy="2286000"/>
          </a:xfrm>
          <a:prstGeom prst="roundRect">
            <a:avLst>
              <a:gd name="adj" fmla="val 3200"/>
            </a:avLst>
          </a:prstGeom>
          <a:solidFill>
            <a:srgbClr val="D9F2E8"/>
          </a:solidFill>
          <a:ln w="12700">
            <a:solidFill>
              <a:srgbClr val="D9F2E8"/>
            </a:solidFill>
            <a:prstDash val="solid"/>
          </a:ln>
        </p:spPr>
      </p:sp>
      <p:sp>
        <p:nvSpPr>
          <p:cNvPr id="11" name="Text 9"/>
          <p:cNvSpPr txBox="1"/>
          <p:nvPr/>
        </p:nvSpPr>
        <p:spPr>
          <a:xfrm>
            <a:off x="6492240" y="4041648"/>
            <a:ext cx="4937760" cy="36576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Metrics</a:t>
            </a:r>
            <a:endParaRPr lang="en-US" sz="1800" dirty="0"/>
          </a:p>
        </p:txBody>
      </p:sp>
      <p:sp>
        <p:nvSpPr>
          <p:cNvPr id="12" name="Text 10"/>
          <p:cNvSpPr txBox="1"/>
          <p:nvPr/>
        </p:nvSpPr>
        <p:spPr>
          <a:xfrm>
            <a:off x="6492240" y="4480560"/>
            <a:ext cx="4937760" cy="1645920"/>
          </a:xfrm>
          <a:prstGeom prst="rect">
            <a:avLst/>
          </a:prstGeom>
          <a:noFill/>
          <a:ln/>
        </p:spPr>
        <p:txBody>
          <a:bodyPr wrap="square" lIns="0" tIns="0" rIns="0" bIns="0" rtlCol="0" anchor="t"/>
          <a:lstStyle/>
          <a:p>
            <a:pPr indent="0" marL="0">
              <a:spcAft>
                <a:spcPts val="400"/>
              </a:spcAft>
              <a:buNone/>
            </a:pPr>
            <a:r>
              <a:rPr lang="en-US" sz="1400" dirty="0">
                <a:solidFill>
                  <a:srgbClr val="0B0B0B"/>
                </a:solidFill>
                <a:latin typeface="Calibri" pitchFamily="34" charset="0"/>
                <a:ea typeface="Calibri" pitchFamily="34" charset="-122"/>
                <a:cs typeface="Calibri" pitchFamily="34" charset="-120"/>
              </a:rPr>
              <a:t>Recovery:  (1/T) Σₜ cos(x̂ₜ, x*ₜ)</a:t>
            </a:r>
            <a:endParaRPr lang="en-US" sz="1400" dirty="0"/>
          </a:p>
          <a:p>
            <a:pPr indent="0" marL="0">
              <a:spcAft>
                <a:spcPts val="400"/>
              </a:spcAft>
              <a:buNone/>
            </a:pPr>
            <a:r>
              <a:rPr lang="en-US" sz="1400" dirty="0">
                <a:solidFill>
                  <a:srgbClr val="0B0B0B"/>
                </a:solidFill>
                <a:latin typeface="Calibri" pitchFamily="34" charset="0"/>
                <a:ea typeface="Calibri" pitchFamily="34" charset="-122"/>
                <a:cs typeface="Calibri" pitchFamily="34" charset="-120"/>
              </a:rPr>
              <a:t>Relative error:  ‖x̂ − x*‖ / ‖x*‖</a:t>
            </a:r>
            <a:endParaRPr lang="en-US" sz="1400" dirty="0"/>
          </a:p>
          <a:p>
            <a:pPr indent="0" marL="0">
              <a:spcAft>
                <a:spcPts val="400"/>
              </a:spcAft>
              <a:buNone/>
            </a:pPr>
            <a:r>
              <a:rPr lang="en-US" sz="1400" dirty="0">
                <a:solidFill>
                  <a:srgbClr val="0B0B0B"/>
                </a:solidFill>
                <a:latin typeface="Calibri" pitchFamily="34" charset="0"/>
                <a:ea typeface="Calibri" pitchFamily="34" charset="-122"/>
                <a:cs typeface="Calibri" pitchFamily="34" charset="-120"/>
              </a:rPr>
              <a:t>Encoding error:  ‖f(x̂) − f(x*)‖ / ‖f(x*)‖</a:t>
            </a:r>
            <a:endParaRPr lang="en-US" sz="1400" dirty="0"/>
          </a:p>
          <a:p>
            <a:pPr indent="0" marL="0">
              <a:spcAft>
                <a:spcPts val="400"/>
              </a:spcAft>
              <a:buNone/>
            </a:pPr>
            <a:r>
              <a:rPr lang="en-US" sz="1400" dirty="0">
                <a:solidFill>
                  <a:srgbClr val="0B0B0B"/>
                </a:solidFill>
                <a:latin typeface="Calibri" pitchFamily="34" charset="0"/>
                <a:ea typeface="Calibri" pitchFamily="34" charset="-122"/>
                <a:cs typeface="Calibri" pitchFamily="34" charset="-120"/>
              </a:rPr>
              <a:t>Directional sensitivity:  s(v) = ‖f(x+εv) − f(x)‖ / ε</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forward operator and where we enter it</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035040" cy="914400"/>
        </p:xfrm>
        <a:graphic>
          <a:graphicData uri="http://schemas.openxmlformats.org/drawingml/2006/table">
            <a:tbl>
              <a:tblPr/>
              <a:tblGrid>
                <a:gridCol w="1463040"/>
                <a:gridCol w="3383280"/>
                <a:gridCol w="118872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Component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Parameters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encoder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Transformer encoder (x-transformers)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127.47 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predictor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SubjectLayersModel (shared 'unseen subject' layer)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41.97 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projectors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Per-modality MLPs (text 2×3072, audio 2×1024, video 2×1408)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4.23 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low_rank_head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Linear 1152 → 2048, no bias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2.36 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pooler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AdaptiveAvgPool1d → 100 time points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177.21 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card"/>
          <p:cNvSpPr/>
          <p:nvPr/>
        </p:nvSpPr>
        <p:spPr>
          <a:xfrm>
            <a:off x="6766560" y="1234440"/>
            <a:ext cx="4937760" cy="4983480"/>
          </a:xfrm>
          <a:prstGeom prst="roundRect">
            <a:avLst>
              <a:gd name="adj" fmla="val 1481"/>
            </a:avLst>
          </a:prstGeom>
          <a:solidFill>
            <a:srgbClr val="EEF3F9"/>
          </a:solidFill>
          <a:ln w="12700">
            <a:solidFill>
              <a:srgbClr val="EEF3F9"/>
            </a:solidFill>
            <a:prstDash val="solid"/>
          </a:ln>
        </p:spPr>
      </p:sp>
      <p:sp>
        <p:nvSpPr>
          <p:cNvPr id="5" name="Text 2"/>
          <p:cNvSpPr txBox="1"/>
          <p:nvPr/>
        </p:nvSpPr>
        <p:spPr>
          <a:xfrm>
            <a:off x="6995160" y="1371600"/>
            <a:ext cx="4572000" cy="36576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Why inversion needed a new entry point</a:t>
            </a:r>
            <a:endParaRPr lang="en-US" sz="1700" dirty="0"/>
          </a:p>
        </p:txBody>
      </p:sp>
      <p:sp>
        <p:nvSpPr>
          <p:cNvPr id="6" name="Text 3"/>
          <p:cNvSpPr txBox="1"/>
          <p:nvPr/>
        </p:nvSpPr>
        <p:spPr>
          <a:xfrm>
            <a:off x="6995160" y="1828800"/>
            <a:ext cx="4526280" cy="42062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0B0B0B"/>
                </a:solidFill>
                <a:latin typeface="Calibri" pitchFamily="34" charset="0"/>
                <a:ea typeface="Calibri" pitchFamily="34" charset="-122"/>
                <a:cs typeface="Calibri" pitchFamily="34" charset="-120"/>
              </a:rPr>
              <a:t>predict() runs inside torch.inference_mode(): its tensors can never carry gradients</a:t>
            </a:r>
            <a:endParaRPr lang="en-US" sz="1400" dirty="0"/>
          </a:p>
          <a:p>
            <a:pPr marL="228600" indent="-228600">
              <a:spcAft>
                <a:spcPts val="600"/>
              </a:spcAft>
              <a:buSzPct val="100000"/>
              <a:buChar char="•"/>
            </a:pPr>
            <a:r>
              <a:rPr lang="en-US" sz="1400" dirty="0">
                <a:solidFill>
                  <a:srgbClr val="0B0B0B"/>
                </a:solidFill>
                <a:latin typeface="Calibri" pitchFamily="34" charset="0"/>
                <a:ea typeface="Calibri" pitchFamily="34" charset="-122"/>
                <a:cs typeface="Calibri" pitchFamily="34" charset="-120"/>
              </a:rPr>
              <a:t>Text is turned into speech (gTTS), re-transcribed (WhisperX) and embedded (LLaMA): non-differentiable</a:t>
            </a:r>
            <a:endParaRPr lang="en-US" sz="1400" dirty="0"/>
          </a:p>
          <a:p>
            <a:pPr marL="228600" indent="-228600">
              <a:spcAft>
                <a:spcPts val="600"/>
              </a:spcAft>
              <a:buSzPct val="100000"/>
              <a:buChar char="•"/>
            </a:pPr>
            <a:r>
              <a:rPr lang="en-US" sz="1400" dirty="0">
                <a:solidFill>
                  <a:srgbClr val="0B0B0B"/>
                </a:solidFill>
                <a:latin typeface="Calibri" pitchFamily="34" charset="0"/>
                <a:ea typeface="Calibri" pitchFamily="34" charset="-122"/>
                <a:cs typeface="Calibri" pitchFamily="34" charset="-120"/>
              </a:rPr>
              <a:t>In FmriEncoderModel.forward, aggregate_features(batch) is the only call that reads the batch</a:t>
            </a:r>
            <a:endParaRPr lang="en-US" sz="1400" dirty="0"/>
          </a:p>
          <a:p>
            <a:pPr marL="228600" indent="-228600">
              <a:spcAft>
                <a:spcPts val="600"/>
              </a:spcAft>
              <a:buSzPct val="100000"/>
              <a:buChar char="•"/>
            </a:pPr>
            <a:r>
              <a:rPr lang="en-US" sz="1400" dirty="0">
                <a:solidFill>
                  <a:srgbClr val="0B0B0B"/>
                </a:solidFill>
                <a:latin typeface="Calibri" pitchFamily="34" charset="0"/>
                <a:ea typeface="Calibri" pitchFamily="34" charset="-122"/>
                <a:cs typeface="Calibri" pitchFamily="34" charset="-120"/>
              </a:rPr>
              <a:t>We re-implement forward() from that line onward and optimise its output x directly</a:t>
            </a:r>
            <a:endParaRPr lang="en-US" sz="1400" dirty="0"/>
          </a:p>
          <a:p>
            <a:pPr marL="228600" indent="-228600">
              <a:spcAft>
                <a:spcPts val="600"/>
              </a:spcAft>
              <a:buSzPct val="100000"/>
              <a:buChar char="•"/>
            </a:pPr>
            <a:r>
              <a:rPr lang="en-US" sz="1400" dirty="0">
                <a:solidFill>
                  <a:srgbClr val="0B0B0B"/>
                </a:solidFill>
                <a:latin typeface="Calibri" pitchFamily="34" charset="0"/>
                <a:ea typeface="Calibri" pitchFamily="34" charset="-122"/>
                <a:cs typeface="Calibri" pitchFamily="34" charset="-120"/>
              </a:rPr>
              <a:t>Verified: ‖∂y/∂x‖ = 7.97 × 10³, every entry non-zero</a:t>
            </a:r>
            <a:endParaRPr lang="en-US" sz="1400" dirty="0"/>
          </a:p>
        </p:txBody>
      </p:sp>
      <p:sp>
        <p:nvSpPr>
          <p:cNvPr id="7" name="Text 4"/>
          <p:cNvSpPr txBox="1"/>
          <p:nvPr/>
        </p:nvSpPr>
        <p:spPr>
          <a:xfrm>
            <a:off x="457200" y="4160520"/>
            <a:ext cx="6035040" cy="9144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Configuration read from the checkpoint: hidden = 1152, low_rank_head = 2048, modality_dropout = 0.3, temporal_smoothing = None, linear_baseline = False.</a:t>
            </a:r>
            <a:endParaRPr lang="en-US" sz="1300" dirty="0"/>
          </a:p>
        </p:txBody>
      </p:sp>
      <p:sp>
        <p:nvSpPr>
          <p:cNvPr id="8" name="Text 5"/>
          <p:cNvSpPr txBox="1"/>
          <p:nvPr/>
        </p:nvSpPr>
        <p:spPr>
          <a:xfrm>
            <a:off x="457200" y="5120640"/>
            <a:ext cx="6035040" cy="914400"/>
          </a:xfrm>
          <a:prstGeom prst="rect">
            <a:avLst/>
          </a:prstGeom>
          <a:noFill/>
          <a:ln/>
        </p:spPr>
        <p:txBody>
          <a:bodyPr wrap="square" lIns="0" tIns="0" rIns="0" bIns="0" rtlCol="0" anchor="t"/>
          <a:lstStyle/>
          <a:p>
            <a:pPr indent="0" marL="0">
              <a:buNone/>
            </a:pPr>
            <a:r>
              <a:rPr lang="en-US" sz="1300" i="1" dirty="0">
                <a:solidFill>
                  <a:srgbClr val="52514E"/>
                </a:solidFill>
                <a:latin typeface="Calibri" pitchFamily="34" charset="0"/>
                <a:ea typeface="Calibri" pitchFamily="34" charset="-122"/>
                <a:cs typeface="Calibri" pitchFamily="34" charset="-120"/>
              </a:rPr>
              <a:t>Consequence: x is the aggregated multimodal representation, one stage after raw LLaMA embeddings. Results characterise the operator from that point onward.</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Algorithm</a:t>
            </a:r>
            <a:endParaRPr lang="en-US" sz="3000" dirty="0"/>
          </a:p>
        </p:txBody>
      </p:sp>
      <p:sp>
        <p:nvSpPr>
          <p:cNvPr id="3" name="Shape 1"/>
          <p:cNvSpPr/>
          <p:nvPr/>
        </p:nvSpPr>
        <p:spPr>
          <a:xfrm>
            <a:off x="640080" y="1280160"/>
            <a:ext cx="475488" cy="475488"/>
          </a:xfrm>
          <a:prstGeom prst="ellipse">
            <a:avLst/>
          </a:prstGeom>
          <a:solidFill>
            <a:srgbClr val="2A78D6"/>
          </a:solidFill>
          <a:ln w="12700">
            <a:solidFill>
              <a:srgbClr val="2A78D6"/>
            </a:solidFill>
            <a:prstDash val="solid"/>
          </a:ln>
        </p:spPr>
      </p:sp>
      <p:sp>
        <p:nvSpPr>
          <p:cNvPr id="4" name="Text 2"/>
          <p:cNvSpPr txBox="1"/>
          <p:nvPr/>
        </p:nvSpPr>
        <p:spPr>
          <a:xfrm>
            <a:off x="640080" y="1280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280160" y="13075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Generate ground truth x* (seeded)</a:t>
            </a:r>
            <a:endParaRPr lang="en-US" sz="1500" dirty="0"/>
          </a:p>
        </p:txBody>
      </p:sp>
      <p:sp>
        <p:nvSpPr>
          <p:cNvPr id="6" name="Shape 4"/>
          <p:cNvSpPr/>
          <p:nvPr/>
        </p:nvSpPr>
        <p:spPr>
          <a:xfrm>
            <a:off x="877824" y="1764792"/>
            <a:ext cx="914" cy="192024"/>
          </a:xfrm>
          <a:prstGeom prst="line">
            <a:avLst/>
          </a:prstGeom>
          <a:noFill/>
          <a:ln w="15875">
            <a:solidFill>
              <a:srgbClr val="D5DCE6"/>
            </a:solidFill>
            <a:prstDash val="solid"/>
            <a:tailEnd type="triangle"/>
          </a:ln>
        </p:spPr>
      </p:sp>
      <p:sp>
        <p:nvSpPr>
          <p:cNvPr id="7" name="Shape 5"/>
          <p:cNvSpPr/>
          <p:nvPr/>
        </p:nvSpPr>
        <p:spPr>
          <a:xfrm>
            <a:off x="640080" y="1965960"/>
            <a:ext cx="475488" cy="475488"/>
          </a:xfrm>
          <a:prstGeom prst="ellipse">
            <a:avLst/>
          </a:prstGeom>
          <a:solidFill>
            <a:srgbClr val="2A78D6"/>
          </a:solidFill>
          <a:ln w="12700">
            <a:solidFill>
              <a:srgbClr val="2A78D6"/>
            </a:solidFill>
            <a:prstDash val="solid"/>
          </a:ln>
        </p:spPr>
      </p:sp>
      <p:sp>
        <p:nvSpPr>
          <p:cNvPr id="8" name="Text 6"/>
          <p:cNvSpPr txBox="1"/>
          <p:nvPr/>
        </p:nvSpPr>
        <p:spPr>
          <a:xfrm>
            <a:off x="640080" y="19659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280160" y="19933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Compute target y = M ⊙ f(x*) + η</a:t>
            </a:r>
            <a:endParaRPr lang="en-US" sz="1500" dirty="0"/>
          </a:p>
        </p:txBody>
      </p:sp>
      <p:sp>
        <p:nvSpPr>
          <p:cNvPr id="10" name="Shape 8"/>
          <p:cNvSpPr/>
          <p:nvPr/>
        </p:nvSpPr>
        <p:spPr>
          <a:xfrm>
            <a:off x="877824" y="2450592"/>
            <a:ext cx="914" cy="192024"/>
          </a:xfrm>
          <a:prstGeom prst="line">
            <a:avLst/>
          </a:prstGeom>
          <a:noFill/>
          <a:ln w="15875">
            <a:solidFill>
              <a:srgbClr val="D5DCE6"/>
            </a:solidFill>
            <a:prstDash val="solid"/>
            <a:tailEnd type="triangle"/>
          </a:ln>
        </p:spPr>
      </p:sp>
      <p:sp>
        <p:nvSpPr>
          <p:cNvPr id="11" name="Shape 9"/>
          <p:cNvSpPr/>
          <p:nvPr/>
        </p:nvSpPr>
        <p:spPr>
          <a:xfrm>
            <a:off x="640080" y="2651760"/>
            <a:ext cx="475488" cy="475488"/>
          </a:xfrm>
          <a:prstGeom prst="ellipse">
            <a:avLst/>
          </a:prstGeom>
          <a:solidFill>
            <a:srgbClr val="2A78D6"/>
          </a:solidFill>
          <a:ln w="12700">
            <a:solidFill>
              <a:srgbClr val="2A78D6"/>
            </a:solidFill>
            <a:prstDash val="solid"/>
          </a:ln>
        </p:spPr>
      </p:sp>
      <p:sp>
        <p:nvSpPr>
          <p:cNvPr id="12" name="Text 10"/>
          <p:cNvSpPr txBox="1"/>
          <p:nvPr/>
        </p:nvSpPr>
        <p:spPr>
          <a:xfrm>
            <a:off x="640080" y="26517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1280160" y="26791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Initialise x₀ = 0.01·N(0, I)</a:t>
            </a:r>
            <a:endParaRPr lang="en-US" sz="1500" dirty="0"/>
          </a:p>
        </p:txBody>
      </p:sp>
      <p:sp>
        <p:nvSpPr>
          <p:cNvPr id="14" name="Shape 12"/>
          <p:cNvSpPr/>
          <p:nvPr/>
        </p:nvSpPr>
        <p:spPr>
          <a:xfrm>
            <a:off x="877824" y="3136392"/>
            <a:ext cx="914" cy="192024"/>
          </a:xfrm>
          <a:prstGeom prst="line">
            <a:avLst/>
          </a:prstGeom>
          <a:noFill/>
          <a:ln w="15875">
            <a:solidFill>
              <a:srgbClr val="D5DCE6"/>
            </a:solidFill>
            <a:prstDash val="solid"/>
            <a:tailEnd type="triangle"/>
          </a:ln>
        </p:spPr>
      </p:sp>
      <p:sp>
        <p:nvSpPr>
          <p:cNvPr id="15" name="Shape 13"/>
          <p:cNvSpPr/>
          <p:nvPr/>
        </p:nvSpPr>
        <p:spPr>
          <a:xfrm>
            <a:off x="640080" y="3337560"/>
            <a:ext cx="475488" cy="475488"/>
          </a:xfrm>
          <a:prstGeom prst="ellipse">
            <a:avLst/>
          </a:prstGeom>
          <a:solidFill>
            <a:srgbClr val="2A78D6"/>
          </a:solidFill>
          <a:ln w="12700">
            <a:solidFill>
              <a:srgbClr val="2A78D6"/>
            </a:solidFill>
            <a:prstDash val="solid"/>
          </a:ln>
        </p:spPr>
      </p:sp>
      <p:sp>
        <p:nvSpPr>
          <p:cNvPr id="16" name="Text 14"/>
          <p:cNvSpPr txBox="1"/>
          <p:nvPr/>
        </p:nvSpPr>
        <p:spPr>
          <a:xfrm>
            <a:off x="640080" y="33375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280160" y="33649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Loss L(x) = masked MSE + λR(x)</a:t>
            </a:r>
            <a:endParaRPr lang="en-US" sz="1500" dirty="0"/>
          </a:p>
        </p:txBody>
      </p:sp>
      <p:sp>
        <p:nvSpPr>
          <p:cNvPr id="18" name="Shape 16"/>
          <p:cNvSpPr/>
          <p:nvPr/>
        </p:nvSpPr>
        <p:spPr>
          <a:xfrm>
            <a:off x="877824" y="3822192"/>
            <a:ext cx="914" cy="192024"/>
          </a:xfrm>
          <a:prstGeom prst="line">
            <a:avLst/>
          </a:prstGeom>
          <a:noFill/>
          <a:ln w="15875">
            <a:solidFill>
              <a:srgbClr val="D5DCE6"/>
            </a:solidFill>
            <a:prstDash val="solid"/>
            <a:tailEnd type="triangle"/>
          </a:ln>
        </p:spPr>
      </p:sp>
      <p:sp>
        <p:nvSpPr>
          <p:cNvPr id="19" name="Shape 17"/>
          <p:cNvSpPr/>
          <p:nvPr/>
        </p:nvSpPr>
        <p:spPr>
          <a:xfrm>
            <a:off x="640080" y="4023360"/>
            <a:ext cx="475488" cy="475488"/>
          </a:xfrm>
          <a:prstGeom prst="ellipse">
            <a:avLst/>
          </a:prstGeom>
          <a:solidFill>
            <a:srgbClr val="EB6834"/>
          </a:solidFill>
          <a:ln w="12700">
            <a:solidFill>
              <a:srgbClr val="EB6834"/>
            </a:solidFill>
            <a:prstDash val="solid"/>
          </a:ln>
        </p:spPr>
      </p:sp>
      <p:sp>
        <p:nvSpPr>
          <p:cNvPr id="20" name="Text 18"/>
          <p:cNvSpPr txBox="1"/>
          <p:nvPr/>
        </p:nvSpPr>
        <p:spPr>
          <a:xfrm>
            <a:off x="640080" y="40233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1" name="Text 19"/>
          <p:cNvSpPr txBox="1"/>
          <p:nvPr/>
        </p:nvSpPr>
        <p:spPr>
          <a:xfrm>
            <a:off x="1280160" y="40507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∂L/∂x by autograd; θ frozen</a:t>
            </a:r>
            <a:endParaRPr lang="en-US" sz="1500" dirty="0"/>
          </a:p>
        </p:txBody>
      </p:sp>
      <p:sp>
        <p:nvSpPr>
          <p:cNvPr id="22" name="Shape 20"/>
          <p:cNvSpPr/>
          <p:nvPr/>
        </p:nvSpPr>
        <p:spPr>
          <a:xfrm>
            <a:off x="877824" y="4507992"/>
            <a:ext cx="914" cy="192024"/>
          </a:xfrm>
          <a:prstGeom prst="line">
            <a:avLst/>
          </a:prstGeom>
          <a:noFill/>
          <a:ln w="15875">
            <a:solidFill>
              <a:srgbClr val="D5DCE6"/>
            </a:solidFill>
            <a:prstDash val="solid"/>
            <a:tailEnd type="triangle"/>
          </a:ln>
        </p:spPr>
      </p:sp>
      <p:sp>
        <p:nvSpPr>
          <p:cNvPr id="23" name="Shape 21"/>
          <p:cNvSpPr/>
          <p:nvPr/>
        </p:nvSpPr>
        <p:spPr>
          <a:xfrm>
            <a:off x="640080" y="4709160"/>
            <a:ext cx="475488" cy="475488"/>
          </a:xfrm>
          <a:prstGeom prst="ellipse">
            <a:avLst/>
          </a:prstGeom>
          <a:solidFill>
            <a:srgbClr val="EB6834"/>
          </a:solidFill>
          <a:ln w="12700">
            <a:solidFill>
              <a:srgbClr val="EB6834"/>
            </a:solidFill>
            <a:prstDash val="solid"/>
          </a:ln>
        </p:spPr>
      </p:sp>
      <p:sp>
        <p:nvSpPr>
          <p:cNvPr id="24" name="Text 22"/>
          <p:cNvSpPr txBox="1"/>
          <p:nvPr/>
        </p:nvSpPr>
        <p:spPr>
          <a:xfrm>
            <a:off x="640080" y="47091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5" name="Text 23"/>
          <p:cNvSpPr txBox="1"/>
          <p:nvPr/>
        </p:nvSpPr>
        <p:spPr>
          <a:xfrm>
            <a:off x="1280160" y="47365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Adam update, cosine-annealed lr</a:t>
            </a:r>
            <a:endParaRPr lang="en-US" sz="1500" dirty="0"/>
          </a:p>
        </p:txBody>
      </p:sp>
      <p:sp>
        <p:nvSpPr>
          <p:cNvPr id="26" name="Shape 24"/>
          <p:cNvSpPr/>
          <p:nvPr/>
        </p:nvSpPr>
        <p:spPr>
          <a:xfrm>
            <a:off x="877824" y="5193792"/>
            <a:ext cx="914" cy="192024"/>
          </a:xfrm>
          <a:prstGeom prst="line">
            <a:avLst/>
          </a:prstGeom>
          <a:noFill/>
          <a:ln w="15875">
            <a:solidFill>
              <a:srgbClr val="D5DCE6"/>
            </a:solidFill>
            <a:prstDash val="solid"/>
            <a:tailEnd type="triangle"/>
          </a:ln>
        </p:spPr>
      </p:sp>
      <p:sp>
        <p:nvSpPr>
          <p:cNvPr id="27" name="Shape 25"/>
          <p:cNvSpPr/>
          <p:nvPr/>
        </p:nvSpPr>
        <p:spPr>
          <a:xfrm>
            <a:off x="640080" y="5394960"/>
            <a:ext cx="475488" cy="475488"/>
          </a:xfrm>
          <a:prstGeom prst="ellipse">
            <a:avLst/>
          </a:prstGeom>
          <a:solidFill>
            <a:srgbClr val="2A78D6"/>
          </a:solidFill>
          <a:ln w="12700">
            <a:solidFill>
              <a:srgbClr val="2A78D6"/>
            </a:solidFill>
            <a:prstDash val="solid"/>
          </a:ln>
        </p:spPr>
      </p:sp>
      <p:sp>
        <p:nvSpPr>
          <p:cNvPr id="28" name="Text 26"/>
          <p:cNvSpPr txBox="1"/>
          <p:nvPr/>
        </p:nvSpPr>
        <p:spPr>
          <a:xfrm>
            <a:off x="640080" y="53949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9" name="Text 27"/>
          <p:cNvSpPr txBox="1"/>
          <p:nvPr/>
        </p:nvSpPr>
        <p:spPr>
          <a:xfrm>
            <a:off x="1280160" y="5422392"/>
            <a:ext cx="4480560" cy="45720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Score x̂ against x*; log to results.json</a:t>
            </a:r>
            <a:endParaRPr lang="en-US" sz="1500" dirty="0"/>
          </a:p>
        </p:txBody>
      </p:sp>
      <p:sp>
        <p:nvSpPr>
          <p:cNvPr id="30" name="card"/>
          <p:cNvSpPr/>
          <p:nvPr/>
        </p:nvSpPr>
        <p:spPr>
          <a:xfrm>
            <a:off x="6035040" y="1234440"/>
            <a:ext cx="5669280" cy="4983480"/>
          </a:xfrm>
          <a:prstGeom prst="roundRect">
            <a:avLst>
              <a:gd name="adj" fmla="val 1468"/>
            </a:avLst>
          </a:prstGeom>
          <a:solidFill>
            <a:srgbClr val="F3F4F6"/>
          </a:solidFill>
          <a:ln w="12700">
            <a:solidFill>
              <a:srgbClr val="F3F4F6"/>
            </a:solidFill>
            <a:prstDash val="solid"/>
          </a:ln>
        </p:spPr>
      </p:sp>
      <p:sp>
        <p:nvSpPr>
          <p:cNvPr id="31" name="Text 29"/>
          <p:cNvSpPr txBox="1"/>
          <p:nvPr/>
        </p:nvSpPr>
        <p:spPr>
          <a:xfrm>
            <a:off x="6263640" y="1417320"/>
            <a:ext cx="5303520" cy="4663440"/>
          </a:xfrm>
          <a:prstGeom prst="rect">
            <a:avLst/>
          </a:prstGeom>
          <a:noFill/>
          <a:ln/>
        </p:spPr>
        <p:txBody>
          <a:bodyPr wrap="square" lIns="0" tIns="0" rIns="0" bIns="0" rtlCol="0" anchor="t"/>
          <a:lstStyle/>
          <a:p>
            <a:pPr indent="0" marL="0">
              <a:buNone/>
            </a:pPr>
            <a:r>
              <a:rPr lang="en-US" sz="1300" dirty="0">
                <a:solidFill>
                  <a:srgbClr val="0B0B0B"/>
                </a:solidFill>
                <a:latin typeface="Courier New" pitchFamily="34" charset="0"/>
                <a:ea typeface="Courier New" pitchFamily="34" charset="-122"/>
                <a:cs typeface="Courier New" pitchFamily="34" charset="-120"/>
              </a:rPr>
              <a:t>x = 0.01 * randn(1, 32, 1152)        # seed 999</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x.requires_grad_(True)</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opt   = Adam([x], lr=5e-2)</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sched = CosineAnnealingLR(opt, T_max=steps)</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for i in range(steps):</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opt.zero_grad()</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pred = forward_from_x(x)      # frozen θ</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loss = mse(pred[:, mask], y)</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loss = loss + lam * R(x)</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loss.backward()               # ∂L/∂x</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    opt.step(); sched.step()</a:t>
            </a:r>
            <a:endParaRPr lang="en-US" sz="1300" dirty="0"/>
          </a:p>
          <a:p>
            <a:pPr indent="0" marL="0">
              <a:buNone/>
            </a:pPr>
            <a:r>
              <a:rPr lang="en-US" sz="1300" dirty="0">
                <a:solidFill>
                  <a:srgbClr val="0B0B0B"/>
                </a:solidFill>
                <a:latin typeface="Courier New" pitchFamily="34" charset="0"/>
                <a:ea typeface="Courier New" pitchFamily="34" charset="-122"/>
                <a:cs typeface="Courier New" pitchFamily="34" charset="-120"/>
              </a:rPr>
              <a:t>score(x, x_true)  →  results.json</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Implementation: tools, platform and status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766560" cy="914400"/>
        </p:xfrm>
        <a:graphic>
          <a:graphicData uri="http://schemas.openxmlformats.org/drawingml/2006/table">
            <a:tbl>
              <a:tblPr/>
              <a:tblGrid>
                <a:gridCol w="2011680"/>
                <a:gridCol w="475488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TRIBE v2 (open weights, CC BY-NC 4.0), PyTorch, x-transformers, neuralset / neuraltrain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Features (reference path)</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LLaMA-3.2-3B (gated, access granted), Wav2Vec-BERT 2.0, V-JEPA2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Compute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Google Colab T4 GPU (16 GB); CPU replication (2 cores) for the regional analysis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Neuroimaging</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Nilearn, fsaverage5 surface, Destrieux atlas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Analysis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NumPy, SciPy, Matplotlib; results.json checkpointed to Google Drive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7498080" y="1234440"/>
            <a:ext cx="4206240" cy="4983480"/>
          </a:xfrm>
          <a:prstGeom prst="roundRect">
            <a:avLst>
              <a:gd name="adj" fmla="val 1739"/>
            </a:avLst>
          </a:prstGeom>
          <a:solidFill>
            <a:srgbClr val="EEF3F9"/>
          </a:solidFill>
          <a:ln w="12700">
            <a:solidFill>
              <a:srgbClr val="EEF3F9"/>
            </a:solidFill>
            <a:prstDash val="solid"/>
          </a:ln>
        </p:spPr>
      </p:sp>
      <p:sp>
        <p:nvSpPr>
          <p:cNvPr id="5" name="Text 2"/>
          <p:cNvSpPr txBox="1"/>
          <p:nvPr/>
        </p:nvSpPr>
        <p:spPr>
          <a:xfrm>
            <a:off x="7726680" y="1371600"/>
            <a:ext cx="3840480" cy="36576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Engineering problems solved</a:t>
            </a:r>
            <a:endParaRPr lang="en-US" sz="1700" dirty="0"/>
          </a:p>
        </p:txBody>
      </p:sp>
      <p:sp>
        <p:nvSpPr>
          <p:cNvPr id="6" name="Text 3"/>
          <p:cNvSpPr txBox="1"/>
          <p:nvPr/>
        </p:nvSpPr>
        <p:spPr>
          <a:xfrm>
            <a:off x="7726680" y="1828800"/>
            <a:ext cx="3794760" cy="4297680"/>
          </a:xfrm>
          <a:prstGeom prst="rect">
            <a:avLst/>
          </a:prstGeom>
          <a:noFill/>
          <a:ln/>
        </p:spPr>
        <p:txBody>
          <a:bodyPr wrap="square" lIns="0" tIns="0" rIns="0" bIns="0" rtlCol="0" anchor="t"/>
          <a:lstStyle/>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numpy ABI mismatch after install: pinned numpy &lt; 2.1</a:t>
            </a:r>
            <a:endParaRPr lang="en-US" sz="1350" dirty="0"/>
          </a:p>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Package shadowed by repo folder: sys.path fix</a:t>
            </a:r>
            <a:endParaRPr lang="en-US" sz="1350" dirty="0"/>
          </a:p>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WhisperX missing punkt_tab: NLTK data path</a:t>
            </a:r>
            <a:endParaRPr lang="en-US" sz="1350" dirty="0"/>
          </a:p>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torchaudio ABI break: bypassed entirely via the boundary</a:t>
            </a:r>
            <a:endParaRPr lang="en-US" sz="1350" dirty="0"/>
          </a:p>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Runtime resets wiped results: per-condition checkpoints + Drive</a:t>
            </a:r>
            <a:endParaRPr lang="en-US" sz="1350" dirty="0"/>
          </a:p>
          <a:p>
            <a:pPr marL="228600" indent="-228600">
              <a:spcAft>
                <a:spcPts val="600"/>
              </a:spcAft>
              <a:buSzPct val="100000"/>
              <a:buChar char="•"/>
            </a:pPr>
            <a:r>
              <a:rPr lang="en-US" sz="1350" dirty="0">
                <a:solidFill>
                  <a:srgbClr val="0B0B0B"/>
                </a:solidFill>
                <a:latin typeface="Calibri" pitchFamily="34" charset="0"/>
                <a:ea typeface="Calibri" pitchFamily="34" charset="-122"/>
                <a:cs typeface="Calibri" pitchFamily="34" charset="-120"/>
              </a:rPr>
              <a:t>Free-GPU quota: experiments staged and resumable</a:t>
            </a:r>
            <a:endParaRPr lang="en-US" sz="1350" dirty="0"/>
          </a:p>
        </p:txBody>
      </p:sp>
      <p:sp>
        <p:nvSpPr>
          <p:cNvPr id="7" name="Text 4"/>
          <p:cNvSpPr txBox="1"/>
          <p:nvPr/>
        </p:nvSpPr>
        <p:spPr>
          <a:xfrm>
            <a:off x="457200" y="4480560"/>
            <a:ext cx="6766560" cy="822960"/>
          </a:xfrm>
          <a:prstGeom prst="rect">
            <a:avLst/>
          </a:prstGeom>
          <a:noFill/>
          <a:ln/>
        </p:spPr>
        <p:txBody>
          <a:bodyPr wrap="square" lIns="0" tIns="0" rIns="0" bIns="0" rtlCol="0" anchor="t"/>
          <a:lstStyle/>
          <a:p>
            <a:pPr indent="0" marL="0">
              <a:buNone/>
            </a:pPr>
            <a:r>
              <a:rPr lang="en-US" sz="1400" b="1" dirty="0">
                <a:solidFill>
                  <a:srgbClr val="1BAF7A"/>
                </a:solidFill>
                <a:latin typeface="Calibri" pitchFamily="34" charset="0"/>
                <a:ea typeface="Calibri" pitchFamily="34" charset="-122"/>
                <a:cs typeface="Calibri" pitchFamily="34" charset="-120"/>
              </a:rPr>
              <a:t>Development status:  pipeline complete and reproducible  ·  26 stages logged  ·  all figures generated from logged numbers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4  ·  Preliminary results</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Screenshots, outputs and tabulated measurements from the core characterisation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Evidence: the inverse is computable</a:t>
            </a:r>
            <a:endParaRPr lang="en-US" sz="3000" dirty="0"/>
          </a:p>
        </p:txBody>
      </p:sp>
      <p:pic>
        <p:nvPicPr>
          <p:cNvPr id="3" name="Image 0" descr="/home/claude/work/deck/assets/shot_gradient.png">    </p:cNvPr>
          <p:cNvPicPr>
            <a:picLocks noChangeAspect="1"/>
          </p:cNvPicPr>
          <p:nvPr/>
        </p:nvPicPr>
        <p:blipFill>
          <a:blip r:embed="rId1"/>
          <a:stretch>
            <a:fillRect/>
          </a:stretch>
        </p:blipFill>
        <p:spPr>
          <a:xfrm>
            <a:off x="457200" y="1420196"/>
            <a:ext cx="4754880" cy="3011768"/>
          </a:xfrm>
          <a:prstGeom prst="rect">
            <a:avLst/>
          </a:prstGeom>
        </p:spPr>
      </p:pic>
      <p:sp>
        <p:nvSpPr>
          <p:cNvPr id="4" name="Text 1"/>
          <p:cNvSpPr txBox="1"/>
          <p:nvPr/>
        </p:nvSpPr>
        <p:spPr>
          <a:xfrm>
            <a:off x="457200" y="4523404"/>
            <a:ext cx="4937760" cy="320040"/>
          </a:xfrm>
          <a:prstGeom prst="rect">
            <a:avLst/>
          </a:prstGeom>
          <a:noFill/>
          <a:ln/>
        </p:spPr>
        <p:txBody>
          <a:bodyPr wrap="square" lIns="0" tIns="0" rIns="0" bIns="0" rtlCol="0" anchor="t"/>
          <a:lstStyle/>
          <a:p>
            <a:pPr indent="0" marL="0">
              <a:buNone/>
            </a:pPr>
            <a:r>
              <a:rPr lang="en-US" sz="1100" i="1" dirty="0">
                <a:solidFill>
                  <a:srgbClr val="8A8984"/>
                </a:solidFill>
                <a:latin typeface="Calibri" pitchFamily="34" charset="0"/>
                <a:ea typeface="Calibri" pitchFamily="34" charset="-122"/>
                <a:cs typeface="Calibri" pitchFamily="34" charset="-120"/>
              </a:rPr>
              <a:t>Colab output: gradient reaches the input (norm 7 972.6); first 500-step inversion</a:t>
            </a:r>
            <a:endParaRPr lang="en-US" sz="1100" dirty="0"/>
          </a:p>
        </p:txBody>
      </p:sp>
      <p:pic>
        <p:nvPicPr>
          <p:cNvPr id="5" name="Image 1" descr="/home/claude/work/deck/assets/shot_stage2.png">    </p:cNvPr>
          <p:cNvPicPr>
            <a:picLocks noChangeAspect="1"/>
          </p:cNvPicPr>
          <p:nvPr/>
        </p:nvPicPr>
        <p:blipFill>
          <a:blip r:embed="rId2"/>
          <a:stretch>
            <a:fillRect/>
          </a:stretch>
        </p:blipFill>
        <p:spPr>
          <a:xfrm>
            <a:off x="5486400" y="1412507"/>
            <a:ext cx="6217920" cy="3027145"/>
          </a:xfrm>
          <a:prstGeom prst="rect">
            <a:avLst/>
          </a:prstGeom>
        </p:spPr>
      </p:pic>
      <p:sp>
        <p:nvSpPr>
          <p:cNvPr id="6" name="Text 2"/>
          <p:cNvSpPr txBox="1"/>
          <p:nvPr/>
        </p:nvSpPr>
        <p:spPr>
          <a:xfrm>
            <a:off x="5486400" y="4531093"/>
            <a:ext cx="6217920" cy="320040"/>
          </a:xfrm>
          <a:prstGeom prst="rect">
            <a:avLst/>
          </a:prstGeom>
          <a:noFill/>
          <a:ln/>
        </p:spPr>
        <p:txBody>
          <a:bodyPr wrap="square" lIns="0" tIns="0" rIns="0" bIns="0" rtlCol="0" anchor="t"/>
          <a:lstStyle/>
          <a:p>
            <a:pPr indent="0" marL="0">
              <a:buNone/>
            </a:pPr>
            <a:r>
              <a:rPr lang="en-US" sz="1100" i="1" dirty="0">
                <a:solidFill>
                  <a:srgbClr val="8A8984"/>
                </a:solidFill>
                <a:latin typeface="Calibri" pitchFamily="34" charset="0"/>
                <a:ea typeface="Calibri" pitchFamily="34" charset="-122"/>
                <a:cs typeface="Calibri" pitchFamily="34" charset="-120"/>
              </a:rPr>
              <a:t>Colab output: Stage 2 dissociation run (encoding error vs recovery)</a:t>
            </a:r>
            <a:endParaRPr lang="en-US" sz="1100" dirty="0"/>
          </a:p>
        </p:txBody>
      </p:sp>
      <p:sp>
        <p:nvSpPr>
          <p:cNvPr id="7" name="card"/>
          <p:cNvSpPr/>
          <p:nvPr/>
        </p:nvSpPr>
        <p:spPr>
          <a:xfrm>
            <a:off x="457200" y="5257800"/>
            <a:ext cx="11247120" cy="960120"/>
          </a:xfrm>
          <a:prstGeom prst="roundRect">
            <a:avLst>
              <a:gd name="adj" fmla="val 7619"/>
            </a:avLst>
          </a:prstGeom>
          <a:solidFill>
            <a:srgbClr val="EEF3F9"/>
          </a:solidFill>
          <a:ln w="12700">
            <a:solidFill>
              <a:srgbClr val="EEF3F9"/>
            </a:solidFill>
            <a:prstDash val="solid"/>
          </a:ln>
        </p:spPr>
      </p:sp>
      <p:sp>
        <p:nvSpPr>
          <p:cNvPr id="8" name="Text 4"/>
          <p:cNvSpPr txBox="1"/>
          <p:nvPr/>
        </p:nvSpPr>
        <p:spPr>
          <a:xfrm>
            <a:off x="685800" y="5321808"/>
            <a:ext cx="10789920" cy="82296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Output shape (1, 20 484, 100) confirms we drive the real network: 20 484 fsaverage5 vertices over 100 pooled time points. The verdict line is the make-or-break test for the whole project.</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Demonstration: a live inversion</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88720"/>
            <a:ext cx="7799832" cy="4389120"/>
          </a:xfrm>
          <a:prstGeom prst="rect">
            <a:avLst/>
          </a:prstGeom>
        </p:spPr>
      </p:pic>
      <p:sp>
        <p:nvSpPr>
          <p:cNvPr id="4" name="card"/>
          <p:cNvSpPr/>
          <p:nvPr/>
        </p:nvSpPr>
        <p:spPr>
          <a:xfrm>
            <a:off x="8503920" y="1188720"/>
            <a:ext cx="3200400" cy="4389120"/>
          </a:xfrm>
          <a:prstGeom prst="roundRect">
            <a:avLst>
              <a:gd name="adj" fmla="val 2286"/>
            </a:avLst>
          </a:prstGeom>
          <a:solidFill>
            <a:srgbClr val="EEF3F9"/>
          </a:solidFill>
          <a:ln w="12700">
            <a:solidFill>
              <a:srgbClr val="EEF3F9"/>
            </a:solidFill>
            <a:prstDash val="solid"/>
          </a:ln>
        </p:spPr>
      </p:sp>
      <p:sp>
        <p:nvSpPr>
          <p:cNvPr id="5" name="Text 2"/>
          <p:cNvSpPr txBox="1"/>
          <p:nvPr/>
        </p:nvSpPr>
        <p:spPr>
          <a:xfrm>
            <a:off x="8686800" y="1325880"/>
            <a:ext cx="2880360" cy="416052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What to watch</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Bottom right: the target BOLD and the BOLD predicted from the recovered representation become almost identical within a few hundred steps.</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Top left: the representation itself is still only about half recovered (cosine 0.52 at 2 400 steps).</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B0B0B"/>
                </a:solidFill>
                <a:latin typeface="Calibri" pitchFamily="34" charset="0"/>
                <a:ea typeface="Calibri" pitchFamily="34" charset="-122"/>
                <a:cs typeface="Calibri" pitchFamily="34" charset="-120"/>
              </a:rPr>
              <a:t>That gap is the dissociation, visible in real time.</a:t>
            </a:r>
            <a:endParaRPr lang="en-US" sz="1400" dirty="0"/>
          </a:p>
        </p:txBody>
      </p:sp>
      <p:sp>
        <p:nvSpPr>
          <p:cNvPr id="6" name="Text 3"/>
          <p:cNvSpPr txBox="1"/>
          <p:nvPr/>
        </p:nvSpPr>
        <p:spPr>
          <a:xfrm>
            <a:off x="457200" y="5669280"/>
            <a:ext cx="11247120" cy="320040"/>
          </a:xfrm>
          <a:prstGeom prst="rect">
            <a:avLst/>
          </a:prstGeom>
          <a:noFill/>
          <a:ln/>
        </p:spPr>
        <p:txBody>
          <a:bodyPr wrap="square" lIns="0" tIns="0" rIns="0" bIns="0" rtlCol="0" anchor="t"/>
          <a:lstStyle/>
          <a:p>
            <a:pPr indent="0" marL="0">
              <a:buNone/>
            </a:pPr>
            <a:r>
              <a:rPr lang="en-US" sz="1100" i="1" dirty="0">
                <a:solidFill>
                  <a:srgbClr val="8A8984"/>
                </a:solidFill>
                <a:latin typeface="Calibri" pitchFamily="34" charset="0"/>
                <a:ea typeface="Calibri" pitchFamily="34" charset="-122"/>
                <a:cs typeface="Calibri" pitchFamily="34" charset="-120"/>
              </a:rPr>
              <a:t>Recorded run through frozen TRIBE v2 (CPU, whole cortex, 2 400 steps). Every frame is drawn from logged values.</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Our first result was wrong, and we caught it</a:t>
            </a:r>
            <a:endParaRPr lang="en-US" sz="3000" dirty="0"/>
          </a:p>
        </p:txBody>
      </p:sp>
      <p:pic>
        <p:nvPicPr>
          <p:cNvPr id="3" name="Image 0" descr="/home/claude/work/deck/assets_deck/fig_first_vs_converged.png">    </p:cNvPr>
          <p:cNvPicPr>
            <a:picLocks noChangeAspect="1"/>
          </p:cNvPicPr>
          <p:nvPr/>
        </p:nvPicPr>
        <p:blipFill>
          <a:blip r:embed="rId1"/>
          <a:stretch>
            <a:fillRect/>
          </a:stretch>
        </p:blipFill>
        <p:spPr>
          <a:xfrm>
            <a:off x="457200" y="1405890"/>
            <a:ext cx="5120640" cy="3680460"/>
          </a:xfrm>
          <a:prstGeom prst="rect">
            <a:avLst/>
          </a:prstGeom>
        </p:spPr>
      </p:pic>
      <p:pic>
        <p:nvPicPr>
          <p:cNvPr id="4" name="Image 1" descr="/home/claude/work/deck/assets/shot_early_sweeps.png">    </p:cNvPr>
          <p:cNvPicPr>
            <a:picLocks noChangeAspect="1"/>
          </p:cNvPicPr>
          <p:nvPr/>
        </p:nvPicPr>
        <p:blipFill>
          <a:blip r:embed="rId2"/>
          <a:stretch>
            <a:fillRect/>
          </a:stretch>
        </p:blipFill>
        <p:spPr>
          <a:xfrm>
            <a:off x="5852160" y="1428822"/>
            <a:ext cx="2743200" cy="3634596"/>
          </a:xfrm>
          <a:prstGeom prst="rect">
            <a:avLst/>
          </a:prstGeom>
        </p:spPr>
      </p:pic>
      <p:sp>
        <p:nvSpPr>
          <p:cNvPr id="5" name="Text 1"/>
          <p:cNvSpPr txBox="1"/>
          <p:nvPr/>
        </p:nvSpPr>
        <p:spPr>
          <a:xfrm>
            <a:off x="5669280" y="5136570"/>
            <a:ext cx="3291840" cy="320040"/>
          </a:xfrm>
          <a:prstGeom prst="rect">
            <a:avLst/>
          </a:prstGeom>
          <a:noFill/>
          <a:ln/>
        </p:spPr>
        <p:txBody>
          <a:bodyPr wrap="square" lIns="0" tIns="0" rIns="0" bIns="0" rtlCol="0" anchor="t"/>
          <a:lstStyle/>
          <a:p>
            <a:pPr indent="0" marL="0">
              <a:buNone/>
            </a:pPr>
            <a:r>
              <a:rPr lang="en-US" sz="1100" i="1" dirty="0">
                <a:solidFill>
                  <a:srgbClr val="8A8984"/>
                </a:solidFill>
                <a:latin typeface="Calibri" pitchFamily="34" charset="0"/>
                <a:ea typeface="Calibri" pitchFamily="34" charset="-122"/>
                <a:cs typeface="Calibri" pitchFamily="34" charset="-120"/>
              </a:rPr>
              <a:t>Early 1 500-step sweeps: everything stuck near 0.35</a:t>
            </a:r>
            <a:endParaRPr lang="en-US" sz="1100" dirty="0"/>
          </a:p>
        </p:txBody>
      </p:sp>
      <p:sp>
        <p:nvSpPr>
          <p:cNvPr id="6" name="card"/>
          <p:cNvSpPr/>
          <p:nvPr/>
        </p:nvSpPr>
        <p:spPr>
          <a:xfrm>
            <a:off x="8869680" y="1234440"/>
            <a:ext cx="2834640" cy="4023360"/>
          </a:xfrm>
          <a:prstGeom prst="roundRect">
            <a:avLst>
              <a:gd name="adj" fmla="val 2581"/>
            </a:avLst>
          </a:prstGeom>
          <a:solidFill>
            <a:srgbClr val="FCE4D9"/>
          </a:solidFill>
          <a:ln w="12700">
            <a:solidFill>
              <a:srgbClr val="FCE4D9"/>
            </a:solidFill>
            <a:prstDash val="solid"/>
          </a:ln>
        </p:spPr>
      </p:sp>
      <p:sp>
        <p:nvSpPr>
          <p:cNvPr id="7" name="Text 3"/>
          <p:cNvSpPr txBox="1"/>
          <p:nvPr/>
        </p:nvSpPr>
        <p:spPr>
          <a:xfrm>
            <a:off x="9052560" y="1371600"/>
            <a:ext cx="2514600" cy="3840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Diagnosis</a:t>
            </a:r>
            <a:endParaRPr lang="en-US" sz="1350" dirty="0"/>
          </a:p>
          <a:p>
            <a:pPr indent="0" marL="0">
              <a:buNone/>
            </a:pPr>
            <a:r>
              <a:rPr lang="en-US" sz="1350" dirty="0">
                <a:solidFill>
                  <a:srgbClr val="0B0B0B"/>
                </a:solidFill>
                <a:latin typeface="Calibri" pitchFamily="34" charset="0"/>
                <a:ea typeface="Calibri" pitchFamily="34" charset="-122"/>
                <a:cs typeface="Calibri" pitchFamily="34" charset="-120"/>
              </a:rPr>
              <a:t>At 500 steps cosine was 0.238 and every condition looked flat. Recovery was still climbing: we were measuring the optimiser, not the operator.</a:t>
            </a:r>
            <a:endParaRPr lang="en-US" sz="1350" dirty="0"/>
          </a:p>
          <a:p>
            <a:pPr indent="0" marL="0">
              <a:buNone/>
            </a:pPr>
            <a:r>
              <a:rPr lang="en-US" sz="1350" dirty="0">
                <a:solidFill>
                  <a:srgbClr val="0B0B0B"/>
                </a:solidFill>
                <a:latin typeface="Calibri" pitchFamily="34" charset="0"/>
                <a:ea typeface="Calibri" pitchFamily="34" charset="-122"/>
                <a:cs typeface="Calibri" pitchFamily="34" charset="-120"/>
              </a:rPr>
              <a:t> </a:t>
            </a:r>
            <a:endParaRPr lang="en-US" sz="1350" dirty="0"/>
          </a:p>
          <a:p>
            <a:pPr indent="0" marL="0">
              <a:buNone/>
            </a:pPr>
            <a:r>
              <a:rPr lang="en-US" sz="1600" b="1" dirty="0">
                <a:solidFill>
                  <a:srgbClr val="13243B"/>
                </a:solidFill>
                <a:latin typeface="Calibri" pitchFamily="34" charset="0"/>
                <a:ea typeface="Calibri" pitchFamily="34" charset="-122"/>
                <a:cs typeface="Calibri" pitchFamily="34" charset="-120"/>
              </a:rPr>
              <a:t>Fix</a:t>
            </a:r>
            <a:endParaRPr lang="en-US" sz="1350" dirty="0"/>
          </a:p>
          <a:p>
            <a:pPr indent="0" marL="0">
              <a:buNone/>
            </a:pPr>
            <a:r>
              <a:rPr lang="en-US" sz="1350" dirty="0">
                <a:solidFill>
                  <a:srgbClr val="0B0B0B"/>
                </a:solidFill>
                <a:latin typeface="Calibri" pitchFamily="34" charset="0"/>
                <a:ea typeface="Calibri" pitchFamily="34" charset="-122"/>
                <a:cs typeface="Calibri" pitchFamily="34" charset="-120"/>
              </a:rPr>
              <a:t>Find convergence first, then run every condition at a converged budget.</a:t>
            </a:r>
            <a:endParaRPr lang="en-US" sz="1350" dirty="0"/>
          </a:p>
        </p:txBody>
      </p:sp>
      <p:sp>
        <p:nvSpPr>
          <p:cNvPr id="8" name="Text 4"/>
          <p:cNvSpPr txBox="1"/>
          <p:nvPr/>
        </p:nvSpPr>
        <p:spPr>
          <a:xfrm>
            <a:off x="457200" y="5577840"/>
            <a:ext cx="11247120" cy="548640"/>
          </a:xfrm>
          <a:prstGeom prst="rect">
            <a:avLst/>
          </a:prstGeom>
          <a:noFill/>
          <a:ln/>
        </p:spPr>
        <p:txBody>
          <a:bodyPr wrap="square" lIns="0" tIns="0" rIns="0" bIns="0" rtlCol="0" anchor="t"/>
          <a:lstStyle/>
          <a:p>
            <a:pPr indent="0" marL="0">
              <a:buNone/>
            </a:pPr>
            <a:r>
              <a:rPr lang="en-US" sz="1500" b="1" dirty="0">
                <a:solidFill>
                  <a:srgbClr val="13243B"/>
                </a:solidFill>
                <a:latin typeface="Calibri" pitchFamily="34" charset="0"/>
                <a:ea typeface="Calibri" pitchFamily="34" charset="-122"/>
                <a:cs typeface="Calibri" pitchFamily="34" charset="-120"/>
              </a:rPr>
              <a:t>Lesson built into the method: no claim about the operator is accepted until the optimiser has converged.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Encoding accuracy does not predict decoding</a:t>
            </a:r>
            <a:endParaRPr lang="en-US" sz="3000" dirty="0"/>
          </a:p>
        </p:txBody>
      </p:sp>
      <p:pic>
        <p:nvPicPr>
          <p:cNvPr id="3" name="Image 0" descr="/home/claude/work/deck/assets_deck/fig_dissociation.png">    </p:cNvPr>
          <p:cNvPicPr>
            <a:picLocks noChangeAspect="1"/>
          </p:cNvPicPr>
          <p:nvPr/>
        </p:nvPicPr>
        <p:blipFill>
          <a:blip r:embed="rId1"/>
          <a:stretch>
            <a:fillRect/>
          </a:stretch>
        </p:blipFill>
        <p:spPr>
          <a:xfrm>
            <a:off x="365760" y="1519393"/>
            <a:ext cx="7223760" cy="4367855"/>
          </a:xfrm>
          <a:prstGeom prst="rect">
            <a:avLst/>
          </a:prstGeom>
        </p:spPr>
      </p:pic>
      <p:sp>
        <p:nvSpPr>
          <p:cNvPr id="4" name="Text 1"/>
          <p:cNvSpPr txBox="1"/>
          <p:nvPr/>
        </p:nvSpPr>
        <p:spPr>
          <a:xfrm>
            <a:off x="7863840" y="1280160"/>
            <a:ext cx="3840480" cy="731520"/>
          </a:xfrm>
          <a:prstGeom prst="rect">
            <a:avLst/>
          </a:prstGeom>
          <a:noFill/>
          <a:ln/>
        </p:spPr>
        <p:txBody>
          <a:bodyPr wrap="square" lIns="0" tIns="0" rIns="0" bIns="0" rtlCol="0" anchor="b"/>
          <a:lstStyle/>
          <a:p>
            <a:pPr indent="0" marL="0">
              <a:buNone/>
            </a:pPr>
            <a:r>
              <a:rPr lang="en-US" sz="4400" b="1" dirty="0">
                <a:solidFill>
                  <a:srgbClr val="2A78D6"/>
                </a:solidFill>
                <a:latin typeface="Cambria" pitchFamily="34" charset="0"/>
                <a:ea typeface="Cambria" pitchFamily="34" charset="-122"/>
                <a:cs typeface="Cambria" pitchFamily="34" charset="-120"/>
              </a:rPr>
              <a:t>28.4×</a:t>
            </a:r>
            <a:endParaRPr lang="en-US" sz="4400" dirty="0"/>
          </a:p>
        </p:txBody>
      </p:sp>
      <p:sp>
        <p:nvSpPr>
          <p:cNvPr id="5" name="Text 2"/>
          <p:cNvSpPr txBox="1"/>
          <p:nvPr/>
        </p:nvSpPr>
        <p:spPr>
          <a:xfrm>
            <a:off x="7863840" y="2057400"/>
            <a:ext cx="3840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reduction in encoding error, 250 → 32 000 steps</a:t>
            </a:r>
            <a:endParaRPr lang="en-US" sz="1300" dirty="0"/>
          </a:p>
        </p:txBody>
      </p:sp>
      <p:sp>
        <p:nvSpPr>
          <p:cNvPr id="6" name="Text 3"/>
          <p:cNvSpPr txBox="1"/>
          <p:nvPr/>
        </p:nvSpPr>
        <p:spPr>
          <a:xfrm>
            <a:off x="7863840" y="2788920"/>
            <a:ext cx="3840480" cy="731520"/>
          </a:xfrm>
          <a:prstGeom prst="rect">
            <a:avLst/>
          </a:prstGeom>
          <a:noFill/>
          <a:ln/>
        </p:spPr>
        <p:txBody>
          <a:bodyPr wrap="square" lIns="0" tIns="0" rIns="0" bIns="0" rtlCol="0" anchor="b"/>
          <a:lstStyle/>
          <a:p>
            <a:pPr indent="0" marL="0">
              <a:buNone/>
            </a:pPr>
            <a:r>
              <a:rPr lang="en-US" sz="4400" b="1" dirty="0">
                <a:solidFill>
                  <a:srgbClr val="EB6834"/>
                </a:solidFill>
                <a:latin typeface="Cambria" pitchFamily="34" charset="0"/>
                <a:ea typeface="Cambria" pitchFamily="34" charset="-122"/>
                <a:cs typeface="Cambria" pitchFamily="34" charset="-120"/>
              </a:rPr>
              <a:t>+0.015</a:t>
            </a:r>
            <a:endParaRPr lang="en-US" sz="4400" dirty="0"/>
          </a:p>
        </p:txBody>
      </p:sp>
      <p:sp>
        <p:nvSpPr>
          <p:cNvPr id="7" name="Text 4"/>
          <p:cNvSpPr txBox="1"/>
          <p:nvPr/>
        </p:nvSpPr>
        <p:spPr>
          <a:xfrm>
            <a:off x="7863840" y="3566160"/>
            <a:ext cx="3840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recovery gained from the final 2.1× drop in encoding error (0.928 → 0.944)</a:t>
            </a:r>
            <a:endParaRPr lang="en-US" sz="1300" dirty="0"/>
          </a:p>
        </p:txBody>
      </p:sp>
      <p:sp>
        <p:nvSpPr>
          <p:cNvPr id="8" name="card"/>
          <p:cNvSpPr/>
          <p:nvPr/>
        </p:nvSpPr>
        <p:spPr>
          <a:xfrm>
            <a:off x="7863840" y="4343400"/>
            <a:ext cx="3840480" cy="1874520"/>
          </a:xfrm>
          <a:prstGeom prst="roundRect">
            <a:avLst>
              <a:gd name="adj" fmla="val 3902"/>
            </a:avLst>
          </a:prstGeom>
          <a:solidFill>
            <a:srgbClr val="EEF3F9"/>
          </a:solidFill>
          <a:ln w="12700">
            <a:solidFill>
              <a:srgbClr val="EEF3F9"/>
            </a:solidFill>
            <a:prstDash val="solid"/>
          </a:ln>
        </p:spPr>
      </p:sp>
      <p:sp>
        <p:nvSpPr>
          <p:cNvPr id="9" name="Text 6"/>
          <p:cNvSpPr txBox="1"/>
          <p:nvPr/>
        </p:nvSpPr>
        <p:spPr>
          <a:xfrm>
            <a:off x="8046720" y="4434840"/>
            <a:ext cx="3520440" cy="16916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Forward fit and recoverability are different quantities. Past a point, a better-fitting forward model buys almost nothing in decoding.</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Stability: the inverse degrades gracefully with noise</a:t>
            </a:r>
            <a:endParaRPr lang="en-US" sz="3000" dirty="0"/>
          </a:p>
        </p:txBody>
      </p:sp>
      <p:pic>
        <p:nvPicPr>
          <p:cNvPr id="3" name="Image 0" descr="/home/claude/work/deck/assets_deck/fig_noise.png">    </p:cNvPr>
          <p:cNvPicPr>
            <a:picLocks noChangeAspect="1"/>
          </p:cNvPicPr>
          <p:nvPr/>
        </p:nvPicPr>
        <p:blipFill>
          <a:blip r:embed="rId1"/>
          <a:stretch>
            <a:fillRect/>
          </a:stretch>
        </p:blipFill>
        <p:spPr>
          <a:xfrm>
            <a:off x="822960" y="1188720"/>
            <a:ext cx="10515600" cy="4206240"/>
          </a:xfrm>
          <a:prstGeom prst="rect">
            <a:avLst/>
          </a:prstGeom>
        </p:spPr>
      </p:pic>
      <p:sp>
        <p:nvSpPr>
          <p:cNvPr id="4"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5" name="Text 2"/>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No cliff: cosine 0.836 → 0.298 at noise equal to the signal's own standard deviation. Direction and timing survive (retrieval ≈ 0.99 throughout) while magnitude does not (relative error 0.55 → 2.06).</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Ten percent of cortex carries most of the recoverable signal</a:t>
            </a:r>
            <a:endParaRPr lang="en-US" sz="3000" dirty="0"/>
          </a:p>
        </p:txBody>
      </p:sp>
      <p:pic>
        <p:nvPicPr>
          <p:cNvPr id="3" name="Image 0" descr="/home/claude/work/deck/assets_deck/fig_extent.png">    </p:cNvPr>
          <p:cNvPicPr>
            <a:picLocks noChangeAspect="1"/>
          </p:cNvPicPr>
          <p:nvPr/>
        </p:nvPicPr>
        <p:blipFill>
          <a:blip r:embed="rId1"/>
          <a:stretch>
            <a:fillRect/>
          </a:stretch>
        </p:blipFill>
        <p:spPr>
          <a:xfrm>
            <a:off x="365760" y="1687387"/>
            <a:ext cx="7223760" cy="4031866"/>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863840" y="1325880"/>
          <a:ext cx="3840480" cy="914400"/>
        </p:xfrm>
        <a:graphic>
          <a:graphicData uri="http://schemas.openxmlformats.org/drawingml/2006/table">
            <a:tbl>
              <a:tblPr/>
              <a:tblGrid>
                <a:gridCol w="1280160"/>
                <a:gridCol w="1188720"/>
                <a:gridCol w="137160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Vertices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Cosine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Enc. error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8.69e-2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0.183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6.44e-2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0.527</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3.82e-2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2 000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0.777</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1.94e-2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8 000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0.825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1.48e-2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20 484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0.836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1.38e-2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7863840" y="4160520"/>
            <a:ext cx="3840480" cy="2057400"/>
          </a:xfrm>
          <a:prstGeom prst="roundRect">
            <a:avLst>
              <a:gd name="adj" fmla="val 3556"/>
            </a:avLst>
          </a:prstGeom>
          <a:solidFill>
            <a:srgbClr val="EEF3F9"/>
          </a:solidFill>
          <a:ln w="12700">
            <a:solidFill>
              <a:srgbClr val="EEF3F9"/>
            </a:solidFill>
            <a:prstDash val="solid"/>
          </a:ln>
        </p:spPr>
      </p:sp>
      <p:sp>
        <p:nvSpPr>
          <p:cNvPr id="6" name="Text 2"/>
          <p:cNvSpPr txBox="1"/>
          <p:nvPr/>
        </p:nvSpPr>
        <p:spPr>
          <a:xfrm>
            <a:off x="8046720" y="4251960"/>
            <a:ext cx="3520440" cy="187452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Random subsets saturate near 2 000 vertices. This makes the next question well posed: which anatomical 10%? That is the regional analysis (Review III).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Generic priors hurt; bandwidth is a structural null</a:t>
            </a:r>
            <a:endParaRPr lang="en-US" sz="3000" dirty="0"/>
          </a:p>
        </p:txBody>
      </p:sp>
      <p:pic>
        <p:nvPicPr>
          <p:cNvPr id="3" name="Image 0" descr="/home/claude/work/deck/assets_deck/fig_priors.png">    </p:cNvPr>
          <p:cNvPicPr>
            <a:picLocks noChangeAspect="1"/>
          </p:cNvPicPr>
          <p:nvPr/>
        </p:nvPicPr>
        <p:blipFill>
          <a:blip r:embed="rId1"/>
          <a:stretch>
            <a:fillRect/>
          </a:stretch>
        </p:blipFill>
        <p:spPr>
          <a:xfrm>
            <a:off x="365760" y="1592757"/>
            <a:ext cx="5760720" cy="3215286"/>
          </a:xfrm>
          <a:prstGeom prst="rect">
            <a:avLst/>
          </a:prstGeom>
        </p:spPr>
      </p:pic>
      <p:pic>
        <p:nvPicPr>
          <p:cNvPr id="4" name="Image 1" descr="/home/claude/work/deck/assets_deck/fig_bandwidth.png">    </p:cNvPr>
          <p:cNvPicPr>
            <a:picLocks noChangeAspect="1"/>
          </p:cNvPicPr>
          <p:nvPr/>
        </p:nvPicPr>
        <p:blipFill>
          <a:blip r:embed="rId2"/>
          <a:stretch>
            <a:fillRect/>
          </a:stretch>
        </p:blipFill>
        <p:spPr>
          <a:xfrm>
            <a:off x="6217920" y="1666494"/>
            <a:ext cx="5577840" cy="3067812"/>
          </a:xfrm>
          <a:prstGeom prst="rect">
            <a:avLst/>
          </a:prstGeom>
        </p:spPr>
      </p:pic>
      <p:sp>
        <p:nvSpPr>
          <p:cNvPr id="5" name="card"/>
          <p:cNvSpPr/>
          <p:nvPr/>
        </p:nvSpPr>
        <p:spPr>
          <a:xfrm>
            <a:off x="457200" y="5349240"/>
            <a:ext cx="5486400" cy="914400"/>
          </a:xfrm>
          <a:prstGeom prst="roundRect">
            <a:avLst>
              <a:gd name="adj" fmla="val 8000"/>
            </a:avLst>
          </a:prstGeom>
          <a:solidFill>
            <a:srgbClr val="EEF3F9"/>
          </a:solidFill>
          <a:ln w="12700">
            <a:solidFill>
              <a:srgbClr val="EEF3F9"/>
            </a:solidFill>
            <a:prstDash val="solid"/>
          </a:ln>
        </p:spPr>
      </p:sp>
      <p:sp>
        <p:nvSpPr>
          <p:cNvPr id="6" name="Text 2"/>
          <p:cNvSpPr txBox="1"/>
          <p:nvPr/>
        </p:nvSpPr>
        <p:spPr>
          <a:xfrm>
            <a:off x="640080" y="5394960"/>
            <a:ext cx="5120640" cy="82296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ℓ2 helps only at λ = 1e-5 (+0.032). Smoothness drives cosine to 0.0008 and retrieval to chance (0.499).</a:t>
            </a:r>
            <a:endParaRPr lang="en-US" sz="1350" dirty="0"/>
          </a:p>
        </p:txBody>
      </p:sp>
      <p:sp>
        <p:nvSpPr>
          <p:cNvPr id="7" name="card"/>
          <p:cNvSpPr/>
          <p:nvPr/>
        </p:nvSpPr>
        <p:spPr>
          <a:xfrm>
            <a:off x="6309360" y="5349240"/>
            <a:ext cx="5394960" cy="914400"/>
          </a:xfrm>
          <a:prstGeom prst="roundRect">
            <a:avLst>
              <a:gd name="adj" fmla="val 8000"/>
            </a:avLst>
          </a:prstGeom>
          <a:solidFill>
            <a:srgbClr val="FCE4D9"/>
          </a:solidFill>
          <a:ln w="12700">
            <a:solidFill>
              <a:srgbClr val="FCE4D9"/>
            </a:solidFill>
            <a:prstDash val="solid"/>
          </a:ln>
        </p:spPr>
      </p:sp>
      <p:sp>
        <p:nvSpPr>
          <p:cNvPr id="8" name="Text 4"/>
          <p:cNvSpPr txBox="1"/>
          <p:nvPr/>
        </p:nvSpPr>
        <p:spPr>
          <a:xfrm>
            <a:off x="6492240" y="5394960"/>
            <a:ext cx="5029200" cy="82296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Flat across 64× because the release has no haemodynamic filter in the differentiable path (temporal_smoothing = None).</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Tabulation of Review II results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011680"/>
                <a:gridCol w="2377440"/>
                <a:gridCol w="3566160"/>
                <a:gridCol w="329184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Experiment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Condition range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Key measurement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Interpretation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Gradient check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random x</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‖∂y/∂x‖ = 7.97×10³</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Operator invertible by gradient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Convergence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250 – 64 000 steps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plateau ≈ 0.89–0.91 (single run)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Budget ≥ 8 000 needed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Dissociation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8 independent budgets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 error ↓ 28.4×; recovery → 0.944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 decoding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Stimulus manifold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white vs smooth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0.947 ± 0.004 vs 0.942 ± 0.005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No manifold advantage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Noise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 – 100% of BOLD std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0.836 → 0.298, monotone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Stable, well conditioned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Spatial extent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50 – 20 484 vertices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saturates ≈ 2 000 (0.777)</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≈10% of cortex suffices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ℓ2 prior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λ 0 – 1e-2 (500 v)</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best +0.032 at 1e-5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Small-norm prior invalid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Smoothness prior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λ 0 – 1e-1 (500 v)</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0.527 → 0.0008</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Catastrophic</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Bandwidth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0.25 – 16 cycles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0.858 – 0.838 (flat)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Null: no HRF operator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5  ·  Early results beyond the milestone</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Why recovery is incomplete: first tests of the competing explanations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Same fit, different answers: the inverse is non-convex</a:t>
            </a:r>
            <a:endParaRPr lang="en-US" sz="3000" dirty="0"/>
          </a:p>
        </p:txBody>
      </p:sp>
      <p:pic>
        <p:nvPicPr>
          <p:cNvPr id="3" name="Image 0" descr="/home/claude/work/deck/assets_deck/fig_nonconvex.png">    </p:cNvPr>
          <p:cNvPicPr>
            <a:picLocks noChangeAspect="1"/>
          </p:cNvPicPr>
          <p:nvPr/>
        </p:nvPicPr>
        <p:blipFill>
          <a:blip r:embed="rId1"/>
          <a:stretch>
            <a:fillRect/>
          </a:stretch>
        </p:blipFill>
        <p:spPr>
          <a:xfrm>
            <a:off x="937260" y="1188720"/>
            <a:ext cx="10287000" cy="4114800"/>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47120" cy="914400"/>
        </p:xfrm>
        <a:graphic>
          <a:graphicData uri="http://schemas.openxmlformats.org/drawingml/2006/table">
            <a:tbl>
              <a:tblPr/>
              <a:tblGrid>
                <a:gridCol w="2194560"/>
                <a:gridCol w="2743200"/>
                <a:gridCol w="3154680"/>
                <a:gridCol w="3154680"/>
              </a:tblGrid>
              <a:tr h="2194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Ground truth</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fit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0.8068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3.65e-7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0.8934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0.9007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0.8257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3.13e-7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0.8996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0.8186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Information-loss hypothesis rejected</a:t>
            </a:r>
            <a:endParaRPr lang="en-US" sz="3000" dirty="0"/>
          </a:p>
        </p:txBody>
      </p:sp>
      <p:pic>
        <p:nvPicPr>
          <p:cNvPr id="3" name="Image 0" descr="/home/claude/work/deck/assets_deck/fig_nullspace_test.png">    </p:cNvPr>
          <p:cNvPicPr>
            <a:picLocks noChangeAspect="1"/>
          </p:cNvPicPr>
          <p:nvPr/>
        </p:nvPicPr>
        <p:blipFill>
          <a:blip r:embed="rId1"/>
          <a:stretch>
            <a:fillRect/>
          </a:stretch>
        </p:blipFill>
        <p:spPr>
          <a:xfrm>
            <a:off x="365760" y="1674796"/>
            <a:ext cx="6400800" cy="3874168"/>
          </a:xfrm>
          <a:prstGeom prst="rect">
            <a:avLst/>
          </a:prstGeom>
        </p:spPr>
      </p:pic>
      <p:sp>
        <p:nvSpPr>
          <p:cNvPr id="4" name="card"/>
          <p:cNvSpPr/>
          <p:nvPr/>
        </p:nvSpPr>
        <p:spPr>
          <a:xfrm>
            <a:off x="7040880" y="1280160"/>
            <a:ext cx="4663440" cy="4892040"/>
          </a:xfrm>
          <a:prstGeom prst="roundRect">
            <a:avLst>
              <a:gd name="adj" fmla="val 1569"/>
            </a:avLst>
          </a:prstGeom>
          <a:solidFill>
            <a:srgbClr val="EEF3F9"/>
          </a:solidFill>
          <a:ln w="12700">
            <a:solidFill>
              <a:srgbClr val="EEF3F9"/>
            </a:solidFill>
            <a:prstDash val="solid"/>
          </a:ln>
        </p:spPr>
      </p:sp>
      <p:sp>
        <p:nvSpPr>
          <p:cNvPr id="5" name="Text 2"/>
          <p:cNvSpPr txBox="1"/>
          <p:nvPr/>
        </p:nvSpPr>
        <p:spPr>
          <a:xfrm>
            <a:off x="7269480" y="1417320"/>
            <a:ext cx="4251960" cy="466344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Test</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Move one solution towards the other along their difference d, and compare with random directions of equal length.</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 </a:t>
            </a:r>
            <a:endParaRPr lang="en-US" sz="1450" dirty="0"/>
          </a:p>
          <a:p>
            <a:pPr indent="0" marL="0">
              <a:buNone/>
            </a:pPr>
            <a:r>
              <a:rPr lang="en-US" sz="1700" b="1" dirty="0">
                <a:solidFill>
                  <a:srgbClr val="13243B"/>
                </a:solidFill>
                <a:latin typeface="Calibri" pitchFamily="34" charset="0"/>
                <a:ea typeface="Calibri" pitchFamily="34" charset="-122"/>
                <a:cs typeface="Calibri" pitchFamily="34" charset="-120"/>
              </a:rPr>
              <a:t>Result</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d is cheap only for small steps (2.6x); at the full separation it changes the response more than random (0.6x).</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 </a:t>
            </a:r>
            <a:endParaRPr lang="en-US" sz="1450" dirty="0"/>
          </a:p>
          <a:p>
            <a:pPr indent="0" marL="0">
              <a:buNone/>
            </a:pPr>
            <a:r>
              <a:rPr lang="en-US" sz="1700" b="1" dirty="0">
                <a:solidFill>
                  <a:srgbClr val="13243B"/>
                </a:solidFill>
                <a:latin typeface="Calibri" pitchFamily="34" charset="0"/>
                <a:ea typeface="Calibri" pitchFamily="34" charset="-122"/>
                <a:cs typeface="Calibri" pitchFamily="34" charset="-120"/>
              </a:rPr>
              <a:t>Meaning</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The answers are separate minima with a barrier between them: non-convexity, not a null space.</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Errors concentrate in the operator's weakest directions</a:t>
            </a:r>
            <a:endParaRPr lang="en-US" sz="3000" dirty="0"/>
          </a:p>
        </p:txBody>
      </p:sp>
      <p:pic>
        <p:nvPicPr>
          <p:cNvPr id="3" name="Image 0" descr="/home/claude/work/deck/assets_deck/fig_sensitivity.png">    </p:cNvPr>
          <p:cNvPicPr>
            <a:picLocks noChangeAspect="1"/>
          </p:cNvPicPr>
          <p:nvPr/>
        </p:nvPicPr>
        <p:blipFill>
          <a:blip r:embed="rId1"/>
          <a:stretch>
            <a:fillRect/>
          </a:stretch>
        </p:blipFill>
        <p:spPr>
          <a:xfrm>
            <a:off x="365760" y="1417320"/>
            <a:ext cx="7498080" cy="3749040"/>
          </a:xfrm>
          <a:prstGeom prst="rect">
            <a:avLst/>
          </a:prstGeom>
        </p:spPr>
      </p:pic>
      <p:sp>
        <p:nvSpPr>
          <p:cNvPr id="4" name="Text 1"/>
          <p:cNvSpPr txBox="1"/>
          <p:nvPr/>
        </p:nvSpPr>
        <p:spPr>
          <a:xfrm>
            <a:off x="8183880" y="1371600"/>
            <a:ext cx="3566160" cy="731520"/>
          </a:xfrm>
          <a:prstGeom prst="rect">
            <a:avLst/>
          </a:prstGeom>
          <a:noFill/>
          <a:ln/>
        </p:spPr>
        <p:txBody>
          <a:bodyPr wrap="square" lIns="0" tIns="0" rIns="0" bIns="0" rtlCol="0" anchor="b"/>
          <a:lstStyle/>
          <a:p>
            <a:pPr indent="0" marL="0">
              <a:buNone/>
            </a:pPr>
            <a:r>
              <a:rPr lang="en-US" sz="4400" b="1" dirty="0">
                <a:solidFill>
                  <a:srgbClr val="EB6834"/>
                </a:solidFill>
                <a:latin typeface="Cambria" pitchFamily="34" charset="0"/>
                <a:ea typeface="Cambria" pitchFamily="34" charset="-122"/>
                <a:cs typeface="Cambria" pitchFamily="34" charset="-120"/>
              </a:rPr>
              <a:t>1.9×</a:t>
            </a:r>
            <a:endParaRPr lang="en-US" sz="4400" dirty="0"/>
          </a:p>
        </p:txBody>
      </p:sp>
      <p:sp>
        <p:nvSpPr>
          <p:cNvPr id="5" name="Text 2"/>
          <p:cNvSpPr txBox="1"/>
          <p:nvPr/>
        </p:nvSpPr>
        <p:spPr>
          <a:xfrm>
            <a:off x="8183880" y="214884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lower sensitivity along d than the random median</a:t>
            </a:r>
            <a:endParaRPr lang="en-US" sz="1300" dirty="0"/>
          </a:p>
        </p:txBody>
      </p:sp>
      <p:sp>
        <p:nvSpPr>
          <p:cNvPr id="6" name="Text 3"/>
          <p:cNvSpPr txBox="1"/>
          <p:nvPr/>
        </p:nvSpPr>
        <p:spPr>
          <a:xfrm>
            <a:off x="8183880" y="2926080"/>
            <a:ext cx="3566160" cy="731520"/>
          </a:xfrm>
          <a:prstGeom prst="rect">
            <a:avLst/>
          </a:prstGeom>
          <a:noFill/>
          <a:ln/>
        </p:spPr>
        <p:txBody>
          <a:bodyPr wrap="square" lIns="0" tIns="0" rIns="0" bIns="0" rtlCol="0" anchor="b"/>
          <a:lstStyle/>
          <a:p>
            <a:pPr indent="0" marL="0">
              <a:buNone/>
            </a:pPr>
            <a:r>
              <a:rPr lang="en-US" sz="4400" b="1" dirty="0">
                <a:solidFill>
                  <a:srgbClr val="2A78D6"/>
                </a:solidFill>
                <a:latin typeface="Cambria" pitchFamily="34" charset="0"/>
                <a:ea typeface="Cambria" pitchFamily="34" charset="-122"/>
                <a:cs typeface="Cambria" pitchFamily="34" charset="-120"/>
              </a:rPr>
              <a:t>6 / 6</a:t>
            </a:r>
            <a:endParaRPr lang="en-US" sz="4400" dirty="0"/>
          </a:p>
        </p:txBody>
      </p:sp>
      <p:sp>
        <p:nvSpPr>
          <p:cNvPr id="7" name="Text 4"/>
          <p:cNvSpPr txBox="1"/>
          <p:nvPr/>
        </p:nvSpPr>
        <p:spPr>
          <a:xfrm>
            <a:off x="8183880" y="370332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pairwise difference directions below the random median</a:t>
            </a:r>
            <a:endParaRPr lang="en-US" sz="1300" dirty="0"/>
          </a:p>
        </p:txBody>
      </p:sp>
      <p:sp>
        <p:nvSpPr>
          <p:cNvPr id="8"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9" name="Text 6"/>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What the inverse fails to pin down is exactly what the operator responds to least: anisotropic ill-conditioning, measured.</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Gain is identifiable; nonlinear inversion beats a linear decoder</a:t>
            </a:r>
            <a:endParaRPr lang="en-US" sz="3000" dirty="0"/>
          </a:p>
        </p:txBody>
      </p:sp>
      <p:pic>
        <p:nvPicPr>
          <p:cNvPr id="3" name="Image 0" descr="/home/claude/work/deck/assets_deck/fig_gain.png">    </p:cNvPr>
          <p:cNvPicPr>
            <a:picLocks noChangeAspect="1"/>
          </p:cNvPicPr>
          <p:nvPr/>
        </p:nvPicPr>
        <p:blipFill>
          <a:blip r:embed="rId1"/>
          <a:stretch>
            <a:fillRect/>
          </a:stretch>
        </p:blipFill>
        <p:spPr>
          <a:xfrm>
            <a:off x="365760" y="1648097"/>
            <a:ext cx="5669280" cy="3104606"/>
          </a:xfrm>
          <a:prstGeom prst="rect">
            <a:avLst/>
          </a:prstGeom>
        </p:spPr>
      </p:pic>
      <p:pic>
        <p:nvPicPr>
          <p:cNvPr id="4" name="Image 1" descr="/home/claude/work/deck/assets_deck/fig_baseline.png">    </p:cNvPr>
          <p:cNvPicPr>
            <a:picLocks noChangeAspect="1"/>
          </p:cNvPicPr>
          <p:nvPr/>
        </p:nvPicPr>
        <p:blipFill>
          <a:blip r:embed="rId2"/>
          <a:stretch>
            <a:fillRect/>
          </a:stretch>
        </p:blipFill>
        <p:spPr>
          <a:xfrm>
            <a:off x="6217920" y="1288473"/>
            <a:ext cx="5486400" cy="3823855"/>
          </a:xfrm>
          <a:prstGeom prst="rect">
            <a:avLst/>
          </a:prstGeom>
        </p:spPr>
      </p:pic>
      <p:sp>
        <p:nvSpPr>
          <p:cNvPr id="5" name="card"/>
          <p:cNvSpPr/>
          <p:nvPr/>
        </p:nvSpPr>
        <p:spPr>
          <a:xfrm>
            <a:off x="457200" y="5394960"/>
            <a:ext cx="5486400" cy="868680"/>
          </a:xfrm>
          <a:prstGeom prst="roundRect">
            <a:avLst>
              <a:gd name="adj" fmla="val 8421"/>
            </a:avLst>
          </a:prstGeom>
          <a:solidFill>
            <a:srgbClr val="EEF3F9"/>
          </a:solidFill>
          <a:ln w="12700">
            <a:solidFill>
              <a:srgbClr val="EEF3F9"/>
            </a:solidFill>
            <a:prstDash val="solid"/>
          </a:ln>
        </p:spPr>
      </p:sp>
      <p:sp>
        <p:nvSpPr>
          <p:cNvPr id="6" name="Text 2"/>
          <p:cNvSpPr txBox="1"/>
          <p:nvPr/>
        </p:nvSpPr>
        <p:spPr>
          <a:xfrm>
            <a:off x="640080" y="5440680"/>
            <a:ext cx="5120640" cy="777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Only the true scale fits: a 10% rescale gives 7.5× the noise floor.</a:t>
            </a:r>
            <a:endParaRPr lang="en-US" sz="1400" dirty="0"/>
          </a:p>
        </p:txBody>
      </p:sp>
      <p:sp>
        <p:nvSpPr>
          <p:cNvPr id="7" name="card"/>
          <p:cNvSpPr/>
          <p:nvPr/>
        </p:nvSpPr>
        <p:spPr>
          <a:xfrm>
            <a:off x="6217920" y="5394960"/>
            <a:ext cx="5486400" cy="868680"/>
          </a:xfrm>
          <a:prstGeom prst="roundRect">
            <a:avLst>
              <a:gd name="adj" fmla="val 8421"/>
            </a:avLst>
          </a:prstGeom>
          <a:solidFill>
            <a:srgbClr val="FCE4D9"/>
          </a:solidFill>
          <a:ln w="12700">
            <a:solidFill>
              <a:srgbClr val="FCE4D9"/>
            </a:solidFill>
            <a:prstDash val="solid"/>
          </a:ln>
        </p:spPr>
      </p:sp>
      <p:sp>
        <p:nvSpPr>
          <p:cNvPr id="8" name="Text 4"/>
          <p:cNvSpPr txBox="1"/>
          <p:nvPr/>
        </p:nvSpPr>
        <p:spPr>
          <a:xfrm>
            <a:off x="6400800" y="5440680"/>
            <a:ext cx="5120640" cy="777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Gradient inversion 0.918 vs best ridge decoder 0.060 (≈15×; ridge target is easier, so a floor).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First look at regions: the operator's topography matches anatomy</a:t>
            </a:r>
            <a:endParaRPr lang="en-US" sz="3000" dirty="0"/>
          </a:p>
        </p:txBody>
      </p:sp>
      <p:pic>
        <p:nvPicPr>
          <p:cNvPr id="3" name="Image 0" descr="/home/claude/work/deck/assets_deck/brain_topography_grid.png">    </p:cNvPr>
          <p:cNvPicPr>
            <a:picLocks noChangeAspect="1"/>
          </p:cNvPicPr>
          <p:nvPr/>
        </p:nvPicPr>
        <p:blipFill>
          <a:blip r:embed="rId1"/>
          <a:stretch>
            <a:fillRect/>
          </a:stretch>
        </p:blipFill>
        <p:spPr>
          <a:xfrm>
            <a:off x="274320" y="1316338"/>
            <a:ext cx="7223760" cy="4773963"/>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680960" y="1234440"/>
          <a:ext cx="4069080" cy="914400"/>
        </p:xfrm>
        <a:graphic>
          <a:graphicData uri="http://schemas.openxmlformats.org/drawingml/2006/table">
            <a:tbl>
              <a:tblPr/>
              <a:tblGrid>
                <a:gridCol w="1600200"/>
                <a:gridCol w="822960"/>
                <a:gridCol w="822960"/>
                <a:gridCol w="8229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text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audio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video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Auditory</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+34.7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Default mode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Visual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+40.7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Somatomotor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7680960" y="3977640"/>
            <a:ext cx="4069080" cy="2240280"/>
          </a:xfrm>
          <a:prstGeom prst="roundRect">
            <a:avLst>
              <a:gd name="adj" fmla="val 3265"/>
            </a:avLst>
          </a:prstGeom>
          <a:solidFill>
            <a:srgbClr val="EEF3F9"/>
          </a:solidFill>
          <a:ln w="12700">
            <a:solidFill>
              <a:srgbClr val="EEF3F9"/>
            </a:solidFill>
            <a:prstDash val="solid"/>
          </a:ln>
        </p:spPr>
      </p:sp>
      <p:sp>
        <p:nvSpPr>
          <p:cNvPr id="6" name="Text 2"/>
          <p:cNvSpPr txBox="1"/>
          <p:nvPr/>
        </p:nvSpPr>
        <p:spPr>
          <a:xfrm>
            <a:off x="7863840" y="4069080"/>
            <a:ext cx="3749040" cy="21031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Each network is driven by the modality it should be: language and default mode by text, auditory cortex by audio, visual cortex by video. Recovery per network follows at Review III.</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6  ·  Plan to completion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Timeline, division of work and what Review III will show</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Timeline</a:t>
            </a:r>
            <a:endParaRPr lang="en-US" sz="3000" dirty="0"/>
          </a:p>
        </p:txBody>
      </p:sp>
      <p:sp>
        <p:nvSpPr>
          <p:cNvPr id="3" name="Text 1"/>
          <p:cNvSpPr txBox="1"/>
          <p:nvPr/>
        </p:nvSpPr>
        <p:spPr>
          <a:xfrm>
            <a:off x="4206240"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Aug</a:t>
            </a:r>
            <a:endParaRPr lang="en-US" sz="1400" dirty="0"/>
          </a:p>
        </p:txBody>
      </p:sp>
      <p:sp>
        <p:nvSpPr>
          <p:cNvPr id="4" name="Text 2"/>
          <p:cNvSpPr txBox="1"/>
          <p:nvPr/>
        </p:nvSpPr>
        <p:spPr>
          <a:xfrm>
            <a:off x="5687568"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Sep</a:t>
            </a:r>
            <a:endParaRPr lang="en-US" sz="1400" dirty="0"/>
          </a:p>
        </p:txBody>
      </p:sp>
      <p:sp>
        <p:nvSpPr>
          <p:cNvPr id="5" name="Text 3"/>
          <p:cNvSpPr txBox="1"/>
          <p:nvPr/>
        </p:nvSpPr>
        <p:spPr>
          <a:xfrm>
            <a:off x="7168896"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Oct</a:t>
            </a:r>
            <a:endParaRPr lang="en-US" sz="1400" dirty="0"/>
          </a:p>
        </p:txBody>
      </p:sp>
      <p:sp>
        <p:nvSpPr>
          <p:cNvPr id="6" name="Text 4"/>
          <p:cNvSpPr txBox="1"/>
          <p:nvPr/>
        </p:nvSpPr>
        <p:spPr>
          <a:xfrm>
            <a:off x="8650224"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Nov</a:t>
            </a:r>
            <a:endParaRPr lang="en-US" sz="1400" dirty="0"/>
          </a:p>
        </p:txBody>
      </p:sp>
      <p:sp>
        <p:nvSpPr>
          <p:cNvPr id="7" name="Text 5"/>
          <p:cNvSpPr txBox="1"/>
          <p:nvPr/>
        </p:nvSpPr>
        <p:spPr>
          <a:xfrm>
            <a:off x="10131552"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Dec</a:t>
            </a:r>
            <a:endParaRPr lang="en-US" sz="1400" dirty="0"/>
          </a:p>
        </p:txBody>
      </p:sp>
      <p:sp>
        <p:nvSpPr>
          <p:cNvPr id="8" name="Text 6"/>
          <p:cNvSpPr txBox="1"/>
          <p:nvPr/>
        </p:nvSpPr>
        <p:spPr>
          <a:xfrm>
            <a:off x="457200" y="169164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S1 Literature, problem formulation</a:t>
            </a:r>
            <a:endParaRPr lang="en-US" sz="1350" dirty="0"/>
          </a:p>
        </p:txBody>
      </p:sp>
      <p:sp>
        <p:nvSpPr>
          <p:cNvPr id="9" name="Shape 7"/>
          <p:cNvSpPr/>
          <p:nvPr/>
        </p:nvSpPr>
        <p:spPr>
          <a:xfrm>
            <a:off x="4206240" y="1728216"/>
            <a:ext cx="7406640" cy="347472"/>
          </a:xfrm>
          <a:prstGeom prst="rect">
            <a:avLst/>
          </a:prstGeom>
          <a:solidFill>
            <a:srgbClr val="F3F5F8"/>
          </a:solidFill>
          <a:ln w="12700">
            <a:solidFill>
              <a:srgbClr val="F3F5F8"/>
            </a:solidFill>
            <a:prstDash val="solid"/>
          </a:ln>
        </p:spPr>
      </p:sp>
      <p:sp>
        <p:nvSpPr>
          <p:cNvPr id="10" name="Shape 8"/>
          <p:cNvSpPr/>
          <p:nvPr/>
        </p:nvSpPr>
        <p:spPr>
          <a:xfrm>
            <a:off x="4206240" y="1728216"/>
            <a:ext cx="1333195" cy="347472"/>
          </a:xfrm>
          <a:prstGeom prst="roundRect">
            <a:avLst>
              <a:gd name="adj" fmla="val 26316"/>
            </a:avLst>
          </a:prstGeom>
          <a:solidFill>
            <a:srgbClr val="1BAF7A"/>
          </a:solidFill>
          <a:ln w="12700">
            <a:solidFill>
              <a:srgbClr val="1BAF7A"/>
            </a:solidFill>
            <a:prstDash val="solid"/>
          </a:ln>
        </p:spPr>
      </p:sp>
      <p:sp>
        <p:nvSpPr>
          <p:cNvPr id="11" name="Text 9"/>
          <p:cNvSpPr txBox="1"/>
          <p:nvPr/>
        </p:nvSpPr>
        <p:spPr>
          <a:xfrm>
            <a:off x="457200" y="225856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S2 Instrumentation, inversion boundary</a:t>
            </a:r>
            <a:endParaRPr lang="en-US" sz="1350" dirty="0"/>
          </a:p>
        </p:txBody>
      </p:sp>
      <p:sp>
        <p:nvSpPr>
          <p:cNvPr id="12" name="Shape 10"/>
          <p:cNvSpPr/>
          <p:nvPr/>
        </p:nvSpPr>
        <p:spPr>
          <a:xfrm>
            <a:off x="4206240" y="2295144"/>
            <a:ext cx="7406640" cy="347472"/>
          </a:xfrm>
          <a:prstGeom prst="rect">
            <a:avLst/>
          </a:prstGeom>
          <a:solidFill>
            <a:srgbClr val="F3F5F8"/>
          </a:solidFill>
          <a:ln w="12700">
            <a:solidFill>
              <a:srgbClr val="F3F5F8"/>
            </a:solidFill>
            <a:prstDash val="solid"/>
          </a:ln>
        </p:spPr>
      </p:sp>
      <p:sp>
        <p:nvSpPr>
          <p:cNvPr id="13" name="Shape 11"/>
          <p:cNvSpPr/>
          <p:nvPr/>
        </p:nvSpPr>
        <p:spPr>
          <a:xfrm>
            <a:off x="4798771" y="2295144"/>
            <a:ext cx="1333195" cy="347472"/>
          </a:xfrm>
          <a:prstGeom prst="roundRect">
            <a:avLst>
              <a:gd name="adj" fmla="val 26316"/>
            </a:avLst>
          </a:prstGeom>
          <a:solidFill>
            <a:srgbClr val="1BAF7A"/>
          </a:solidFill>
          <a:ln w="12700">
            <a:solidFill>
              <a:srgbClr val="1BAF7A"/>
            </a:solidFill>
            <a:prstDash val="solid"/>
          </a:ln>
        </p:spPr>
      </p:sp>
      <p:sp>
        <p:nvSpPr>
          <p:cNvPr id="14" name="Text 12"/>
          <p:cNvSpPr txBox="1"/>
          <p:nvPr/>
        </p:nvSpPr>
        <p:spPr>
          <a:xfrm>
            <a:off x="457200" y="2825496"/>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S3 Core synthetic characterisation</a:t>
            </a:r>
            <a:endParaRPr lang="en-US" sz="1350" dirty="0"/>
          </a:p>
        </p:txBody>
      </p:sp>
      <p:sp>
        <p:nvSpPr>
          <p:cNvPr id="15" name="Shape 13"/>
          <p:cNvSpPr/>
          <p:nvPr/>
        </p:nvSpPr>
        <p:spPr>
          <a:xfrm>
            <a:off x="4206240" y="2862072"/>
            <a:ext cx="7406640" cy="347472"/>
          </a:xfrm>
          <a:prstGeom prst="rect">
            <a:avLst/>
          </a:prstGeom>
          <a:solidFill>
            <a:srgbClr val="F3F5F8"/>
          </a:solidFill>
          <a:ln w="12700">
            <a:solidFill>
              <a:srgbClr val="F3F5F8"/>
            </a:solidFill>
            <a:prstDash val="solid"/>
          </a:ln>
        </p:spPr>
      </p:sp>
      <p:sp>
        <p:nvSpPr>
          <p:cNvPr id="16" name="Shape 14"/>
          <p:cNvSpPr/>
          <p:nvPr/>
        </p:nvSpPr>
        <p:spPr>
          <a:xfrm>
            <a:off x="5539435" y="2862072"/>
            <a:ext cx="2073859" cy="347472"/>
          </a:xfrm>
          <a:prstGeom prst="roundRect">
            <a:avLst>
              <a:gd name="adj" fmla="val 26316"/>
            </a:avLst>
          </a:prstGeom>
          <a:solidFill>
            <a:srgbClr val="1BAF7A"/>
          </a:solidFill>
          <a:ln w="12700">
            <a:solidFill>
              <a:srgbClr val="1BAF7A"/>
            </a:solidFill>
            <a:prstDash val="solid"/>
          </a:ln>
        </p:spPr>
      </p:sp>
      <p:sp>
        <p:nvSpPr>
          <p:cNvPr id="17" name="Text 15"/>
          <p:cNvSpPr txBox="1"/>
          <p:nvPr/>
        </p:nvSpPr>
        <p:spPr>
          <a:xfrm>
            <a:off x="457200" y="3392424"/>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S4 Controls: init, null-space, gain, baseline</a:t>
            </a:r>
            <a:endParaRPr lang="en-US" sz="1350" dirty="0"/>
          </a:p>
        </p:txBody>
      </p:sp>
      <p:sp>
        <p:nvSpPr>
          <p:cNvPr id="18" name="Shape 16"/>
          <p:cNvSpPr/>
          <p:nvPr/>
        </p:nvSpPr>
        <p:spPr>
          <a:xfrm>
            <a:off x="4206240" y="3429000"/>
            <a:ext cx="7406640" cy="347472"/>
          </a:xfrm>
          <a:prstGeom prst="rect">
            <a:avLst/>
          </a:prstGeom>
          <a:solidFill>
            <a:srgbClr val="F3F5F8"/>
          </a:solidFill>
          <a:ln w="12700">
            <a:solidFill>
              <a:srgbClr val="F3F5F8"/>
            </a:solidFill>
            <a:prstDash val="solid"/>
          </a:ln>
        </p:spPr>
      </p:sp>
      <p:sp>
        <p:nvSpPr>
          <p:cNvPr id="19" name="Shape 17"/>
          <p:cNvSpPr/>
          <p:nvPr/>
        </p:nvSpPr>
        <p:spPr>
          <a:xfrm>
            <a:off x="6872630" y="3429000"/>
            <a:ext cx="1481328" cy="347472"/>
          </a:xfrm>
          <a:prstGeom prst="roundRect">
            <a:avLst>
              <a:gd name="adj" fmla="val 26316"/>
            </a:avLst>
          </a:prstGeom>
          <a:solidFill>
            <a:srgbClr val="EDA100"/>
          </a:solidFill>
          <a:ln w="12700">
            <a:solidFill>
              <a:srgbClr val="EDA100"/>
            </a:solidFill>
            <a:prstDash val="solid"/>
          </a:ln>
        </p:spPr>
      </p:sp>
      <p:sp>
        <p:nvSpPr>
          <p:cNvPr id="20" name="Text 18"/>
          <p:cNvSpPr txBox="1"/>
          <p:nvPr/>
        </p:nvSpPr>
        <p:spPr>
          <a:xfrm>
            <a:off x="457200" y="3959352"/>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S5 Regional (ROI) analysis</a:t>
            </a:r>
            <a:endParaRPr lang="en-US" sz="1350" dirty="0"/>
          </a:p>
        </p:txBody>
      </p:sp>
      <p:sp>
        <p:nvSpPr>
          <p:cNvPr id="21" name="Shape 19"/>
          <p:cNvSpPr/>
          <p:nvPr/>
        </p:nvSpPr>
        <p:spPr>
          <a:xfrm>
            <a:off x="4206240" y="3995928"/>
            <a:ext cx="7406640" cy="347472"/>
          </a:xfrm>
          <a:prstGeom prst="rect">
            <a:avLst/>
          </a:prstGeom>
          <a:solidFill>
            <a:srgbClr val="F3F5F8"/>
          </a:solidFill>
          <a:ln w="12700">
            <a:solidFill>
              <a:srgbClr val="F3F5F8"/>
            </a:solidFill>
            <a:prstDash val="solid"/>
          </a:ln>
        </p:spPr>
      </p:sp>
      <p:sp>
        <p:nvSpPr>
          <p:cNvPr id="22" name="Shape 20"/>
          <p:cNvSpPr/>
          <p:nvPr/>
        </p:nvSpPr>
        <p:spPr>
          <a:xfrm>
            <a:off x="7465162" y="3995928"/>
            <a:ext cx="1333195" cy="347472"/>
          </a:xfrm>
          <a:prstGeom prst="roundRect">
            <a:avLst>
              <a:gd name="adj" fmla="val 26316"/>
            </a:avLst>
          </a:prstGeom>
          <a:solidFill>
            <a:srgbClr val="EDA100"/>
          </a:solidFill>
          <a:ln w="12700">
            <a:solidFill>
              <a:srgbClr val="EDA100"/>
            </a:solidFill>
            <a:prstDash val="solid"/>
          </a:ln>
        </p:spPr>
      </p:sp>
      <p:sp>
        <p:nvSpPr>
          <p:cNvPr id="23" name="Text 21"/>
          <p:cNvSpPr txBox="1"/>
          <p:nvPr/>
        </p:nvSpPr>
        <p:spPr>
          <a:xfrm>
            <a:off x="457200" y="452628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S6 Real-data study (LeBel 2023)</a:t>
            </a:r>
            <a:endParaRPr lang="en-US" sz="1350" dirty="0"/>
          </a:p>
        </p:txBody>
      </p:sp>
      <p:sp>
        <p:nvSpPr>
          <p:cNvPr id="24" name="Shape 22"/>
          <p:cNvSpPr/>
          <p:nvPr/>
        </p:nvSpPr>
        <p:spPr>
          <a:xfrm>
            <a:off x="4206240" y="4562856"/>
            <a:ext cx="7406640" cy="347472"/>
          </a:xfrm>
          <a:prstGeom prst="rect">
            <a:avLst/>
          </a:prstGeom>
          <a:solidFill>
            <a:srgbClr val="F3F5F8"/>
          </a:solidFill>
          <a:ln w="12700">
            <a:solidFill>
              <a:srgbClr val="F3F5F8"/>
            </a:solidFill>
            <a:prstDash val="solid"/>
          </a:ln>
        </p:spPr>
      </p:sp>
      <p:sp>
        <p:nvSpPr>
          <p:cNvPr id="25" name="Shape 23"/>
          <p:cNvSpPr/>
          <p:nvPr/>
        </p:nvSpPr>
        <p:spPr>
          <a:xfrm>
            <a:off x="8353958" y="4562856"/>
            <a:ext cx="1777594" cy="347472"/>
          </a:xfrm>
          <a:prstGeom prst="roundRect">
            <a:avLst>
              <a:gd name="adj" fmla="val 26316"/>
            </a:avLst>
          </a:prstGeom>
          <a:solidFill>
            <a:srgbClr val="D5DCE6"/>
          </a:solidFill>
          <a:ln w="12700">
            <a:solidFill>
              <a:srgbClr val="D5DCE6"/>
            </a:solidFill>
            <a:prstDash val="solid"/>
          </a:ln>
        </p:spPr>
      </p:sp>
      <p:sp>
        <p:nvSpPr>
          <p:cNvPr id="26" name="Text 24"/>
          <p:cNvSpPr txBox="1"/>
          <p:nvPr/>
        </p:nvSpPr>
        <p:spPr>
          <a:xfrm>
            <a:off x="457200" y="509320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S7 Paper and final report</a:t>
            </a:r>
            <a:endParaRPr lang="en-US" sz="1350" dirty="0"/>
          </a:p>
        </p:txBody>
      </p:sp>
      <p:sp>
        <p:nvSpPr>
          <p:cNvPr id="27" name="Shape 25"/>
          <p:cNvSpPr/>
          <p:nvPr/>
        </p:nvSpPr>
        <p:spPr>
          <a:xfrm>
            <a:off x="4206240" y="5129784"/>
            <a:ext cx="7406640" cy="347472"/>
          </a:xfrm>
          <a:prstGeom prst="rect">
            <a:avLst/>
          </a:prstGeom>
          <a:solidFill>
            <a:srgbClr val="F3F5F8"/>
          </a:solidFill>
          <a:ln w="12700">
            <a:solidFill>
              <a:srgbClr val="F3F5F8"/>
            </a:solidFill>
            <a:prstDash val="solid"/>
          </a:ln>
        </p:spPr>
      </p:sp>
      <p:sp>
        <p:nvSpPr>
          <p:cNvPr id="28" name="Shape 26"/>
          <p:cNvSpPr/>
          <p:nvPr/>
        </p:nvSpPr>
        <p:spPr>
          <a:xfrm>
            <a:off x="9094622" y="5129784"/>
            <a:ext cx="2518258" cy="347472"/>
          </a:xfrm>
          <a:prstGeom prst="roundRect">
            <a:avLst>
              <a:gd name="adj" fmla="val 26316"/>
            </a:avLst>
          </a:prstGeom>
          <a:solidFill>
            <a:srgbClr val="D5DCE6"/>
          </a:solidFill>
          <a:ln w="12700">
            <a:solidFill>
              <a:srgbClr val="D5DCE6"/>
            </a:solidFill>
            <a:prstDash val="solid"/>
          </a:ln>
        </p:spPr>
      </p:sp>
      <p:sp>
        <p:nvSpPr>
          <p:cNvPr id="29" name="Shape 27"/>
          <p:cNvSpPr/>
          <p:nvPr/>
        </p:nvSpPr>
        <p:spPr>
          <a:xfrm>
            <a:off x="7835494" y="1600200"/>
            <a:ext cx="914" cy="4069080"/>
          </a:xfrm>
          <a:prstGeom prst="line">
            <a:avLst/>
          </a:prstGeom>
          <a:noFill/>
          <a:ln w="19050">
            <a:solidFill>
              <a:srgbClr val="EB6834"/>
            </a:solidFill>
            <a:prstDash val="dash"/>
          </a:ln>
        </p:spPr>
      </p:sp>
      <p:sp>
        <p:nvSpPr>
          <p:cNvPr id="30" name="Text 28"/>
          <p:cNvSpPr txBox="1"/>
          <p:nvPr/>
        </p:nvSpPr>
        <p:spPr>
          <a:xfrm>
            <a:off x="7103974" y="5715000"/>
            <a:ext cx="1463040" cy="320040"/>
          </a:xfrm>
          <a:prstGeom prst="rect">
            <a:avLst/>
          </a:prstGeom>
          <a:noFill/>
          <a:ln/>
        </p:spPr>
        <p:txBody>
          <a:bodyPr wrap="square" lIns="0" tIns="0" rIns="0" bIns="0" rtlCol="0" anchor="t"/>
          <a:lstStyle/>
          <a:p>
            <a:pPr algn="ctr" indent="0" marL="0">
              <a:buNone/>
            </a:pPr>
            <a:r>
              <a:rPr lang="en-US" sz="1200" b="1" dirty="0">
                <a:solidFill>
                  <a:srgbClr val="EB6834"/>
                </a:solidFill>
                <a:latin typeface="Calibri" pitchFamily="34" charset="0"/>
                <a:ea typeface="Calibri" pitchFamily="34" charset="-122"/>
                <a:cs typeface="Calibri" pitchFamily="34" charset="-120"/>
              </a:rPr>
              <a:t>Review II</a:t>
            </a:r>
            <a:endParaRPr lang="en-US" sz="1200" dirty="0"/>
          </a:p>
        </p:txBody>
      </p:sp>
      <p:sp>
        <p:nvSpPr>
          <p:cNvPr id="31" name="Shape 29"/>
          <p:cNvSpPr/>
          <p:nvPr/>
        </p:nvSpPr>
        <p:spPr>
          <a:xfrm>
            <a:off x="9464954" y="1600200"/>
            <a:ext cx="914" cy="4069080"/>
          </a:xfrm>
          <a:prstGeom prst="line">
            <a:avLst/>
          </a:prstGeom>
          <a:noFill/>
          <a:ln w="19050">
            <a:solidFill>
              <a:srgbClr val="4A3AA7"/>
            </a:solidFill>
            <a:prstDash val="dash"/>
          </a:ln>
        </p:spPr>
      </p:sp>
      <p:sp>
        <p:nvSpPr>
          <p:cNvPr id="32" name="Text 30"/>
          <p:cNvSpPr txBox="1"/>
          <p:nvPr/>
        </p:nvSpPr>
        <p:spPr>
          <a:xfrm>
            <a:off x="8733434" y="5715000"/>
            <a:ext cx="1463040" cy="320040"/>
          </a:xfrm>
          <a:prstGeom prst="rect">
            <a:avLst/>
          </a:prstGeom>
          <a:noFill/>
          <a:ln/>
        </p:spPr>
        <p:txBody>
          <a:bodyPr wrap="square" lIns="0" tIns="0" rIns="0" bIns="0" rtlCol="0" anchor="t"/>
          <a:lstStyle/>
          <a:p>
            <a:pPr algn="ctr" indent="0" marL="0">
              <a:buNone/>
            </a:pPr>
            <a:r>
              <a:rPr lang="en-US" sz="1200" b="1" dirty="0">
                <a:solidFill>
                  <a:srgbClr val="4A3AA7"/>
                </a:solidFill>
                <a:latin typeface="Calibri" pitchFamily="34" charset="0"/>
                <a:ea typeface="Calibri" pitchFamily="34" charset="-122"/>
                <a:cs typeface="Calibri" pitchFamily="34" charset="-120"/>
              </a:rPr>
              <a:t>Review III (planned)</a:t>
            </a:r>
            <a:endParaRPr lang="en-US" sz="1200" dirty="0"/>
          </a:p>
        </p:txBody>
      </p:sp>
      <p:sp>
        <p:nvSpPr>
          <p:cNvPr id="33" name="Shape 31"/>
          <p:cNvSpPr/>
          <p:nvPr/>
        </p:nvSpPr>
        <p:spPr>
          <a:xfrm>
            <a:off x="457200" y="5788152"/>
            <a:ext cx="228600" cy="228600"/>
          </a:xfrm>
          <a:prstGeom prst="rect">
            <a:avLst/>
          </a:prstGeom>
          <a:solidFill>
            <a:srgbClr val="1BAF7A"/>
          </a:solidFill>
          <a:ln w="12700">
            <a:solidFill>
              <a:srgbClr val="1BAF7A"/>
            </a:solidFill>
            <a:prstDash val="solid"/>
          </a:ln>
        </p:spPr>
      </p:sp>
      <p:sp>
        <p:nvSpPr>
          <p:cNvPr id="34" name="Text 32"/>
          <p:cNvSpPr txBox="1"/>
          <p:nvPr/>
        </p:nvSpPr>
        <p:spPr>
          <a:xfrm>
            <a:off x="749808" y="5742432"/>
            <a:ext cx="1188720" cy="32004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completed</a:t>
            </a:r>
            <a:endParaRPr lang="en-US" sz="1200" dirty="0"/>
          </a:p>
        </p:txBody>
      </p:sp>
      <p:sp>
        <p:nvSpPr>
          <p:cNvPr id="35" name="Shape 33"/>
          <p:cNvSpPr/>
          <p:nvPr/>
        </p:nvSpPr>
        <p:spPr>
          <a:xfrm>
            <a:off x="1965960" y="5788152"/>
            <a:ext cx="228600" cy="228600"/>
          </a:xfrm>
          <a:prstGeom prst="rect">
            <a:avLst/>
          </a:prstGeom>
          <a:solidFill>
            <a:srgbClr val="EDA100"/>
          </a:solidFill>
          <a:ln w="12700">
            <a:solidFill>
              <a:srgbClr val="EDA100"/>
            </a:solidFill>
            <a:prstDash val="solid"/>
          </a:ln>
        </p:spPr>
      </p:sp>
      <p:sp>
        <p:nvSpPr>
          <p:cNvPr id="36" name="Text 34"/>
          <p:cNvSpPr txBox="1"/>
          <p:nvPr/>
        </p:nvSpPr>
        <p:spPr>
          <a:xfrm>
            <a:off x="2258568" y="5742432"/>
            <a:ext cx="1188720" cy="32004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in progress</a:t>
            </a:r>
            <a:endParaRPr lang="en-US" sz="1200" dirty="0"/>
          </a:p>
        </p:txBody>
      </p:sp>
      <p:sp>
        <p:nvSpPr>
          <p:cNvPr id="37" name="Shape 35"/>
          <p:cNvSpPr/>
          <p:nvPr/>
        </p:nvSpPr>
        <p:spPr>
          <a:xfrm>
            <a:off x="3474720" y="5788152"/>
            <a:ext cx="228600" cy="228600"/>
          </a:xfrm>
          <a:prstGeom prst="rect">
            <a:avLst/>
          </a:prstGeom>
          <a:solidFill>
            <a:srgbClr val="C9CFD8"/>
          </a:solidFill>
          <a:ln w="12700">
            <a:solidFill>
              <a:srgbClr val="C9CFD8"/>
            </a:solidFill>
            <a:prstDash val="solid"/>
          </a:ln>
        </p:spPr>
      </p:sp>
      <p:sp>
        <p:nvSpPr>
          <p:cNvPr id="38" name="Text 36"/>
          <p:cNvSpPr txBox="1"/>
          <p:nvPr/>
        </p:nvSpPr>
        <p:spPr>
          <a:xfrm>
            <a:off x="3767328" y="5742432"/>
            <a:ext cx="1188720" cy="32004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planned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Division of work</a:t>
            </a:r>
            <a:endParaRPr lang="en-US" sz="3000" dirty="0"/>
          </a:p>
        </p:txBody>
      </p:sp>
      <p:sp>
        <p:nvSpPr>
          <p:cNvPr id="3" name="card"/>
          <p:cNvSpPr/>
          <p:nvPr/>
        </p:nvSpPr>
        <p:spPr>
          <a:xfrm>
            <a:off x="548640" y="1280160"/>
            <a:ext cx="5440680" cy="4937760"/>
          </a:xfrm>
          <a:prstGeom prst="roundRect">
            <a:avLst>
              <a:gd name="adj" fmla="val 1481"/>
            </a:avLst>
          </a:prstGeom>
          <a:solidFill>
            <a:srgbClr val="EEF3F9"/>
          </a:solidFill>
          <a:ln w="12700">
            <a:solidFill>
              <a:srgbClr val="EEF3F9"/>
            </a:solidFill>
            <a:prstDash val="solid"/>
          </a:ln>
        </p:spPr>
      </p:sp>
      <p:sp>
        <p:nvSpPr>
          <p:cNvPr id="4" name="Shape 2"/>
          <p:cNvSpPr/>
          <p:nvPr/>
        </p:nvSpPr>
        <p:spPr>
          <a:xfrm>
            <a:off x="822960" y="1508760"/>
            <a:ext cx="777240" cy="77724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1009498" y="1695298"/>
            <a:ext cx="404165" cy="404165"/>
          </a:xfrm>
          <a:prstGeom prst="rect">
            <a:avLst/>
          </a:prstGeom>
        </p:spPr>
      </p:pic>
      <p:sp>
        <p:nvSpPr>
          <p:cNvPr id="6" name="Text 3"/>
          <p:cNvSpPr txBox="1"/>
          <p:nvPr/>
        </p:nvSpPr>
        <p:spPr>
          <a:xfrm>
            <a:off x="1783080" y="1463040"/>
            <a:ext cx="4023360" cy="457200"/>
          </a:xfrm>
          <a:prstGeom prst="rect">
            <a:avLst/>
          </a:prstGeom>
          <a:noFill/>
          <a:ln/>
        </p:spPr>
        <p:txBody>
          <a:bodyPr wrap="square" lIns="0" tIns="0" rIns="0" bIns="0" rtlCol="0" anchor="t"/>
          <a:lstStyle/>
          <a:p>
            <a:pPr indent="0" marL="0">
              <a:buNone/>
            </a:pPr>
            <a:r>
              <a:rPr lang="en-US" sz="2100" b="1" dirty="0">
                <a:solidFill>
                  <a:srgbClr val="13243B"/>
                </a:solidFill>
                <a:latin typeface="Cambria" pitchFamily="34" charset="0"/>
                <a:ea typeface="Cambria" pitchFamily="34" charset="-122"/>
                <a:cs typeface="Cambria" pitchFamily="34" charset="-120"/>
              </a:rPr>
              <a:t>Abhranil Sarkar</a:t>
            </a:r>
            <a:endParaRPr lang="en-US" sz="2100" dirty="0"/>
          </a:p>
        </p:txBody>
      </p:sp>
      <p:sp>
        <p:nvSpPr>
          <p:cNvPr id="7" name="Text 4"/>
          <p:cNvSpPr txBox="1"/>
          <p:nvPr/>
        </p:nvSpPr>
        <p:spPr>
          <a:xfrm>
            <a:off x="1783080" y="1920240"/>
            <a:ext cx="4023360" cy="457200"/>
          </a:xfrm>
          <a:prstGeom prst="rect">
            <a:avLst/>
          </a:prstGeom>
          <a:noFill/>
          <a:ln/>
        </p:spPr>
        <p:txBody>
          <a:bodyPr wrap="square" lIns="0" tIns="0" rIns="0" bIns="0" rtlCol="0" anchor="t"/>
          <a:lstStyle/>
          <a:p>
            <a:pPr indent="0" marL="0">
              <a:buNone/>
            </a:pPr>
            <a:r>
              <a:rPr lang="en-US" sz="1350" dirty="0">
                <a:solidFill>
                  <a:srgbClr val="52514E"/>
                </a:solidFill>
                <a:latin typeface="Calibri" pitchFamily="34" charset="0"/>
                <a:ea typeface="Calibri" pitchFamily="34" charset="-122"/>
                <a:cs typeface="Calibri" pitchFamily="34" charset="-120"/>
              </a:rPr>
              <a:t>23BML0077  ·  Computational and machine-learning track</a:t>
            </a:r>
            <a:endParaRPr lang="en-US" sz="1350" dirty="0"/>
          </a:p>
        </p:txBody>
      </p:sp>
      <p:sp>
        <p:nvSpPr>
          <p:cNvPr id="8" name="Text 5"/>
          <p:cNvSpPr txBox="1"/>
          <p:nvPr/>
        </p:nvSpPr>
        <p:spPr>
          <a:xfrm>
            <a:off x="868680" y="2697480"/>
            <a:ext cx="4846320" cy="329184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Model instrumentation and the differentiable boundary</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Inversion engine, optimisation, experiment design</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Synthetic characterisation and controls</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Quantitative evaluation and figures</a:t>
            </a:r>
            <a:endParaRPr lang="en-US" sz="1700" dirty="0"/>
          </a:p>
        </p:txBody>
      </p:sp>
      <p:sp>
        <p:nvSpPr>
          <p:cNvPr id="9" name="card"/>
          <p:cNvSpPr/>
          <p:nvPr/>
        </p:nvSpPr>
        <p:spPr>
          <a:xfrm>
            <a:off x="6172200" y="1280160"/>
            <a:ext cx="5440680" cy="4937760"/>
          </a:xfrm>
          <a:prstGeom prst="roundRect">
            <a:avLst>
              <a:gd name="adj" fmla="val 1481"/>
            </a:avLst>
          </a:prstGeom>
          <a:solidFill>
            <a:srgbClr val="EEF3F9"/>
          </a:solidFill>
          <a:ln w="12700">
            <a:solidFill>
              <a:srgbClr val="EEF3F9"/>
            </a:solidFill>
            <a:prstDash val="solid"/>
          </a:ln>
        </p:spPr>
      </p:sp>
      <p:sp>
        <p:nvSpPr>
          <p:cNvPr id="10" name="Shape 7"/>
          <p:cNvSpPr/>
          <p:nvPr/>
        </p:nvSpPr>
        <p:spPr>
          <a:xfrm>
            <a:off x="6446520" y="1508760"/>
            <a:ext cx="777240" cy="777240"/>
          </a:xfrm>
          <a:prstGeom prst="ellipse">
            <a:avLst/>
          </a:prstGeom>
          <a:solidFill>
            <a:srgbClr val="1BAF7A"/>
          </a:solidFill>
          <a:ln w="12700">
            <a:solidFill>
              <a:srgbClr val="1BAF7A"/>
            </a:solidFill>
            <a:prstDash val="solid"/>
          </a:ln>
        </p:spPr>
      </p:sp>
      <p:pic>
        <p:nvPicPr>
          <p:cNvPr id="11" name="Image 1" descr="preencoded.png">    </p:cNvPr>
          <p:cNvPicPr>
            <a:picLocks noChangeAspect="1"/>
          </p:cNvPicPr>
          <p:nvPr/>
        </p:nvPicPr>
        <p:blipFill>
          <a:blip r:embed="rId2"/>
          <a:stretch>
            <a:fillRect/>
          </a:stretch>
        </p:blipFill>
        <p:spPr>
          <a:xfrm>
            <a:off x="6633058" y="1695298"/>
            <a:ext cx="404165" cy="404165"/>
          </a:xfrm>
          <a:prstGeom prst="rect">
            <a:avLst/>
          </a:prstGeom>
        </p:spPr>
      </p:pic>
      <p:sp>
        <p:nvSpPr>
          <p:cNvPr id="12" name="Text 8"/>
          <p:cNvSpPr txBox="1"/>
          <p:nvPr/>
        </p:nvSpPr>
        <p:spPr>
          <a:xfrm>
            <a:off x="7406640" y="1463040"/>
            <a:ext cx="4023360" cy="457200"/>
          </a:xfrm>
          <a:prstGeom prst="rect">
            <a:avLst/>
          </a:prstGeom>
          <a:noFill/>
          <a:ln/>
        </p:spPr>
        <p:txBody>
          <a:bodyPr wrap="square" lIns="0" tIns="0" rIns="0" bIns="0" rtlCol="0" anchor="t"/>
          <a:lstStyle/>
          <a:p>
            <a:pPr indent="0" marL="0">
              <a:buNone/>
            </a:pPr>
            <a:r>
              <a:rPr lang="en-US" sz="2100" b="1" dirty="0">
                <a:solidFill>
                  <a:srgbClr val="13243B"/>
                </a:solidFill>
                <a:latin typeface="Cambria" pitchFamily="34" charset="0"/>
                <a:ea typeface="Cambria" pitchFamily="34" charset="-122"/>
                <a:cs typeface="Cambria" pitchFamily="34" charset="-120"/>
              </a:rPr>
              <a:t>Tanisha Choudhuri</a:t>
            </a:r>
            <a:endParaRPr lang="en-US" sz="2100" dirty="0"/>
          </a:p>
        </p:txBody>
      </p:sp>
      <p:sp>
        <p:nvSpPr>
          <p:cNvPr id="13" name="Text 9"/>
          <p:cNvSpPr txBox="1"/>
          <p:nvPr/>
        </p:nvSpPr>
        <p:spPr>
          <a:xfrm>
            <a:off x="7406640" y="1920240"/>
            <a:ext cx="4023360" cy="457200"/>
          </a:xfrm>
          <a:prstGeom prst="rect">
            <a:avLst/>
          </a:prstGeom>
          <a:noFill/>
          <a:ln/>
        </p:spPr>
        <p:txBody>
          <a:bodyPr wrap="square" lIns="0" tIns="0" rIns="0" bIns="0" rtlCol="0" anchor="t"/>
          <a:lstStyle/>
          <a:p>
            <a:pPr indent="0" marL="0">
              <a:buNone/>
            </a:pPr>
            <a:r>
              <a:rPr lang="en-US" sz="1350" dirty="0">
                <a:solidFill>
                  <a:srgbClr val="52514E"/>
                </a:solidFill>
                <a:latin typeface="Calibri" pitchFamily="34" charset="0"/>
                <a:ea typeface="Calibri" pitchFamily="34" charset="-122"/>
                <a:cs typeface="Calibri" pitchFamily="34" charset="-120"/>
              </a:rPr>
              <a:t>23BML0081  ·  Neurobiological track</a:t>
            </a:r>
            <a:endParaRPr lang="en-US" sz="1350" dirty="0"/>
          </a:p>
        </p:txBody>
      </p:sp>
      <p:sp>
        <p:nvSpPr>
          <p:cNvPr id="14" name="Text 10"/>
          <p:cNvSpPr txBox="1"/>
          <p:nvPr/>
        </p:nvSpPr>
        <p:spPr>
          <a:xfrm>
            <a:off x="6492240" y="2697480"/>
            <a:ext cx="4846320" cy="329184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Functional neuroanatomy and ROI definition (Destrieux atlas)</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Network topology: language, default-mode, auditory, visual</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Real-data curation and preprocessing (LeBel 2023)</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Interpretation of regional findings</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Summary and what Review III will show</a:t>
            </a:r>
            <a:endParaRPr lang="en-US" sz="3000" dirty="0"/>
          </a:p>
        </p:txBody>
      </p:sp>
      <p:sp>
        <p:nvSpPr>
          <p:cNvPr id="3" name="card"/>
          <p:cNvSpPr/>
          <p:nvPr/>
        </p:nvSpPr>
        <p:spPr>
          <a:xfrm>
            <a:off x="548640" y="1234440"/>
            <a:ext cx="548640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777240" y="1371600"/>
            <a:ext cx="502920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Established today</a:t>
            </a:r>
            <a:endParaRPr lang="en-US" sz="1900" dirty="0"/>
          </a:p>
        </p:txBody>
      </p:sp>
      <p:sp>
        <p:nvSpPr>
          <p:cNvPr id="5" name="Text 3"/>
          <p:cNvSpPr txBox="1"/>
          <p:nvPr/>
        </p:nvSpPr>
        <p:spPr>
          <a:xfrm>
            <a:off x="777240" y="1874520"/>
            <a:ext cx="5074920"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A deep brain encoder can be inverted by gradient descent from its feature boundary</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Encoding accuracy and decodability dissociate (28× vs +0.015)</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The inverse is stable under noise; magnitude is the fragile part</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≈10% of cortex carries most recoverable signal</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Generic priors fail; bandwidth needs an explicit HRF model</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Early: the inverse is non-convex, not a null space; errors lie in weak directions</a:t>
            </a:r>
            <a:endParaRPr lang="en-US" sz="1600" dirty="0"/>
          </a:p>
        </p:txBody>
      </p:sp>
      <p:sp>
        <p:nvSpPr>
          <p:cNvPr id="6" name="card"/>
          <p:cNvSpPr/>
          <p:nvPr/>
        </p:nvSpPr>
        <p:spPr>
          <a:xfrm>
            <a:off x="6263640" y="1234440"/>
            <a:ext cx="5349240" cy="4983480"/>
          </a:xfrm>
          <a:prstGeom prst="roundRect">
            <a:avLst>
              <a:gd name="adj" fmla="val 1468"/>
            </a:avLst>
          </a:prstGeom>
          <a:solidFill>
            <a:srgbClr val="FCE4D9"/>
          </a:solidFill>
          <a:ln w="12700">
            <a:solidFill>
              <a:srgbClr val="FCE4D9"/>
            </a:solidFill>
            <a:prstDash val="solid"/>
          </a:ln>
        </p:spPr>
      </p:sp>
      <p:sp>
        <p:nvSpPr>
          <p:cNvPr id="7" name="Text 5"/>
          <p:cNvSpPr txBox="1"/>
          <p:nvPr/>
        </p:nvSpPr>
        <p:spPr>
          <a:xfrm>
            <a:off x="6492240" y="1371600"/>
            <a:ext cx="493776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Coming at Review III</a:t>
            </a:r>
            <a:endParaRPr lang="en-US" sz="1900" dirty="0"/>
          </a:p>
        </p:txBody>
      </p:sp>
      <p:sp>
        <p:nvSpPr>
          <p:cNvPr id="8" name="Text 6"/>
          <p:cNvSpPr txBox="1"/>
          <p:nvPr/>
        </p:nvSpPr>
        <p:spPr>
          <a:xfrm>
            <a:off x="6492240" y="1874520"/>
            <a:ext cx="4937760" cy="420624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Full controls and replication of the early results</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Regional recoverability by anatomical network</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Is the most predictable cortex the most decodable?</a:t>
            </a:r>
            <a:endParaRPr lang="en-US" sz="1700" dirty="0"/>
          </a:p>
          <a:p>
            <a:pPr marL="228600" indent="-228600">
              <a:spcAft>
                <a:spcPts val="600"/>
              </a:spcAft>
              <a:buSzPct val="100000"/>
              <a:buChar char="•"/>
            </a:pPr>
            <a:r>
              <a:rPr lang="en-US" sz="1700" dirty="0">
                <a:solidFill>
                  <a:srgbClr val="0B0B0B"/>
                </a:solidFill>
                <a:latin typeface="Calibri" pitchFamily="34" charset="0"/>
                <a:ea typeface="Calibri" pitchFamily="34" charset="-122"/>
                <a:cs typeface="Calibri" pitchFamily="34" charset="-120"/>
              </a:rPr>
              <a:t>First validation on real fMRI (LeBel 2023)</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Backup  ·  Anticipated questions</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Slides held in reserve for the viva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Why fMRI and not EEG? Why not simultaneous EEG–fMRI?</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EEG?</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Brain2Qwerty (Nat. Neurosci. 2026): the same architecture reaches 29% character error with MEG but 65% with EEG. EEG lacks the spatial resolution to separate semantic regions.</a:t>
            </a:r>
            <a:endParaRPr lang="en-US" sz="16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EEG–fMRI fusion?</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The best open simultaneous dataset (NKI, 22 adults) contains rest, Inscapes and short movie clips, with no sustained language. The approach is data-limited, not method-limited.</a:t>
            </a:r>
            <a:endParaRPr lang="en-US" sz="16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TRIBE v2?</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Largest open-weight encoder: trained on 451.6 h, evaluated on 1 117.7 h from 720 subjects, first of 263 teams at Algonauts 2025, and it predicts all 20 484 cortical vertices.</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Isn't inverting a model circular? Why synthetic data?</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Aren't you just inverting Meta's model, not the brain?</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Yes, deliberately. Any model-based decoder on fMRI inherits the forward model's limits. Characterising the operator bounds every decoder built on it, and the operator reproduces classic findings (FFA, PPA, Broca's area) in its own paper.</a:t>
            </a:r>
            <a:endParaRPr lang="en-US" sz="16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synthetic ground truth?</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With real fMRI the true representation behind the signal is unknown, so error can only be estimated through proxies. Synthetic ground truth gives exact error. Real data (LeBel 2023) is the final validation step, not the instrument.</a:t>
            </a:r>
            <a:endParaRPr lang="en-US" sz="16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 synthetic x realistic?</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We compared off-manifold white noise against smooth low-dimensional trajectories: 0.947 vs 0.942. Results do not depend on the stimulus prior.</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Methodological choices</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cosine similarity?</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Semantic embeddings are compared by direction in NLP. We also report relative error (magnitude) and retrieval (temporal identity), because they can disagree; under noise they do.</a:t>
            </a:r>
            <a:endParaRPr lang="en-US" sz="16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gradient descent instead of a trained decoder?</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A trained decoder conflates its own capacity with the operator's invertibility. Direct inversion isolates the operator. A trained (ridge) baseline is reported at Review III.</a:t>
            </a:r>
            <a:endParaRPr lang="en-US" sz="16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decode x, not words?</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x is what the encoder consumes. Mapping x to words is a nearest-neighbour lookup and not where information is lost.</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Ethics, privacy and licensing</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 this 'mind reading'?</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No subject data is collected. Results show the opposite risk profile: even with a near-perfect forward model, recovery is incomplete and noise-sensitive. Ethics frameworks (OECD 2019; UNESCO 2025) inform the discussion at Review III.</a:t>
            </a:r>
            <a:endParaRPr lang="en-US" sz="16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Consent and data protection?</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Synthetic data contains no personal data. The real-data phase uses a de-identified public corpus (OpenNeuro) released for research.</a:t>
            </a:r>
            <a:endParaRPr lang="en-US" sz="16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Licences?</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600" dirty="0">
                <a:solidFill>
                  <a:srgbClr val="0B0B0B"/>
                </a:solidFill>
                <a:latin typeface="Calibri" pitchFamily="34" charset="0"/>
                <a:ea typeface="Calibri" pitchFamily="34" charset="-122"/>
                <a:cs typeface="Calibri" pitchFamily="34" charset="-120"/>
              </a:rPr>
              <a:t>TRIBE v2 weights and code: CC BY-NC 4.0 (non-commercial research permitted). LLaMA-3.2: Meta community licence, access granted to the team.</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457200" y="1188720"/>
            <a:ext cx="11247120" cy="5120640"/>
          </a:xfrm>
          <a:prstGeom prst="rect">
            <a:avLst/>
          </a:prstGeom>
          <a:noFill/>
          <a:ln/>
        </p:spPr>
        <p:txBody>
          <a:bodyPr wrap="square" lIns="0" tIns="0" rIns="0" bIns="0" rtlCol="0" anchor="t"/>
          <a:lstStyle/>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 T. M. Mitchell et al., “Predicting human brain activity associated with the meanings of nouns,” Science, vol. 320, pp. 1191–1195, 2008.</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[2] K. N. Kay, T. Naselaris, R. J. Prenger, J. L. Gallant, “Identifying natural images from human brain activity,” Nature, vol. 452, pp. 352–355, 2008.</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[3] T. Naselaris, K. N. Kay, S. Nishimoto, J. L. Gallant, “Encoding and decoding in fMRI,” NeuroImage, vol. 56, no. 2, pp. 400–410, 2011.</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[4] A. G. Huth et al., “Natural speech reveals the semantic maps that tile human cerebral cortex,” Nature, vol. 532, pp. 453–458, 2016.</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[5] R. Antonello, A. Vaidya, A. G. Huth, “Scaling laws for language encoding models in fMRI,” in Proc. NeurIPS, vol. 36, 2023.</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[6] J. Tang, A. LeBel, S. Jain, A. G. Huth, “Semantic reconstruction of continuous language from non-invasive brain recordings,” Nat. Neurosci., vol. 26, pp. 858–866, 2023.</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[7] A. LeBel et al., “A natural language fMRI dataset for voxelwise encoding models,” Sci. Data, vol. 10, art. 555, 2023.</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[8] A. Défossez, C. Caucheteux, J. Rapin, O. Kabeli, J.-R. King, “Decoding speech perception from non-invasive brain recordings,” Nat. Mach. Intell., vol. 5, pp. 1097–1107, 2023.</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[9] P. S. Scotti et al., “MindEye2: Shared-subject models enable fMRI-to-image with 1 hour of data,” in Proc. ICML, 2024.</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[10] S. d’Ascoli et al., “Towards decoding individual words from non-invasive brain recordings,” Nat. Commun., vol. 16, art. 10521, 2025.</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[11] J. Lévy, M. Zhang, S. Pinet, J. Rapin, H. Banville, S. d’Ascoli, J.-R. King, “Noninvasive decoding of typed sentences from human brain activity,” Nat. Neurosci., 2026.</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[12] S. d’Ascoli, J. Rapin, Y. Benchetrit, H. Banville, J.-R. King, “TRIBE: TRImodal Brain Encoder for whole-brain fMRI response prediction,” in Proc. ICLR, 2026.</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[13] S. d’Ascoli et al., “A foundation model of vision, audition, and language for in-silico neuroscience,” arXiv:2605.04326, 2026.</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[14] P. C. Hansen, Discrete Inverse Problems: Insight and Algorithms. Philadelphia, PA: SIAM, 2010.</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[15] D. P. Kingma, J. Ba, “Adam: A method for stochastic optimization,” in Proc. ICLR, 2015.</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[16] J. L. Gardner, T. Liu, “Inverted encoding models reconstruct an arbitrary model response, not the stimulus,” eNeuro, vol. 6, no. 2, ENEURO.0363-18.2019, 2019.</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[17] Bladon, Bent, “Feature visualization recovers known cortical selectivity from TRIBE v2,” arXiv:2605.13904, 2026.</a:t>
            </a:r>
            <a:endParaRPr lang="en-US" sz="1250" dirty="0"/>
          </a:p>
          <a:p>
            <a:pPr indent="0" marL="0">
              <a:spcAft>
                <a:spcPts val="300"/>
              </a:spcAft>
              <a:buNone/>
            </a:pPr>
            <a:r>
              <a:rPr lang="en-US" sz="1250" dirty="0">
                <a:solidFill>
                  <a:srgbClr val="0B0B0B"/>
                </a:solidFill>
                <a:latin typeface="Calibri" pitchFamily="34" charset="0"/>
                <a:ea typeface="Calibri" pitchFamily="34" charset="-122"/>
                <a:cs typeface="Calibri" pitchFamily="34" charset="-120"/>
              </a:rPr>
              <a:t>[18] Y. Benchetrit et al., “Boosting brain-to-image decoding with TRIBE v2 data augmentation,” arXiv:2606.06345, 2026.</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Semantic Decoding">
  <a:themeElements>
    <a:clrScheme name="Semantic Decoding">
      <a:dk1>
        <a:srgbClr val="0B0B0B"/>
      </a:dk1>
      <a:lt1>
        <a:srgbClr val="FFFFFF"/>
      </a:lt1>
      <a:dk2>
        <a:srgbClr val="13243B"/>
      </a:dk2>
      <a:lt2>
        <a:srgbClr val="EEF3F9"/>
      </a:lt2>
      <a:accent1>
        <a:srgbClr val="2A78D6"/>
      </a:accent1>
      <a:accent2>
        <a:srgbClr val="EB6834"/>
      </a:accent2>
      <a:accent3>
        <a:srgbClr val="1BAF7A"/>
      </a:accent3>
      <a:accent4>
        <a:srgbClr val="4A3AA7"/>
      </a:accent4>
      <a:accent5>
        <a:srgbClr val="EDA100"/>
      </a:accent5>
      <a:accent6>
        <a:srgbClr val="52514E"/>
      </a:accent6>
      <a:hlink>
        <a:srgbClr val="2A78D6"/>
      </a:hlink>
      <a:folHlink>
        <a:srgbClr val="4A3AA7"/>
      </a:folHlink>
    </a:clrScheme>
    <a:fontScheme name="Semantic Decod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II: Conditioning and Non-Convexity of Semantic Decoding</dc:title>
  <dc:subject>PptxGenJS Presentation</dc:subject>
  <dc:creator>Abhranil Sarkar, Tanisha Choudhuri</dc:creator>
  <cp:lastModifiedBy>Abhranil Sarkar, Tanisha Choudhuri</cp:lastModifiedBy>
  <cp:revision>1</cp:revision>
  <dcterms:created xsi:type="dcterms:W3CDTF">2026-10-13T14:10:07Z</dcterms:created>
  <dcterms:modified xsi:type="dcterms:W3CDTF">2026-10-13T14:10:07Z</dcterms:modified>
</cp:coreProperties>
</file>