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644034d-c582-bedf-1b0c-97150c492c1d}">
          <p14:sldIdLst>
            <p14:sldId id="256"/>
            <p14:sldId id="257"/>
            <p14:sldId id="258"/>
            <p14:sldId id="259"/>
            <p14:sldId id="260"/>
            <p14:sldId id="261"/>
            <p14:sldId id="262"/>
          </p14:sldIdLst>
        </p14:section>
        <p14:section name="Method and validation" id="{3a81e006-fe6a-173d-eb98-c3ea85ce344f}">
          <p14:sldIdLst>
            <p14:sldId id="263"/>
            <p14:sldId id="264"/>
            <p14:sldId id="265"/>
            <p14:sldId id="266"/>
          </p14:sldIdLst>
        </p14:section>
        <p14:section name="Results" id="{2cdcc7ad-c79e-903d-0b2b-b8176dacb91f}">
          <p14:sldIdLst>
            <p14:sldId id="267"/>
            <p14:sldId id="268"/>
            <p14:sldId id="269"/>
            <p14:sldId id="270"/>
            <p14:sldId id="271"/>
            <p14:sldId id="272"/>
            <p14:sldId id="273"/>
            <p14:sldId id="274"/>
          </p14:sldIdLst>
        </p14:section>
        <p14:section name="Regional analysis" id="{2ddda83b-c8df-d0a8-5ade-f8a5c7eab56f}">
          <p14:sldIdLst>
            <p14:sldId id="275"/>
            <p14:sldId id="276"/>
            <p14:sldId id="277"/>
            <p14:sldId id="278"/>
            <p14:sldId id="279"/>
            <p14:sldId id="280"/>
            <p14:sldId id="281"/>
            <p14:sldId id="282"/>
            <p14:sldId id="283"/>
          </p14:sldIdLst>
        </p14:section>
        <p14:section name="Standards and SDGs" id="{4db7606c-3918-ab66-6d7c-abe932e3a254}">
          <p14:sldIdLst>
            <p14:sldId id="284"/>
            <p14:sldId id="285"/>
            <p14:sldId id="286"/>
            <p14:sldId id="287"/>
          </p14:sldIdLst>
        </p14:section>
        <p14:section name="Remaining work" id="{68ae2456-43be-d18f-5fd2-118279ef6f9c}">
          <p14:sldIdLst>
            <p14:sldId id="288"/>
            <p14:sldId id="289"/>
            <p14:sldId id="290"/>
            <p14:sldId id="291"/>
            <p14:sldId id="292"/>
            <p14:sldId id="293"/>
            <p14:sldId id="294"/>
          </p14:sldIdLst>
        </p14:section>
        <p14:section name="Backup: anticipated questions" id="{59b37ac3-e3a1-f4be-c904-3b3f19cd8434}">
          <p14:sldIdLst>
            <p14:sldId id="295"/>
            <p14:sldId id="296"/>
            <p14:sldId id="297"/>
            <p14:sldId id="298"/>
            <p14:sldId id="299"/>
            <p14:sldId id="300"/>
          </p14:sldIdLst>
        </p14:section>
        <p14:section name="References" id="{931d146d-f4b4-966f-defa-c747a4d28f0f}">
          <p14:sldIdLst>
            <p14:sldId id="30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Review II we answered the question we left open: why is recovery incomplete? Short answer: not because information is destroyed, but because the inverse problem is non-convex, with errors concentrated in the operator's least-sensitive directions. We also completed the regional analysis on anatomical networks.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≈68% = completed person-hours in Report I Table-3 over 580 (literature, setup, framework, characterisation, regional analysis, part of real data and reporting). Remaining: the rest of the real-data study and the write-up.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of six objectives complete. O6 is the real-data validation, deliberately last because synthetic ground truth is the instrument and real data the external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line 'objectives well aligned to literature': each row is one prior result, the assumption it made, and the specific measurement we contribute.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 the paper does this; ○ = it does not. Tang 2023 optimises over word sequences (beam search scored by a linear encoder on GPT features) and compares cortical networks, so it gets two marks; its encoder is linear in the LM features, and it never asks whether the answer is unique. Gardner &amp; Liu is the theoretical ancestor of our question, for linear models only. If a reviewer names another paper, ask which column it fills; none we found fills the third column for a deep encoder.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behind the word 'first'. Say it carefully: 'we found no published inverse or identifiability analysis of a deep foundation encoder as of 9 October 2026', not 'nobody has ever done this'. Both TRIBE v2 follow-ups are from 2026 and are the closest possible competitors; neither touches uniqueness or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claim is paired with the number that supports it, so a reviewer can challenge the evidence rather than the wording. Status 'Shown' means the evidence is on a slide in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core as Review II (top row). Added: the anatomical masks and sensitivity maps from the neurobiology track, the hypothesis-testing layer, and explicit controls for every regional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Pre-registered style: each hypothesis has a signature that would show up if it were true and a test that could falsify it. Two were rejected by our own experiments, which is the strongest evidence that the method can discriminate.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'with validation' part of the top rubric band for methodology. The CPU anchor is the same ground truth, initialisation and budget as the Stage 6 GPU run; agreement shows results are not a platform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recap so the panel has the baseline facts before the new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initialisation distributions, 14 000 steps each, all reach prediction MSE within 3.1-4.0e-7 (fit-matched), yet agree with each other only at 0.82-0.90 cosine. Reproduced across four independent ground truths with sd 0.0068. The same pair disagrees most every time, and recovered norms cluster by initialisation (0.90, 0.99, 0.94, 1.17 in every run): solutions separate along a consistent, structured direction, not randomly.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that changed the project's framing. We expected a null space and designed the test to confirm it; it falsified it. Locality check: the advantage of d drops from 2.0× at the point where it was found to 1.0-1.1× at two other ground truths. This test uses only forward passes, so it does not depend on any optimiser.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Directional sensitivity is a finite-difference probe of the Jacobian. All six pairwise difference directions fall 1.4-2.4× below the random median and below the random minimum. So the inverse is not singular (H1 rejected) but it is anisotropic: some directions are weakly constrained, and that is where different minima differ. This links non-convexity to conditioning.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Forward-only test: scale the ground truth by alpha and compare the output change to the optimiser's residual floor (1.3e-6). Only alpha = 1 sits within the floor; alpha = 0.9 and 1.1 are 9.2× and 7.5× above it. Separately, rescaling the recovered trajectory to the true norm changes relative error from 0.5516 to 0.5675. Both rule out 'gain is unidentifiable'.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operator is strongly nonlinear (transformer + pooling), so a linear decoder fitted on the same forward model barely beats chance. This justifies inverting the operator instead of training a linear readout. The comparison is indicative, not exact, and we say so before they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Reviewers often look for what was hidden. Showing it first takes the question away. If pressed on Adam's implicit bias: different initialisation distributions reach different minima reproducibly, and the barrier between them is shown with forward passes; neither depends on Adam.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Atlas: Destrieux et al. (NeuroImage 2010), the anatomical parcellation shipped with Nilearn for fsaverage5 (74 labels per hemisphere); TRIBE v2 vertex order is left 0-10241 then right. Network membership follows Fedorenko et al. 2024 (language) and Buckner et al. 2008 (default mode). Angular gyrus is assigned to language only, so ROIs are disjoint. Somatomotor is the control network that should carry little semantic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Per-vertex forward sensitivity to random perturbations confined to each third of x (text-, audio-, video-derived projector outputs), 16 directions per modality, forward passes only. Map shows each modality's share minus its cortical mean. z-scores compare each network's mean share to 2 000 random vertex sets of the same size; these nulls ignore spatial autocorrelation, so treat the z values as effect sizes and the sign pattern as the result. A spin-permutation test is the stricter next step. This is an independent check that the operator we invert is neuroanatomically sensible.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network is inverted observing only its own vertices; each has a random control of identical size (same seeding scheme as the extent sweep), and two networks have a second random seed: language controls differ by 0.0014, auditory controls by 0.0126, which bounds control variability. Whole-cortex anchor reproduces the earlier GPU value exactly (0.8362), so the CPU run is comparable. All values at a fixed 8 000-step budget and one ground truth: we claim relative differences within this run, not converged absolute values. Auditory is low in absolute terms simply because it has only 277 vertices (cf. extent curve).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with the topography slide: visual cortex is the most video-dominated network (z = +40.7), yet recovering the video-derived dimensions from visual cortex is worse than from random vertices (−0.116). Predictable is not the same as recoverable, even within a region's preferred modality.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Participation ratio = (sum of squared singular values)^2 / sum of fourth powers, of the ROI's response matrix to 128 random input directions: the number of independent input directions the region can tell apart. Practical implication worth stating: a uniform whole-cortex MSE is dominated by high-gain, low-diversity regions such as visual cortex; this predicts that down-weighting them could improve whole-cortex decoding. That is a testable next step, not a result. Caveat: at a fixed 8 000-step budget we cannot separate 'better optimum' from 'faster convergence' for somatomotor.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Participation ratio from the singular values of each region's response to 128 random input directions (forward passes only). Every anatomical network except somatomotor is less diverse than random vertices of the same count, which is expected: anatomically coherent regions respond in correlated ways. A testable prediction follows: whole-cortex decoding should improve if the loss down-weights high-gain, low-diversity regions such as visual cortex.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one-slide answer to 'so what did you find?'. Encoding accuracy is not the bottleneck; the geometry of the inverse is. Practical consequence: better decoders on fMRI need better search (multiple restarts, priors learned from language structure, ensembling over minima) more than better encoders.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ledger the panel can interrogate. 'Established' means replicated or tested against a control; 'Indicative' means the comparison has a stated caveat.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P2794 is still a draft (active PAR since Dec 2022), so we say 'adopts its approach' rather than 'complies with'. P2731 is a working group whose functional-model paper (IEEE OJEMB 2021) defines BCI terminology. If asked about ISO/IEC medical-device standards (IEC 62304, ISO 14971): those apply to a deployed device; this is pre-device research, and they would apply at a translation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Conflicting interests from Review I (fidelity vs privacy) are addressed here: our contribution measures fidelity limits, which is exactly the evidence privacy frameworks need. UNESCO adoption date: 12 November 2025, General Conference.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rubric band asks for clear justification. Each row links a specific target to a specific project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limitations before they are raised. None of them affects the central claims (dissociation, non-convexity, rejected null space), which were replicated and tested with optimiser-independent forward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tunable (the 6-s alignment offset, the 2 000 vertices) was fitted on the five training stories; wheretheressmoke is held out and is not in TRIBE v2's training set. Text + audio features (LLaMA-3.2-3B and w2v-BERT, TRIBE v2's own pipeline) on a Colab T4, 2 000 inversion steps. Oracle (inverting the model's own prediction, same budget): 5/5 identified, cosine 0.22, so even noise-free inversion recovers little of x. An earlier audio-only CPU run gave the same pattern (5/5, cosine 0.06). The key real-data finding mirrors the synthetic one: identification succeeds while cosine recovery is low, i.e. the inverse pins down which moment was heard but not the full representation. Avatar fails alignment QC (no lag peak) and is kept only as a distractor, which makes identification harder, not easier.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Pearson r between predicted and measured BOLD per vertex, averaged within each network. The alignment offset (4 s) and the 2 000 vertices were fitted on the five training stories only. Noise ceiling from the ten repeats of the held-out story, split-half with Spearman-Brown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held-out 100-s segment of measured BOLD is inverted through the frozen model (2 000 Adam steps, correlation loss on the 2 000 training-selected vertices, only the filled modality slots optimised). The recovered x-hat is ranked against the true representations of all 45 segments by mean per-time-step cosine. The oracle inverts the model's own noise-free prediction under the same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S1-S5 complete. S6 runs on Colab GPU with checkpointed stages; S7 drafting has started from the computational methods and results write-up.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one-sentence finding, then stop.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answer short and calm: the claim rests on optimiser-independent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for the null of the z-scores: random-vertex sets of the same size, 2 000 draws; a spin test respects spatial autocorrelation and is the stricter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Values: visual text −0.123, audio −0.139, video −0.115 relative to matched random; somatomotor +0.098, +0.126, +0.085.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to the conclusion slide after this one if the discussion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answers as Review II, kept for continuity.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IEEE format. OECD and UNESCO entries are normative instruments, cited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324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lstStyle>
            <a:lvl1pPr algn="l" indent="0" marL="0">
              <a:buNone/>
              <a:defRPr lang="en-US" sz="40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lstStyle>
            <a:lvl1pPr indent="0" marL="0">
              <a:buNone/>
              <a:defRPr lang="en-US" sz="1800" dirty="0">
                <a:solidFill>
                  <a:srgbClr val="CADCF2"/>
                </a:solidFill>
                <a:latin typeface="Calibri" pitchFamily="34" charset="0"/>
                <a:ea typeface="Calibri" pitchFamily="34" charset="-122"/>
                <a:cs typeface="Calibri" pitchFamily="34" charset="-120"/>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rtlCol="0"/>
          <a:lstStyle>
            <a:lvl1pPr algn="l" indent="0" marL="0">
              <a:buNone/>
              <a:defRPr lang="en-US" sz="3000" b="1" dirty="0">
                <a:solidFill>
                  <a:srgbClr val="13243B"/>
                </a:solidFill>
                <a:latin typeface="Cambria" pitchFamily="34" charset="0"/>
                <a:ea typeface="Cambria" pitchFamily="34" charset="-122"/>
                <a:cs typeface="Cambria" pitchFamily="34" charset="-120"/>
              </a:defRPr>
            </a:lvl1pPr>
          </a:lstStyle>
          <a:p>
            <a:pPr algn="l" indent="0" marL="0">
              <a:buNone/>
            </a:pPr>
            <a:endParaRPr lang="en-US" sz="3000" dirty="0"/>
          </a:p>
        </p:txBody>
      </p:sp>
      <p:sp>
        <p:nvSpPr>
          <p:cNvPr id="3" name="Text 0"/>
          <p:cNvSpPr/>
          <p:nvPr/>
        </p:nvSpPr>
        <p:spPr>
          <a:xfrm>
            <a:off x="457200" y="6446520"/>
            <a:ext cx="9144000" cy="274320"/>
          </a:xfrm>
          <a:prstGeom prst="rect">
            <a:avLst/>
          </a:prstGeom>
          <a:noFill/>
          <a:ln/>
        </p:spPr>
        <p:txBody>
          <a:bodyPr wrap="square" lIns="0" tIns="0" rIns="0" bIns="0" rtlCol="0" anchor="ctr"/>
          <a:lstStyle/>
          <a:p>
            <a:pPr indent="0" marL="0">
              <a:buNone/>
            </a:pPr>
            <a:r>
              <a:rPr lang="en-US" sz="1000" dirty="0">
                <a:solidFill>
                  <a:srgbClr val="8A8984"/>
                </a:solidFill>
                <a:latin typeface="Calibri" pitchFamily="34" charset="0"/>
                <a:ea typeface="Calibri" pitchFamily="34" charset="-122"/>
                <a:cs typeface="Calibri" pitchFamily="34" charset="-120"/>
              </a:rPr>
              <a:t>BECE497J Project-I  ·  Review III  ·  A. Sarkar (23BML0077)  ·  T. Choudhuri (23BML0081)</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4.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1737360"/>
            <a:ext cx="10881360" cy="173736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Conditioning and Non-Convexity of Semantic Decoding by Inversion of Deep Brain Encoding Models</a:t>
            </a:r>
            <a:endParaRPr lang="en-US" sz="4000" dirty="0"/>
          </a:p>
        </p:txBody>
      </p:sp>
      <p:sp>
        <p:nvSpPr>
          <p:cNvPr id="3" name="Text 0"/>
          <p:cNvSpPr/>
          <p:nvPr>
            <p:ph idx="101" type="body" hasCustomPrompt="1"/>
          </p:nvPr>
        </p:nvSpPr>
        <p:spPr>
          <a:xfrm>
            <a:off x="640080" y="3657600"/>
            <a:ext cx="10881360" cy="2377440"/>
          </a:xfrm>
          <a:prstGeom prst="rect">
            <a:avLst/>
          </a:prstGeom>
          <a:noFill/>
          <a:ln/>
        </p:spPr>
        <p:txBody>
          <a:bodyPr wrap="square" rtlCol="0" anchor="t"/>
          <a:lstStyle/>
          <a:p>
            <a:pPr indent="0" marL="0">
              <a:buNone/>
            </a:pPr>
            <a:r>
              <a:rPr lang="en-US" sz="1800" b="1" dirty="0">
                <a:solidFill>
                  <a:srgbClr val="FFFFFF"/>
                </a:solidFill>
                <a:latin typeface="Calibri" pitchFamily="34" charset="0"/>
                <a:ea typeface="Calibri" pitchFamily="34" charset="-122"/>
                <a:cs typeface="Calibri" pitchFamily="34" charset="-120"/>
              </a:rPr>
              <a:t>Project-I (BECE497J)  ·  Review III  ·  60–70% milestone</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Abhranil Sarkar (23BML0077)   ·   Tanisha Choudhuri (23BML0081)</a:t>
            </a:r>
            <a:endParaRPr lang="en-US" sz="1800" dirty="0"/>
          </a:p>
          <a:p>
            <a:pPr indent="0" marL="0">
              <a:buNone/>
            </a:pPr>
            <a:r>
              <a:rPr lang="en-US" sz="1800" dirty="0">
                <a:solidFill>
                  <a:srgbClr val="CADCF2"/>
                </a:solidFill>
                <a:latin typeface="Calibri" pitchFamily="34" charset="0"/>
                <a:ea typeface="Calibri" pitchFamily="34" charset="-122"/>
                <a:cs typeface="Calibri" pitchFamily="34" charset="-120"/>
              </a:rPr>
              <a:t>Guide: Dr. Sharmila Nageswaran, Associate Professor, School of Electronics Engineering</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Progress since Review II</a:t>
            </a:r>
            <a:endParaRPr lang="en-US" sz="3000" dirty="0"/>
          </a:p>
        </p:txBody>
      </p:sp>
      <p:sp>
        <p:nvSpPr>
          <p:cNvPr id="3" name="Text 1"/>
          <p:cNvSpPr txBox="1"/>
          <p:nvPr/>
        </p:nvSpPr>
        <p:spPr>
          <a:xfrm>
            <a:off x="548640" y="1280160"/>
            <a:ext cx="2651760" cy="731520"/>
          </a:xfrm>
          <a:prstGeom prst="rect">
            <a:avLst/>
          </a:prstGeom>
          <a:noFill/>
          <a:ln/>
        </p:spPr>
        <p:txBody>
          <a:bodyPr wrap="square" lIns="0" tIns="0" rIns="0" bIns="0" rtlCol="0" anchor="b"/>
          <a:lstStyle/>
          <a:p>
            <a:pPr indent="0" marL="0">
              <a:buNone/>
            </a:pPr>
            <a:r>
              <a:rPr lang="en-US" sz="4000" b="1" dirty="0">
                <a:solidFill>
                  <a:srgbClr val="EB6834"/>
                </a:solidFill>
                <a:latin typeface="Cambria" pitchFamily="34" charset="0"/>
                <a:ea typeface="Cambria" pitchFamily="34" charset="-122"/>
                <a:cs typeface="Cambria" pitchFamily="34" charset="-120"/>
              </a:rPr>
              <a:t>0.817</a:t>
            </a:r>
            <a:endParaRPr lang="en-US" sz="4000" dirty="0"/>
          </a:p>
        </p:txBody>
      </p:sp>
      <p:sp>
        <p:nvSpPr>
          <p:cNvPr id="4" name="Text 2"/>
          <p:cNvSpPr txBox="1"/>
          <p:nvPr/>
        </p:nvSpPr>
        <p:spPr>
          <a:xfrm>
            <a:off x="54864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min agreement between fit-matched solutions, 4 ground truths (sd 0.007)</a:t>
            </a:r>
            <a:endParaRPr lang="en-US" sz="1300" dirty="0"/>
          </a:p>
        </p:txBody>
      </p:sp>
      <p:sp>
        <p:nvSpPr>
          <p:cNvPr id="5" name="Text 3"/>
          <p:cNvSpPr txBox="1"/>
          <p:nvPr/>
        </p:nvSpPr>
        <p:spPr>
          <a:xfrm>
            <a:off x="3383280" y="1280160"/>
            <a:ext cx="2651760" cy="731520"/>
          </a:xfrm>
          <a:prstGeom prst="rect">
            <a:avLst/>
          </a:prstGeom>
          <a:noFill/>
          <a:ln/>
        </p:spPr>
        <p:txBody>
          <a:bodyPr wrap="square" lIns="0" tIns="0" rIns="0" bIns="0" rtlCol="0" anchor="b"/>
          <a:lstStyle/>
          <a:p>
            <a:pPr indent="0" marL="0">
              <a:buNone/>
            </a:pPr>
            <a:r>
              <a:rPr lang="en-US" sz="4000" b="1" dirty="0">
                <a:solidFill>
                  <a:srgbClr val="2A78D6"/>
                </a:solidFill>
                <a:latin typeface="Cambria" pitchFamily="34" charset="0"/>
                <a:ea typeface="Cambria" pitchFamily="34" charset="-122"/>
                <a:cs typeface="Cambria" pitchFamily="34" charset="-120"/>
              </a:rPr>
              <a:t>0th</a:t>
            </a:r>
            <a:endParaRPr lang="en-US" sz="4000" dirty="0"/>
          </a:p>
        </p:txBody>
      </p:sp>
      <p:sp>
        <p:nvSpPr>
          <p:cNvPr id="6" name="Text 4"/>
          <p:cNvSpPr txBox="1"/>
          <p:nvPr/>
        </p:nvSpPr>
        <p:spPr>
          <a:xfrm>
            <a:off x="338328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percentile: solution-difference directions vs 200 random directions</a:t>
            </a:r>
            <a:endParaRPr lang="en-US" sz="1300" dirty="0"/>
          </a:p>
        </p:txBody>
      </p:sp>
      <p:sp>
        <p:nvSpPr>
          <p:cNvPr id="7" name="Text 5"/>
          <p:cNvSpPr txBox="1"/>
          <p:nvPr/>
        </p:nvSpPr>
        <p:spPr>
          <a:xfrm>
            <a:off x="6217920" y="1280160"/>
            <a:ext cx="2651760" cy="731520"/>
          </a:xfrm>
          <a:prstGeom prst="rect">
            <a:avLst/>
          </a:prstGeom>
          <a:noFill/>
          <a:ln/>
        </p:spPr>
        <p:txBody>
          <a:bodyPr wrap="square" lIns="0" tIns="0" rIns="0" bIns="0" rtlCol="0" anchor="b"/>
          <a:lstStyle/>
          <a:p>
            <a:pPr indent="0" marL="0">
              <a:buNone/>
            </a:pPr>
            <a:r>
              <a:rPr lang="en-US" sz="4000" b="1" dirty="0">
                <a:solidFill>
                  <a:srgbClr val="1BAF7A"/>
                </a:solidFill>
                <a:latin typeface="Cambria" pitchFamily="34" charset="0"/>
                <a:ea typeface="Cambria" pitchFamily="34" charset="-122"/>
                <a:cs typeface="Cambria" pitchFamily="34" charset="-120"/>
              </a:rPr>
              <a:t>15×</a:t>
            </a:r>
            <a:endParaRPr lang="en-US" sz="4000" dirty="0"/>
          </a:p>
        </p:txBody>
      </p:sp>
      <p:sp>
        <p:nvSpPr>
          <p:cNvPr id="8" name="Text 6"/>
          <p:cNvSpPr txBox="1"/>
          <p:nvPr/>
        </p:nvSpPr>
        <p:spPr>
          <a:xfrm>
            <a:off x="621792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gradient inversion over a ridge decoder (0.918 vs 0.060)</a:t>
            </a:r>
            <a:endParaRPr lang="en-US" sz="1300" dirty="0"/>
          </a:p>
        </p:txBody>
      </p:sp>
      <p:sp>
        <p:nvSpPr>
          <p:cNvPr id="9" name="Text 7"/>
          <p:cNvSpPr txBox="1"/>
          <p:nvPr/>
        </p:nvSpPr>
        <p:spPr>
          <a:xfrm>
            <a:off x="9052560" y="1280160"/>
            <a:ext cx="2651760" cy="731520"/>
          </a:xfrm>
          <a:prstGeom prst="rect">
            <a:avLst/>
          </a:prstGeom>
          <a:noFill/>
          <a:ln/>
        </p:spPr>
        <p:txBody>
          <a:bodyPr wrap="square" lIns="0" tIns="0" rIns="0" bIns="0" rtlCol="0" anchor="b"/>
          <a:lstStyle/>
          <a:p>
            <a:pPr indent="0" marL="0">
              <a:buNone/>
            </a:pPr>
            <a:r>
              <a:rPr lang="en-US" sz="4000" b="1" dirty="0">
                <a:solidFill>
                  <a:srgbClr val="4A3AA7"/>
                </a:solidFill>
                <a:latin typeface="Cambria" pitchFamily="34" charset="0"/>
                <a:ea typeface="Cambria" pitchFamily="34" charset="-122"/>
                <a:cs typeface="Cambria" pitchFamily="34" charset="-120"/>
              </a:rPr>
              <a:t>6</a:t>
            </a:r>
            <a:endParaRPr lang="en-US" sz="4000" dirty="0"/>
          </a:p>
        </p:txBody>
      </p:sp>
      <p:sp>
        <p:nvSpPr>
          <p:cNvPr id="10" name="Text 8"/>
          <p:cNvSpPr txBox="1"/>
          <p:nvPr/>
        </p:nvSpPr>
        <p:spPr>
          <a:xfrm>
            <a:off x="9052560" y="2057400"/>
            <a:ext cx="26517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anatomical networks mapped and inverted on fsaverage5</a:t>
            </a:r>
            <a:endParaRPr lang="en-US" sz="1300" dirty="0"/>
          </a:p>
        </p:txBody>
      </p:sp>
      <p:sp>
        <p:nvSpPr>
          <p:cNvPr id="11" name="Text 9"/>
          <p:cNvSpPr txBox="1"/>
          <p:nvPr/>
        </p:nvSpPr>
        <p:spPr>
          <a:xfrm>
            <a:off x="548640" y="3429000"/>
            <a:ext cx="7315200" cy="320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Completion against the project plan</a:t>
            </a:r>
            <a:endParaRPr lang="en-US" sz="1500" dirty="0"/>
          </a:p>
        </p:txBody>
      </p:sp>
      <p:sp>
        <p:nvSpPr>
          <p:cNvPr id="12" name="Shape 10"/>
          <p:cNvSpPr/>
          <p:nvPr/>
        </p:nvSpPr>
        <p:spPr>
          <a:xfrm>
            <a:off x="548640" y="3840480"/>
            <a:ext cx="1525742" cy="384048"/>
          </a:xfrm>
          <a:prstGeom prst="rect">
            <a:avLst/>
          </a:prstGeom>
          <a:solidFill>
            <a:srgbClr val="E4E8EE"/>
          </a:solidFill>
          <a:ln w="12700">
            <a:solidFill>
              <a:srgbClr val="E4E8EE"/>
            </a:solidFill>
            <a:prstDash val="solid"/>
          </a:ln>
        </p:spPr>
      </p:sp>
      <p:sp>
        <p:nvSpPr>
          <p:cNvPr id="13" name="Shape 11"/>
          <p:cNvSpPr/>
          <p:nvPr/>
        </p:nvSpPr>
        <p:spPr>
          <a:xfrm>
            <a:off x="548640" y="3840480"/>
            <a:ext cx="1525742" cy="384048"/>
          </a:xfrm>
          <a:prstGeom prst="rect">
            <a:avLst/>
          </a:prstGeom>
          <a:solidFill>
            <a:srgbClr val="1BAF7A"/>
          </a:solidFill>
          <a:ln w="12700">
            <a:solidFill>
              <a:srgbClr val="1BAF7A"/>
            </a:solidFill>
            <a:prstDash val="solid"/>
          </a:ln>
        </p:spPr>
      </p:sp>
      <p:sp>
        <p:nvSpPr>
          <p:cNvPr id="14" name="Text 12"/>
          <p:cNvSpPr txBox="1"/>
          <p:nvPr/>
        </p:nvSpPr>
        <p:spPr>
          <a:xfrm>
            <a:off x="548640"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Formulation</a:t>
            </a:r>
            <a:endParaRPr lang="en-US" sz="1200" dirty="0"/>
          </a:p>
        </p:txBody>
      </p:sp>
      <p:sp>
        <p:nvSpPr>
          <p:cNvPr id="15" name="Shape 13"/>
          <p:cNvSpPr/>
          <p:nvPr/>
        </p:nvSpPr>
        <p:spPr>
          <a:xfrm>
            <a:off x="2129246" y="3840480"/>
            <a:ext cx="1525742" cy="384048"/>
          </a:xfrm>
          <a:prstGeom prst="rect">
            <a:avLst/>
          </a:prstGeom>
          <a:solidFill>
            <a:srgbClr val="E4E8EE"/>
          </a:solidFill>
          <a:ln w="12700">
            <a:solidFill>
              <a:srgbClr val="E4E8EE"/>
            </a:solidFill>
            <a:prstDash val="solid"/>
          </a:ln>
        </p:spPr>
      </p:sp>
      <p:sp>
        <p:nvSpPr>
          <p:cNvPr id="16" name="Shape 14"/>
          <p:cNvSpPr/>
          <p:nvPr/>
        </p:nvSpPr>
        <p:spPr>
          <a:xfrm>
            <a:off x="2129246" y="3840480"/>
            <a:ext cx="1525742" cy="384048"/>
          </a:xfrm>
          <a:prstGeom prst="rect">
            <a:avLst/>
          </a:prstGeom>
          <a:solidFill>
            <a:srgbClr val="1BAF7A"/>
          </a:solidFill>
          <a:ln w="12700">
            <a:solidFill>
              <a:srgbClr val="1BAF7A"/>
            </a:solidFill>
            <a:prstDash val="solid"/>
          </a:ln>
        </p:spPr>
      </p:sp>
      <p:sp>
        <p:nvSpPr>
          <p:cNvPr id="17" name="Text 15"/>
          <p:cNvSpPr txBox="1"/>
          <p:nvPr/>
        </p:nvSpPr>
        <p:spPr>
          <a:xfrm>
            <a:off x="2129246"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Instrumentation</a:t>
            </a:r>
            <a:endParaRPr lang="en-US" sz="1200" dirty="0"/>
          </a:p>
        </p:txBody>
      </p:sp>
      <p:sp>
        <p:nvSpPr>
          <p:cNvPr id="18" name="Shape 16"/>
          <p:cNvSpPr/>
          <p:nvPr/>
        </p:nvSpPr>
        <p:spPr>
          <a:xfrm>
            <a:off x="3709851" y="3840480"/>
            <a:ext cx="1525742" cy="384048"/>
          </a:xfrm>
          <a:prstGeom prst="rect">
            <a:avLst/>
          </a:prstGeom>
          <a:solidFill>
            <a:srgbClr val="E4E8EE"/>
          </a:solidFill>
          <a:ln w="12700">
            <a:solidFill>
              <a:srgbClr val="E4E8EE"/>
            </a:solidFill>
            <a:prstDash val="solid"/>
          </a:ln>
        </p:spPr>
      </p:sp>
      <p:sp>
        <p:nvSpPr>
          <p:cNvPr id="19" name="Shape 17"/>
          <p:cNvSpPr/>
          <p:nvPr/>
        </p:nvSpPr>
        <p:spPr>
          <a:xfrm>
            <a:off x="3709851" y="3840480"/>
            <a:ext cx="1525742" cy="384048"/>
          </a:xfrm>
          <a:prstGeom prst="rect">
            <a:avLst/>
          </a:prstGeom>
          <a:solidFill>
            <a:srgbClr val="1BAF7A"/>
          </a:solidFill>
          <a:ln w="12700">
            <a:solidFill>
              <a:srgbClr val="1BAF7A"/>
            </a:solidFill>
            <a:prstDash val="solid"/>
          </a:ln>
        </p:spPr>
      </p:sp>
      <p:sp>
        <p:nvSpPr>
          <p:cNvPr id="20" name="Text 18"/>
          <p:cNvSpPr txBox="1"/>
          <p:nvPr/>
        </p:nvSpPr>
        <p:spPr>
          <a:xfrm>
            <a:off x="3709851"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Core characterisation</a:t>
            </a:r>
            <a:endParaRPr lang="en-US" sz="1200" dirty="0"/>
          </a:p>
        </p:txBody>
      </p:sp>
      <p:sp>
        <p:nvSpPr>
          <p:cNvPr id="21" name="Shape 19"/>
          <p:cNvSpPr/>
          <p:nvPr/>
        </p:nvSpPr>
        <p:spPr>
          <a:xfrm>
            <a:off x="5290457" y="3840480"/>
            <a:ext cx="1525742" cy="384048"/>
          </a:xfrm>
          <a:prstGeom prst="rect">
            <a:avLst/>
          </a:prstGeom>
          <a:solidFill>
            <a:srgbClr val="E4E8EE"/>
          </a:solidFill>
          <a:ln w="12700">
            <a:solidFill>
              <a:srgbClr val="E4E8EE"/>
            </a:solidFill>
            <a:prstDash val="solid"/>
          </a:ln>
        </p:spPr>
      </p:sp>
      <p:sp>
        <p:nvSpPr>
          <p:cNvPr id="22" name="Shape 20"/>
          <p:cNvSpPr/>
          <p:nvPr/>
        </p:nvSpPr>
        <p:spPr>
          <a:xfrm>
            <a:off x="5290457" y="3840480"/>
            <a:ext cx="1525742" cy="384048"/>
          </a:xfrm>
          <a:prstGeom prst="rect">
            <a:avLst/>
          </a:prstGeom>
          <a:solidFill>
            <a:srgbClr val="1BAF7A"/>
          </a:solidFill>
          <a:ln w="12700">
            <a:solidFill>
              <a:srgbClr val="1BAF7A"/>
            </a:solidFill>
            <a:prstDash val="solid"/>
          </a:ln>
        </p:spPr>
      </p:sp>
      <p:sp>
        <p:nvSpPr>
          <p:cNvPr id="23" name="Text 21"/>
          <p:cNvSpPr txBox="1"/>
          <p:nvPr/>
        </p:nvSpPr>
        <p:spPr>
          <a:xfrm>
            <a:off x="5290457"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Controls &amp; validation</a:t>
            </a:r>
            <a:endParaRPr lang="en-US" sz="1200" dirty="0"/>
          </a:p>
        </p:txBody>
      </p:sp>
      <p:sp>
        <p:nvSpPr>
          <p:cNvPr id="24" name="Shape 22"/>
          <p:cNvSpPr/>
          <p:nvPr/>
        </p:nvSpPr>
        <p:spPr>
          <a:xfrm>
            <a:off x="6871063" y="3840480"/>
            <a:ext cx="1525742" cy="384048"/>
          </a:xfrm>
          <a:prstGeom prst="rect">
            <a:avLst/>
          </a:prstGeom>
          <a:solidFill>
            <a:srgbClr val="E4E8EE"/>
          </a:solidFill>
          <a:ln w="12700">
            <a:solidFill>
              <a:srgbClr val="E4E8EE"/>
            </a:solidFill>
            <a:prstDash val="solid"/>
          </a:ln>
        </p:spPr>
      </p:sp>
      <p:sp>
        <p:nvSpPr>
          <p:cNvPr id="25" name="Shape 23"/>
          <p:cNvSpPr/>
          <p:nvPr/>
        </p:nvSpPr>
        <p:spPr>
          <a:xfrm>
            <a:off x="6871063" y="3840480"/>
            <a:ext cx="1525742" cy="384048"/>
          </a:xfrm>
          <a:prstGeom prst="rect">
            <a:avLst/>
          </a:prstGeom>
          <a:solidFill>
            <a:srgbClr val="1BAF7A"/>
          </a:solidFill>
          <a:ln w="12700">
            <a:solidFill>
              <a:srgbClr val="1BAF7A"/>
            </a:solidFill>
            <a:prstDash val="solid"/>
          </a:ln>
        </p:spPr>
      </p:sp>
      <p:sp>
        <p:nvSpPr>
          <p:cNvPr id="26" name="Text 24"/>
          <p:cNvSpPr txBox="1"/>
          <p:nvPr/>
        </p:nvSpPr>
        <p:spPr>
          <a:xfrm>
            <a:off x="6871063"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Regional analysis</a:t>
            </a:r>
            <a:endParaRPr lang="en-US" sz="1200" dirty="0"/>
          </a:p>
        </p:txBody>
      </p:sp>
      <p:sp>
        <p:nvSpPr>
          <p:cNvPr id="27" name="Shape 25"/>
          <p:cNvSpPr/>
          <p:nvPr/>
        </p:nvSpPr>
        <p:spPr>
          <a:xfrm>
            <a:off x="8451669" y="3840480"/>
            <a:ext cx="1525742" cy="384048"/>
          </a:xfrm>
          <a:prstGeom prst="rect">
            <a:avLst/>
          </a:prstGeom>
          <a:solidFill>
            <a:srgbClr val="E4E8EE"/>
          </a:solidFill>
          <a:ln w="12700">
            <a:solidFill>
              <a:srgbClr val="E4E8EE"/>
            </a:solidFill>
            <a:prstDash val="solid"/>
          </a:ln>
        </p:spPr>
      </p:sp>
      <p:sp>
        <p:nvSpPr>
          <p:cNvPr id="28" name="Shape 26"/>
          <p:cNvSpPr/>
          <p:nvPr/>
        </p:nvSpPr>
        <p:spPr>
          <a:xfrm>
            <a:off x="8451669" y="3840480"/>
            <a:ext cx="534010" cy="384048"/>
          </a:xfrm>
          <a:prstGeom prst="rect">
            <a:avLst/>
          </a:prstGeom>
          <a:solidFill>
            <a:srgbClr val="EDA100"/>
          </a:solidFill>
          <a:ln w="12700">
            <a:solidFill>
              <a:srgbClr val="EDA100"/>
            </a:solidFill>
            <a:prstDash val="solid"/>
          </a:ln>
        </p:spPr>
      </p:sp>
      <p:sp>
        <p:nvSpPr>
          <p:cNvPr id="29" name="Text 27"/>
          <p:cNvSpPr txBox="1"/>
          <p:nvPr/>
        </p:nvSpPr>
        <p:spPr>
          <a:xfrm>
            <a:off x="8451669"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Real-data study</a:t>
            </a:r>
            <a:endParaRPr lang="en-US" sz="1200" dirty="0"/>
          </a:p>
        </p:txBody>
      </p:sp>
      <p:sp>
        <p:nvSpPr>
          <p:cNvPr id="30" name="Shape 28"/>
          <p:cNvSpPr/>
          <p:nvPr/>
        </p:nvSpPr>
        <p:spPr>
          <a:xfrm>
            <a:off x="10032274" y="3840480"/>
            <a:ext cx="1525742" cy="384048"/>
          </a:xfrm>
          <a:prstGeom prst="rect">
            <a:avLst/>
          </a:prstGeom>
          <a:solidFill>
            <a:srgbClr val="E4E8EE"/>
          </a:solidFill>
          <a:ln w="12700">
            <a:solidFill>
              <a:srgbClr val="E4E8EE"/>
            </a:solidFill>
            <a:prstDash val="solid"/>
          </a:ln>
        </p:spPr>
      </p:sp>
      <p:sp>
        <p:nvSpPr>
          <p:cNvPr id="31" name="Shape 29"/>
          <p:cNvSpPr/>
          <p:nvPr/>
        </p:nvSpPr>
        <p:spPr>
          <a:xfrm>
            <a:off x="10032274" y="3840480"/>
            <a:ext cx="228861" cy="384048"/>
          </a:xfrm>
          <a:prstGeom prst="rect">
            <a:avLst/>
          </a:prstGeom>
          <a:solidFill>
            <a:srgbClr val="EDA100"/>
          </a:solidFill>
          <a:ln w="12700">
            <a:solidFill>
              <a:srgbClr val="EDA100"/>
            </a:solidFill>
            <a:prstDash val="solid"/>
          </a:ln>
        </p:spPr>
      </p:sp>
      <p:sp>
        <p:nvSpPr>
          <p:cNvPr id="32" name="Text 30"/>
          <p:cNvSpPr txBox="1"/>
          <p:nvPr/>
        </p:nvSpPr>
        <p:spPr>
          <a:xfrm>
            <a:off x="10032274" y="4297680"/>
            <a:ext cx="1489166" cy="457200"/>
          </a:xfrm>
          <a:prstGeom prst="rect">
            <a:avLst/>
          </a:prstGeom>
          <a:noFill/>
          <a:ln/>
        </p:spPr>
        <p:txBody>
          <a:bodyPr wrap="square" lIns="0" tIns="0" rIns="0" bIns="0" rtlCol="0" anchor="t"/>
          <a:lstStyle/>
          <a:p>
            <a:pPr indent="0" marL="0">
              <a:buNone/>
            </a:pPr>
            <a:r>
              <a:rPr lang="en-US" sz="1200" dirty="0">
                <a:solidFill>
                  <a:srgbClr val="52514E"/>
                </a:solidFill>
                <a:latin typeface="Calibri" pitchFamily="34" charset="0"/>
                <a:ea typeface="Calibri" pitchFamily="34" charset="-122"/>
                <a:cs typeface="Calibri" pitchFamily="34" charset="-120"/>
              </a:rPr>
              <a:t>Write-up</a:t>
            </a:r>
            <a:endParaRPr lang="en-US" sz="1200" dirty="0"/>
          </a:p>
        </p:txBody>
      </p:sp>
      <p:sp>
        <p:nvSpPr>
          <p:cNvPr id="33" name="card"/>
          <p:cNvSpPr/>
          <p:nvPr/>
        </p:nvSpPr>
        <p:spPr>
          <a:xfrm>
            <a:off x="548640" y="4983480"/>
            <a:ext cx="11064240" cy="1234440"/>
          </a:xfrm>
          <a:prstGeom prst="roundRect">
            <a:avLst>
              <a:gd name="adj" fmla="val 5926"/>
            </a:avLst>
          </a:prstGeom>
          <a:solidFill>
            <a:srgbClr val="EEF3F9"/>
          </a:solidFill>
          <a:ln w="12700">
            <a:solidFill>
              <a:srgbClr val="EEF3F9"/>
            </a:solidFill>
            <a:prstDash val="solid"/>
          </a:ln>
        </p:spPr>
      </p:sp>
      <p:sp>
        <p:nvSpPr>
          <p:cNvPr id="34" name="Text 32"/>
          <p:cNvSpPr txBox="1"/>
          <p:nvPr/>
        </p:nvSpPr>
        <p:spPr>
          <a:xfrm>
            <a:off x="777240" y="5120640"/>
            <a:ext cx="10607040" cy="1005840"/>
          </a:xfrm>
          <a:prstGeom prst="rect">
            <a:avLst/>
          </a:prstGeom>
          <a:noFill/>
          <a:ln/>
        </p:spPr>
        <p:txBody>
          <a:bodyPr wrap="square" lIns="0" tIns="0" rIns="0" bIns="0" rtlCol="0" anchor="ctr"/>
          <a:lstStyle/>
          <a:p>
            <a:pPr indent="0" marL="0">
              <a:buNone/>
            </a:pPr>
            <a:r>
              <a:rPr lang="en-US" sz="1600" b="1" dirty="0">
                <a:solidFill>
                  <a:srgbClr val="13243B"/>
                </a:solidFill>
                <a:latin typeface="Calibri" pitchFamily="34" charset="0"/>
                <a:ea typeface="Calibri" pitchFamily="34" charset="-122"/>
                <a:cs typeface="Calibri" pitchFamily="34" charset="-120"/>
              </a:rPr>
              <a:t>Status: ≈ 68% complete. </a:t>
            </a:r>
            <a:pPr indent="0" marL="0">
              <a:buNone/>
            </a:pPr>
            <a:r>
              <a:rPr lang="en-US" sz="1600" dirty="0">
                <a:solidFill>
                  <a:srgbClr val="0B0B0B"/>
                </a:solidFill>
                <a:latin typeface="Calibri" pitchFamily="34" charset="0"/>
                <a:ea typeface="Calibri" pitchFamily="34" charset="-122"/>
                <a:cs typeface="Calibri" pitchFamily="34" charset="-120"/>
              </a:rPr>
              <a:t>Synthetic characterisation, controls and the regional analysis are finished; real-fMRI validation is under way with first results on a held-out story. Remaining: completing the real-data study and the final report and paper.</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Problem, gap and objectives</a:t>
            </a:r>
            <a:endParaRPr lang="en-US" sz="3000" dirty="0"/>
          </a:p>
        </p:txBody>
      </p:sp>
      <p:sp>
        <p:nvSpPr>
          <p:cNvPr id="3" name="card"/>
          <p:cNvSpPr/>
          <p:nvPr/>
        </p:nvSpPr>
        <p:spPr>
          <a:xfrm>
            <a:off x="548640" y="1234440"/>
            <a:ext cx="11064240" cy="1051560"/>
          </a:xfrm>
          <a:prstGeom prst="roundRect">
            <a:avLst>
              <a:gd name="adj" fmla="val 6957"/>
            </a:avLst>
          </a:prstGeom>
          <a:solidFill>
            <a:srgbClr val="13243B"/>
          </a:solidFill>
          <a:ln w="12700">
            <a:solidFill>
              <a:srgbClr val="13243B"/>
            </a:solidFill>
            <a:prstDash val="solid"/>
          </a:ln>
        </p:spPr>
      </p:sp>
      <p:sp>
        <p:nvSpPr>
          <p:cNvPr id="4" name="Text 2"/>
          <p:cNvSpPr txBox="1"/>
          <p:nvPr/>
        </p:nvSpPr>
        <p:spPr>
          <a:xfrm>
            <a:off x="777240" y="1325880"/>
            <a:ext cx="10607040" cy="868680"/>
          </a:xfrm>
          <a:prstGeom prst="rect">
            <a:avLst/>
          </a:prstGeom>
          <a:noFill/>
          <a:ln/>
        </p:spPr>
        <p:txBody>
          <a:bodyPr wrap="square" lIns="0" tIns="0" rIns="0" bIns="0" rtlCol="0" anchor="ctr"/>
          <a:lstStyle/>
          <a:p>
            <a:pPr indent="0" marL="0">
              <a:buNone/>
            </a:pPr>
            <a:r>
              <a:rPr lang="en-US" sz="1700" b="1" dirty="0">
                <a:solidFill>
                  <a:srgbClr val="FFC9A8"/>
                </a:solidFill>
                <a:latin typeface="Calibri" pitchFamily="34" charset="0"/>
                <a:ea typeface="Calibri" pitchFamily="34" charset="-122"/>
                <a:cs typeface="Calibri" pitchFamily="34" charset="-120"/>
              </a:rPr>
              <a:t>Gap.  </a:t>
            </a:r>
            <a:pPr indent="0" marL="0">
              <a:buNone/>
            </a:pPr>
            <a:r>
              <a:rPr lang="en-US" sz="1700" dirty="0">
                <a:solidFill>
                  <a:srgbClr val="FFFFFF"/>
                </a:solidFill>
                <a:latin typeface="Calibri" pitchFamily="34" charset="0"/>
                <a:ea typeface="Calibri" pitchFamily="34" charset="-122"/>
                <a:cs typeface="Calibri" pitchFamily="34" charset="-120"/>
              </a:rPr>
              <a:t>Encoders keep improving [3, 7], but nobody has measured whether that makes meaning more recoverable from fMRI, or what limits the inverse. Linear encoders are invertible only up to a linear transform [18]; deep encoders were never tested.</a:t>
            </a:r>
            <a:endParaRPr lang="en-US" sz="1700" dirty="0"/>
          </a:p>
        </p:txBody>
      </p:sp>
      <p:sp>
        <p:nvSpPr>
          <p:cNvPr id="5" name="Shape 3"/>
          <p:cNvSpPr/>
          <p:nvPr/>
        </p:nvSpPr>
        <p:spPr>
          <a:xfrm>
            <a:off x="640080" y="2514600"/>
            <a:ext cx="475488" cy="475488"/>
          </a:xfrm>
          <a:prstGeom prst="ellipse">
            <a:avLst/>
          </a:prstGeom>
          <a:solidFill>
            <a:srgbClr val="13243B"/>
          </a:solidFill>
          <a:ln w="12700">
            <a:solidFill>
              <a:srgbClr val="13243B"/>
            </a:solidFill>
            <a:prstDash val="solid"/>
          </a:ln>
        </p:spPr>
      </p:sp>
      <p:sp>
        <p:nvSpPr>
          <p:cNvPr id="6" name="Text 4"/>
          <p:cNvSpPr txBox="1"/>
          <p:nvPr/>
        </p:nvSpPr>
        <p:spPr>
          <a:xfrm>
            <a:off x="640080" y="251460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O1</a:t>
            </a:r>
            <a:endParaRPr lang="en-US" sz="1300" dirty="0"/>
          </a:p>
        </p:txBody>
      </p:sp>
      <p:sp>
        <p:nvSpPr>
          <p:cNvPr id="7" name="Text 5"/>
          <p:cNvSpPr txBox="1"/>
          <p:nvPr/>
        </p:nvSpPr>
        <p:spPr>
          <a:xfrm>
            <a:off x="1280160" y="2532888"/>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Formulate decoding as inversion; find the differentiable entry point</a:t>
            </a:r>
            <a:endParaRPr lang="en-US" sz="1550" dirty="0"/>
          </a:p>
        </p:txBody>
      </p:sp>
      <p:sp>
        <p:nvSpPr>
          <p:cNvPr id="8" name="Shape 6"/>
          <p:cNvSpPr/>
          <p:nvPr/>
        </p:nvSpPr>
        <p:spPr>
          <a:xfrm>
            <a:off x="9966960" y="2578608"/>
            <a:ext cx="1600200" cy="365760"/>
          </a:xfrm>
          <a:prstGeom prst="roundRect">
            <a:avLst>
              <a:gd name="adj" fmla="val 50000"/>
            </a:avLst>
          </a:prstGeom>
          <a:solidFill>
            <a:srgbClr val="1BAF7A"/>
          </a:solidFill>
          <a:ln w="12700">
            <a:solidFill>
              <a:srgbClr val="1BAF7A"/>
            </a:solidFill>
            <a:prstDash val="solid"/>
          </a:ln>
        </p:spPr>
      </p:sp>
      <p:sp>
        <p:nvSpPr>
          <p:cNvPr id="9" name="Text 7"/>
          <p:cNvSpPr txBox="1"/>
          <p:nvPr/>
        </p:nvSpPr>
        <p:spPr>
          <a:xfrm>
            <a:off x="9966960" y="257860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0" name="Shape 8"/>
          <p:cNvSpPr/>
          <p:nvPr/>
        </p:nvSpPr>
        <p:spPr>
          <a:xfrm>
            <a:off x="640080" y="3118104"/>
            <a:ext cx="475488" cy="475488"/>
          </a:xfrm>
          <a:prstGeom prst="ellipse">
            <a:avLst/>
          </a:prstGeom>
          <a:solidFill>
            <a:srgbClr val="13243B"/>
          </a:solidFill>
          <a:ln w="12700">
            <a:solidFill>
              <a:srgbClr val="13243B"/>
            </a:solidFill>
            <a:prstDash val="solid"/>
          </a:ln>
        </p:spPr>
      </p:sp>
      <p:sp>
        <p:nvSpPr>
          <p:cNvPr id="11" name="Text 9"/>
          <p:cNvSpPr txBox="1"/>
          <p:nvPr/>
        </p:nvSpPr>
        <p:spPr>
          <a:xfrm>
            <a:off x="640080" y="3118104"/>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O2</a:t>
            </a:r>
            <a:endParaRPr lang="en-US" sz="1300" dirty="0"/>
          </a:p>
        </p:txBody>
      </p:sp>
      <p:sp>
        <p:nvSpPr>
          <p:cNvPr id="12" name="Text 10"/>
          <p:cNvSpPr txBox="1"/>
          <p:nvPr/>
        </p:nvSpPr>
        <p:spPr>
          <a:xfrm>
            <a:off x="1280160" y="3136392"/>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Synthetic framework with exact ground truth</a:t>
            </a:r>
            <a:endParaRPr lang="en-US" sz="1550" dirty="0"/>
          </a:p>
        </p:txBody>
      </p:sp>
      <p:sp>
        <p:nvSpPr>
          <p:cNvPr id="13" name="Shape 11"/>
          <p:cNvSpPr/>
          <p:nvPr/>
        </p:nvSpPr>
        <p:spPr>
          <a:xfrm>
            <a:off x="9966960" y="3182112"/>
            <a:ext cx="1600200" cy="365760"/>
          </a:xfrm>
          <a:prstGeom prst="roundRect">
            <a:avLst>
              <a:gd name="adj" fmla="val 50000"/>
            </a:avLst>
          </a:prstGeom>
          <a:solidFill>
            <a:srgbClr val="1BAF7A"/>
          </a:solidFill>
          <a:ln w="12700">
            <a:solidFill>
              <a:srgbClr val="1BAF7A"/>
            </a:solidFill>
            <a:prstDash val="solid"/>
          </a:ln>
        </p:spPr>
      </p:sp>
      <p:sp>
        <p:nvSpPr>
          <p:cNvPr id="14" name="Text 12"/>
          <p:cNvSpPr txBox="1"/>
          <p:nvPr/>
        </p:nvSpPr>
        <p:spPr>
          <a:xfrm>
            <a:off x="9966960" y="3182112"/>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15" name="Shape 13"/>
          <p:cNvSpPr/>
          <p:nvPr/>
        </p:nvSpPr>
        <p:spPr>
          <a:xfrm>
            <a:off x="640080" y="3721608"/>
            <a:ext cx="475488" cy="475488"/>
          </a:xfrm>
          <a:prstGeom prst="ellipse">
            <a:avLst/>
          </a:prstGeom>
          <a:solidFill>
            <a:srgbClr val="13243B"/>
          </a:solidFill>
          <a:ln w="12700">
            <a:solidFill>
              <a:srgbClr val="13243B"/>
            </a:solidFill>
            <a:prstDash val="solid"/>
          </a:ln>
        </p:spPr>
      </p:sp>
      <p:sp>
        <p:nvSpPr>
          <p:cNvPr id="16" name="Text 14"/>
          <p:cNvSpPr txBox="1"/>
          <p:nvPr/>
        </p:nvSpPr>
        <p:spPr>
          <a:xfrm>
            <a:off x="640080" y="3721608"/>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O3</a:t>
            </a:r>
            <a:endParaRPr lang="en-US" sz="1300" dirty="0"/>
          </a:p>
        </p:txBody>
      </p:sp>
      <p:sp>
        <p:nvSpPr>
          <p:cNvPr id="17" name="Text 15"/>
          <p:cNvSpPr txBox="1"/>
          <p:nvPr/>
        </p:nvSpPr>
        <p:spPr>
          <a:xfrm>
            <a:off x="1280160" y="3739896"/>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Characterise the inverse vs. budget, noise, extent, priors</a:t>
            </a:r>
            <a:endParaRPr lang="en-US" sz="1550" dirty="0"/>
          </a:p>
        </p:txBody>
      </p:sp>
      <p:sp>
        <p:nvSpPr>
          <p:cNvPr id="18" name="Shape 16"/>
          <p:cNvSpPr/>
          <p:nvPr/>
        </p:nvSpPr>
        <p:spPr>
          <a:xfrm>
            <a:off x="9966960" y="3785616"/>
            <a:ext cx="1600200" cy="365760"/>
          </a:xfrm>
          <a:prstGeom prst="roundRect">
            <a:avLst>
              <a:gd name="adj" fmla="val 50000"/>
            </a:avLst>
          </a:prstGeom>
          <a:solidFill>
            <a:srgbClr val="1BAF7A"/>
          </a:solidFill>
          <a:ln w="12700">
            <a:solidFill>
              <a:srgbClr val="1BAF7A"/>
            </a:solidFill>
            <a:prstDash val="solid"/>
          </a:ln>
        </p:spPr>
      </p:sp>
      <p:sp>
        <p:nvSpPr>
          <p:cNvPr id="19" name="Text 17"/>
          <p:cNvSpPr txBox="1"/>
          <p:nvPr/>
        </p:nvSpPr>
        <p:spPr>
          <a:xfrm>
            <a:off x="9966960" y="3785616"/>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0" name="Shape 18"/>
          <p:cNvSpPr/>
          <p:nvPr/>
        </p:nvSpPr>
        <p:spPr>
          <a:xfrm>
            <a:off x="640080" y="4325112"/>
            <a:ext cx="475488" cy="475488"/>
          </a:xfrm>
          <a:prstGeom prst="ellipse">
            <a:avLst/>
          </a:prstGeom>
          <a:solidFill>
            <a:srgbClr val="13243B"/>
          </a:solidFill>
          <a:ln w="12700">
            <a:solidFill>
              <a:srgbClr val="13243B"/>
            </a:solidFill>
            <a:prstDash val="solid"/>
          </a:ln>
        </p:spPr>
      </p:sp>
      <p:sp>
        <p:nvSpPr>
          <p:cNvPr id="21" name="Text 19"/>
          <p:cNvSpPr txBox="1"/>
          <p:nvPr/>
        </p:nvSpPr>
        <p:spPr>
          <a:xfrm>
            <a:off x="640080" y="4325112"/>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O4</a:t>
            </a:r>
            <a:endParaRPr lang="en-US" sz="1300" dirty="0"/>
          </a:p>
        </p:txBody>
      </p:sp>
      <p:sp>
        <p:nvSpPr>
          <p:cNvPr id="22" name="Text 20"/>
          <p:cNvSpPr txBox="1"/>
          <p:nvPr/>
        </p:nvSpPr>
        <p:spPr>
          <a:xfrm>
            <a:off x="1280160" y="4343400"/>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Discriminate non-identifiability vs. non-convexity vs. optimiser limits</a:t>
            </a:r>
            <a:endParaRPr lang="en-US" sz="1550" dirty="0"/>
          </a:p>
        </p:txBody>
      </p:sp>
      <p:sp>
        <p:nvSpPr>
          <p:cNvPr id="23" name="Shape 21"/>
          <p:cNvSpPr/>
          <p:nvPr/>
        </p:nvSpPr>
        <p:spPr>
          <a:xfrm>
            <a:off x="9966960" y="4389120"/>
            <a:ext cx="1600200" cy="365760"/>
          </a:xfrm>
          <a:prstGeom prst="roundRect">
            <a:avLst>
              <a:gd name="adj" fmla="val 50000"/>
            </a:avLst>
          </a:prstGeom>
          <a:solidFill>
            <a:srgbClr val="1BAF7A"/>
          </a:solidFill>
          <a:ln w="12700">
            <a:solidFill>
              <a:srgbClr val="1BAF7A"/>
            </a:solidFill>
            <a:prstDash val="solid"/>
          </a:ln>
        </p:spPr>
      </p:sp>
      <p:sp>
        <p:nvSpPr>
          <p:cNvPr id="24" name="Text 22"/>
          <p:cNvSpPr txBox="1"/>
          <p:nvPr/>
        </p:nvSpPr>
        <p:spPr>
          <a:xfrm>
            <a:off x="9966960" y="4389120"/>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25" name="Shape 23"/>
          <p:cNvSpPr/>
          <p:nvPr/>
        </p:nvSpPr>
        <p:spPr>
          <a:xfrm>
            <a:off x="640080" y="4928616"/>
            <a:ext cx="475488" cy="475488"/>
          </a:xfrm>
          <a:prstGeom prst="ellipse">
            <a:avLst/>
          </a:prstGeom>
          <a:solidFill>
            <a:srgbClr val="13243B"/>
          </a:solidFill>
          <a:ln w="12700">
            <a:solidFill>
              <a:srgbClr val="13243B"/>
            </a:solidFill>
            <a:prstDash val="solid"/>
          </a:ln>
        </p:spPr>
      </p:sp>
      <p:sp>
        <p:nvSpPr>
          <p:cNvPr id="26" name="Text 24"/>
          <p:cNvSpPr txBox="1"/>
          <p:nvPr/>
        </p:nvSpPr>
        <p:spPr>
          <a:xfrm>
            <a:off x="640080" y="4928616"/>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O5</a:t>
            </a:r>
            <a:endParaRPr lang="en-US" sz="1300" dirty="0"/>
          </a:p>
        </p:txBody>
      </p:sp>
      <p:sp>
        <p:nvSpPr>
          <p:cNvPr id="27" name="Text 25"/>
          <p:cNvSpPr txBox="1"/>
          <p:nvPr/>
        </p:nvSpPr>
        <p:spPr>
          <a:xfrm>
            <a:off x="1280160" y="4946904"/>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Linear baseline; recoverability by anatomical network</a:t>
            </a:r>
            <a:endParaRPr lang="en-US" sz="1550" dirty="0"/>
          </a:p>
        </p:txBody>
      </p:sp>
      <p:sp>
        <p:nvSpPr>
          <p:cNvPr id="28" name="Shape 26"/>
          <p:cNvSpPr/>
          <p:nvPr/>
        </p:nvSpPr>
        <p:spPr>
          <a:xfrm>
            <a:off x="9966960" y="4992624"/>
            <a:ext cx="1600200" cy="365760"/>
          </a:xfrm>
          <a:prstGeom prst="roundRect">
            <a:avLst>
              <a:gd name="adj" fmla="val 50000"/>
            </a:avLst>
          </a:prstGeom>
          <a:solidFill>
            <a:srgbClr val="1BAF7A"/>
          </a:solidFill>
          <a:ln w="12700">
            <a:solidFill>
              <a:srgbClr val="1BAF7A"/>
            </a:solidFill>
            <a:prstDash val="solid"/>
          </a:ln>
        </p:spPr>
      </p:sp>
      <p:sp>
        <p:nvSpPr>
          <p:cNvPr id="29" name="Text 27"/>
          <p:cNvSpPr txBox="1"/>
          <p:nvPr/>
        </p:nvSpPr>
        <p:spPr>
          <a:xfrm>
            <a:off x="9966960" y="4992624"/>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Done</a:t>
            </a:r>
            <a:endParaRPr lang="en-US" sz="1200" dirty="0"/>
          </a:p>
        </p:txBody>
      </p:sp>
      <p:sp>
        <p:nvSpPr>
          <p:cNvPr id="30" name="Shape 28"/>
          <p:cNvSpPr/>
          <p:nvPr/>
        </p:nvSpPr>
        <p:spPr>
          <a:xfrm>
            <a:off x="640080" y="5532120"/>
            <a:ext cx="475488" cy="475488"/>
          </a:xfrm>
          <a:prstGeom prst="ellipse">
            <a:avLst/>
          </a:prstGeom>
          <a:solidFill>
            <a:srgbClr val="13243B"/>
          </a:solidFill>
          <a:ln w="12700">
            <a:solidFill>
              <a:srgbClr val="13243B"/>
            </a:solidFill>
            <a:prstDash val="solid"/>
          </a:ln>
        </p:spPr>
      </p:sp>
      <p:sp>
        <p:nvSpPr>
          <p:cNvPr id="31" name="Text 29"/>
          <p:cNvSpPr txBox="1"/>
          <p:nvPr/>
        </p:nvSpPr>
        <p:spPr>
          <a:xfrm>
            <a:off x="640080" y="5532120"/>
            <a:ext cx="475488" cy="47548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O6</a:t>
            </a:r>
            <a:endParaRPr lang="en-US" sz="1300" dirty="0"/>
          </a:p>
        </p:txBody>
      </p:sp>
      <p:sp>
        <p:nvSpPr>
          <p:cNvPr id="32" name="Text 30"/>
          <p:cNvSpPr txBox="1"/>
          <p:nvPr/>
        </p:nvSpPr>
        <p:spPr>
          <a:xfrm>
            <a:off x="1280160" y="5550408"/>
            <a:ext cx="8503920" cy="457200"/>
          </a:xfrm>
          <a:prstGeom prst="rect">
            <a:avLst/>
          </a:prstGeom>
          <a:noFill/>
          <a:ln/>
        </p:spPr>
        <p:txBody>
          <a:bodyPr wrap="square" lIns="0" tIns="0" rIns="0" bIns="0" rtlCol="0" anchor="ctr"/>
          <a:lstStyle/>
          <a:p>
            <a:pPr indent="0" marL="0">
              <a:buNone/>
            </a:pPr>
            <a:r>
              <a:rPr lang="en-US" sz="1550" dirty="0">
                <a:solidFill>
                  <a:srgbClr val="0B0B0B"/>
                </a:solidFill>
                <a:latin typeface="Calibri" pitchFamily="34" charset="0"/>
                <a:ea typeface="Calibri" pitchFamily="34" charset="-122"/>
                <a:cs typeface="Calibri" pitchFamily="34" charset="-120"/>
              </a:rPr>
              <a:t>Validate on real naturalistic fMRI (LeBel 2023)</a:t>
            </a:r>
            <a:endParaRPr lang="en-US" sz="1550" dirty="0"/>
          </a:p>
        </p:txBody>
      </p:sp>
      <p:sp>
        <p:nvSpPr>
          <p:cNvPr id="33" name="Shape 31"/>
          <p:cNvSpPr/>
          <p:nvPr/>
        </p:nvSpPr>
        <p:spPr>
          <a:xfrm>
            <a:off x="9966960" y="5596128"/>
            <a:ext cx="1600200" cy="365760"/>
          </a:xfrm>
          <a:prstGeom prst="roundRect">
            <a:avLst>
              <a:gd name="adj" fmla="val 50000"/>
            </a:avLst>
          </a:prstGeom>
          <a:solidFill>
            <a:srgbClr val="EDA100"/>
          </a:solidFill>
          <a:ln w="12700">
            <a:solidFill>
              <a:srgbClr val="EDA100"/>
            </a:solidFill>
            <a:prstDash val="solid"/>
          </a:ln>
        </p:spPr>
      </p:sp>
      <p:sp>
        <p:nvSpPr>
          <p:cNvPr id="34" name="Text 32"/>
          <p:cNvSpPr txBox="1"/>
          <p:nvPr/>
        </p:nvSpPr>
        <p:spPr>
          <a:xfrm>
            <a:off x="9966960" y="5596128"/>
            <a:ext cx="160020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In progress</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Objectives anchored to the literature</a:t>
            </a:r>
            <a:endParaRPr lang="en-US" sz="3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743200"/>
                <a:gridCol w="4023360"/>
                <a:gridCol w="4480560"/>
              </a:tblGrid>
              <a:tr h="6400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Prior 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it assumed or left open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we add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Naselaris et al. 2011 [1]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models are the route to decoding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Measure when that route fails: dissociation of 28× vs +0.015</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Antonello et al. 2023 [3]; TRIBE v2 2026 [7]</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Encoding accuracy scales log-linearly with data</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Show decoding saturates while encoding error keeps falling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Tang et al. 2023 [4]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Decoding via LM-guided search, per-subject decoder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Decoder-free inversion; exact error under ground truth</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Hansen 2010 [8] (inverse problems)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Ill-posedness via conditioning and null spaces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Test both on a 177 M-parameter operator: non-convex, not null-space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Huth 2016 [2]; Fedorenko 2024 [10]; Buckner 2008 [11]</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Semantic, language and default-mode networks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Recoverability and modality sensitivity per network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4008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Brain2Qwerty 2026 [6]; Défossez 2023 [22]</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Non-invasive decoding limited by modality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Limits that hold even for a near-perfect fMRI forward model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 prior-art comparison</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3931920"/>
                <a:gridCol w="1828800"/>
                <a:gridCol w="1828800"/>
                <a:gridCol w="1828800"/>
                <a:gridCol w="1828800"/>
              </a:tblGrid>
              <a:tr h="457200">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Closest prior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Nonlinear deep encoder</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Optimises encoder input</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Tests uniqueness / conditioning</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50" b="1" dirty="0">
                          <a:solidFill>
                            <a:srgbClr val="FFFFFF"/>
                          </a:solidFill>
                          <a:latin typeface="Calibri" pitchFamily="34" charset="0"/>
                          <a:ea typeface="Calibri" pitchFamily="34" charset="-122"/>
                          <a:cs typeface="Calibri" pitchFamily="34" charset="-120"/>
                        </a:rPr>
                        <a:t>Region-wise recoverability</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Kay et al., Nature 2008 [21]</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Gardner &amp; Liu, eNeuro 2019 [18]</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Tang et al., Nat. Neurosci. 2023 [4]</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d'Ascoli et al., TRIBE v2, 2026 [7]</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Bladon &amp; Bent, arXiv May 2026 [19]</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57200">
                <a:tc>
                  <a:txBody>
                    <a:bodyPr/>
                    <a:lstStyle/>
                    <a:p>
                      <a:pPr indent="0" marL="0">
                        <a:buNone/>
                      </a:pPr>
                      <a:r>
                        <a:rPr lang="en-US" sz="1450" dirty="0">
                          <a:solidFill>
                            <a:srgbClr val="0B0B0B"/>
                          </a:solidFill>
                          <a:latin typeface="Calibri" pitchFamily="34" charset="0"/>
                          <a:ea typeface="Calibri" pitchFamily="34" charset="-122"/>
                          <a:cs typeface="Calibri" pitchFamily="34" charset="-120"/>
                        </a:rPr>
                        <a:t>Benchetrit et al., arXiv Jun 2026 [20]</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b="1" dirty="0">
                          <a:solidFill>
                            <a:srgbClr val="13243B"/>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algn="ctr" indent="0" marL="0">
                        <a:buNone/>
                      </a:pPr>
                      <a:r>
                        <a:rPr lang="en-US" sz="1800" dirty="0">
                          <a:solidFill>
                            <a:srgbClr val="8A898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57200">
                <a:tc>
                  <a:txBody>
                    <a:bodyPr/>
                    <a:lstStyle/>
                    <a:p>
                      <a:pPr indent="0" marL="0">
                        <a:buNone/>
                      </a:pPr>
                      <a:r>
                        <a:rPr lang="en-US" sz="1450" b="1" dirty="0">
                          <a:solidFill>
                            <a:srgbClr val="0B0B0B"/>
                          </a:solidFill>
                          <a:latin typeface="Calibri" pitchFamily="34" charset="0"/>
                          <a:ea typeface="Calibri" pitchFamily="34" charset="-122"/>
                          <a:cs typeface="Calibri" pitchFamily="34" charset="-120"/>
                        </a:rPr>
                        <a:t>This work</a:t>
                      </a:r>
                      <a:endParaRPr lang="en-US" sz="14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c>
                  <a:txBody>
                    <a:bodyPr/>
                    <a:lstStyle/>
                    <a:p>
                      <a:pPr algn="ctr" indent="0" marL="0">
                        <a:buNone/>
                      </a:pPr>
                      <a:r>
                        <a:rPr lang="en-US" sz="1800" b="1" dirty="0">
                          <a:solidFill>
                            <a:srgbClr val="EB6834"/>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4C2"/>
                    </a:solidFill>
                  </a:tcPr>
                </a:tc>
              </a:tr>
            </a:tbl>
          </a:graphicData>
        </a:graphic>
      </p:graphicFrame>
      <p:sp>
        <p:nvSpPr>
          <p:cNvPr id="4" name="card"/>
          <p:cNvSpPr/>
          <p:nvPr/>
        </p:nvSpPr>
        <p:spPr>
          <a:xfrm>
            <a:off x="457200" y="4937760"/>
            <a:ext cx="11247120" cy="1325880"/>
          </a:xfrm>
          <a:prstGeom prst="roundRect">
            <a:avLst>
              <a:gd name="adj" fmla="val 5517"/>
            </a:avLst>
          </a:prstGeom>
          <a:solidFill>
            <a:srgbClr val="13243B"/>
          </a:solidFill>
          <a:ln w="12700">
            <a:solidFill>
              <a:srgbClr val="13243B"/>
            </a:solidFill>
            <a:prstDash val="solid"/>
          </a:ln>
        </p:spPr>
      </p:sp>
      <p:sp>
        <p:nvSpPr>
          <p:cNvPr id="5" name="Text 2"/>
          <p:cNvSpPr txBox="1"/>
          <p:nvPr/>
        </p:nvSpPr>
        <p:spPr>
          <a:xfrm>
            <a:off x="685800" y="5029200"/>
            <a:ext cx="10789920" cy="1143000"/>
          </a:xfrm>
          <a:prstGeom prst="rect">
            <a:avLst/>
          </a:prstGeom>
          <a:noFill/>
          <a:ln/>
        </p:spPr>
        <p:txBody>
          <a:bodyPr wrap="square" lIns="0" tIns="0" rIns="0" bIns="0" rtlCol="0" anchor="ctr"/>
          <a:lstStyle/>
          <a:p>
            <a:pPr indent="0" marL="0">
              <a:buNone/>
            </a:pPr>
            <a:r>
              <a:rPr lang="en-US" sz="1500" b="1" dirty="0">
                <a:solidFill>
                  <a:srgbClr val="FFC9A8"/>
                </a:solidFill>
                <a:latin typeface="Calibri" pitchFamily="34" charset="0"/>
                <a:ea typeface="Calibri" pitchFamily="34" charset="-122"/>
                <a:cs typeface="Calibri" pitchFamily="34" charset="-120"/>
              </a:rPr>
              <a:t>Only this work fills all four columns.  </a:t>
            </a:r>
            <a:pPr indent="0" marL="0">
              <a:buNone/>
            </a:pPr>
            <a:r>
              <a:rPr lang="en-US" sz="1500" dirty="0">
                <a:solidFill>
                  <a:srgbClr val="FFFFFF"/>
                </a:solidFill>
                <a:latin typeface="Calibri" pitchFamily="34" charset="0"/>
                <a:ea typeface="Calibri" pitchFamily="34" charset="-122"/>
                <a:cs typeface="Calibri" pitchFamily="34" charset="-120"/>
              </a:rPr>
              <a:t>The closest result, Gardner &amp; Liu [18], proves that a linear inverted encoding model recovers the stimulus only up to an invertible linear transform. We ask the same question of a 177 M-parameter nonlinear encoder, where no closed-form answer exists, and answer it empirically with exact ground truth.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Proof of novelty II: search protocol and the closest TRIBE v2 work</a:t>
            </a:r>
            <a:endParaRPr lang="en-US" sz="3000" dirty="0"/>
          </a:p>
        </p:txBody>
      </p:sp>
      <p:sp>
        <p:nvSpPr>
          <p:cNvPr id="3" name="card"/>
          <p:cNvSpPr/>
          <p:nvPr/>
        </p:nvSpPr>
        <p:spPr>
          <a:xfrm>
            <a:off x="457200" y="1234440"/>
            <a:ext cx="5120640" cy="4983480"/>
          </a:xfrm>
          <a:prstGeom prst="roundRect">
            <a:avLst>
              <a:gd name="adj" fmla="val 1468"/>
            </a:avLst>
          </a:prstGeom>
          <a:solidFill>
            <a:srgbClr val="EEF3F9"/>
          </a:solidFill>
          <a:ln w="12700">
            <a:solidFill>
              <a:srgbClr val="EEF3F9"/>
            </a:solidFill>
            <a:prstDash val="solid"/>
          </a:ln>
        </p:spPr>
      </p:sp>
      <p:sp>
        <p:nvSpPr>
          <p:cNvPr id="4" name="Text 2"/>
          <p:cNvSpPr txBox="1"/>
          <p:nvPr/>
        </p:nvSpPr>
        <p:spPr>
          <a:xfrm>
            <a:off x="685800" y="1371600"/>
            <a:ext cx="4663440" cy="411480"/>
          </a:xfrm>
          <a:prstGeom prst="rect">
            <a:avLst/>
          </a:prstGeom>
          <a:noFill/>
          <a:ln/>
        </p:spPr>
        <p:txBody>
          <a:bodyPr wrap="square" lIns="0" tIns="0" rIns="0" bIns="0" rtlCol="0" anchor="t"/>
          <a:lstStyle/>
          <a:p>
            <a:pPr indent="0" marL="0">
              <a:buNone/>
            </a:pPr>
            <a:r>
              <a:rPr lang="en-US" sz="1900" b="1" dirty="0">
                <a:solidFill>
                  <a:srgbClr val="13243B"/>
                </a:solidFill>
                <a:latin typeface="Cambria" pitchFamily="34" charset="0"/>
                <a:ea typeface="Cambria" pitchFamily="34" charset="-122"/>
                <a:cs typeface="Cambria" pitchFamily="34" charset="-120"/>
              </a:rPr>
              <a:t>Search protocol</a:t>
            </a:r>
            <a:endParaRPr lang="en-US" sz="1900" dirty="0"/>
          </a:p>
        </p:txBody>
      </p:sp>
      <p:sp>
        <p:nvSpPr>
          <p:cNvPr id="5" name="Text 3"/>
          <p:cNvSpPr txBox="1"/>
          <p:nvPr/>
        </p:nvSpPr>
        <p:spPr>
          <a:xfrm>
            <a:off x="685800" y="1874520"/>
            <a:ext cx="4709160" cy="4206240"/>
          </a:xfrm>
          <a:prstGeom prst="rect">
            <a:avLst/>
          </a:prstGeom>
          <a:noFill/>
          <a:ln/>
        </p:spPr>
        <p:txBody>
          <a:bodyPr wrap="square" lIns="0" tIns="0" rIns="0" bIns="0" rtlCol="0" anchor="t"/>
          <a:lstStyle/>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Date: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9 October 2026</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Sources: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arXiv, Google Scholar, general web</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Queries: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"TRIBE v2"; invert / inversion / identifiability / conditioning / non-convex + "brain encoding model" / "fMRI encoder"</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Inclusion: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any work that inverts, optimises the input of, or analyses the identifiability of a brain encoding model</a:t>
            </a:r>
            <a:endParaRPr lang="en-US" sz="1450" dirty="0"/>
          </a:p>
          <a:p>
            <a:pPr indent="0" marL="0">
              <a:spcAft>
                <a:spcPts val="800"/>
              </a:spcAft>
              <a:buNone/>
            </a:pPr>
            <a:r>
              <a:rPr lang="en-US" sz="1450" b="1" dirty="0">
                <a:solidFill>
                  <a:srgbClr val="0B0B0B"/>
                </a:solidFill>
                <a:latin typeface="Calibri" pitchFamily="34" charset="0"/>
                <a:ea typeface="Calibri" pitchFamily="34" charset="-122"/>
                <a:cs typeface="Calibri" pitchFamily="34" charset="-120"/>
              </a:rPr>
              <a:t>Result: </a:t>
            </a:r>
            <a:pPr indent="0" marL="0">
              <a:spcAft>
                <a:spcPts val="800"/>
              </a:spcAft>
              <a:buNone/>
            </a:pPr>
            <a:r>
              <a:rPr lang="en-US" sz="1450" dirty="0">
                <a:solidFill>
                  <a:srgbClr val="0B0B0B"/>
                </a:solidFill>
                <a:latin typeface="Calibri" pitchFamily="34" charset="0"/>
                <a:ea typeface="Calibri" pitchFamily="34" charset="-122"/>
                <a:cs typeface="Calibri" pitchFamily="34" charset="-120"/>
              </a:rPr>
              <a:t>two TRIBE v2 follow-ups (right). Neither tests whether the inverse is unique or how it is conditioned.</a:t>
            </a:r>
            <a:endParaRPr lang="en-US" sz="1450" dirty="0"/>
          </a:p>
        </p:txBody>
      </p:sp>
      <p:sp>
        <p:nvSpPr>
          <p:cNvPr id="6" name="card"/>
          <p:cNvSpPr/>
          <p:nvPr/>
        </p:nvSpPr>
        <p:spPr>
          <a:xfrm>
            <a:off x="5806440" y="1234440"/>
            <a:ext cx="5897880" cy="2377440"/>
          </a:xfrm>
          <a:prstGeom prst="roundRect">
            <a:avLst>
              <a:gd name="adj" fmla="val 3077"/>
            </a:avLst>
          </a:prstGeom>
          <a:solidFill>
            <a:srgbClr val="DCE9FA"/>
          </a:solidFill>
          <a:ln w="12700">
            <a:solidFill>
              <a:srgbClr val="DCE9FA"/>
            </a:solidFill>
            <a:prstDash val="solid"/>
          </a:ln>
        </p:spPr>
      </p:sp>
      <p:sp>
        <p:nvSpPr>
          <p:cNvPr id="7" name="Text 5"/>
          <p:cNvSpPr txBox="1"/>
          <p:nvPr/>
        </p:nvSpPr>
        <p:spPr>
          <a:xfrm>
            <a:off x="6035040" y="134416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Bladon &amp; Bent, May 2026 [19]</a:t>
            </a:r>
            <a:endParaRPr lang="en-US" sz="1600" dirty="0"/>
          </a:p>
        </p:txBody>
      </p:sp>
      <p:sp>
        <p:nvSpPr>
          <p:cNvPr id="8" name="Text 6"/>
          <p:cNvSpPr txBox="1"/>
          <p:nvPr/>
        </p:nvSpPr>
        <p:spPr>
          <a:xfrm>
            <a:off x="6035040" y="178308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Feature visualisation: optimises inputs to maximise a region's predicted response and recovers known cortical selectivity.</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Asks what a region prefers. Does not ask whether the input can be recovered, or whether the answer is unique.</a:t>
            </a:r>
            <a:endParaRPr lang="en-US" sz="1450" dirty="0"/>
          </a:p>
        </p:txBody>
      </p:sp>
      <p:sp>
        <p:nvSpPr>
          <p:cNvPr id="9" name="card"/>
          <p:cNvSpPr/>
          <p:nvPr/>
        </p:nvSpPr>
        <p:spPr>
          <a:xfrm>
            <a:off x="5806440" y="3794760"/>
            <a:ext cx="5897880" cy="2377440"/>
          </a:xfrm>
          <a:prstGeom prst="roundRect">
            <a:avLst>
              <a:gd name="adj" fmla="val 3077"/>
            </a:avLst>
          </a:prstGeom>
          <a:solidFill>
            <a:srgbClr val="F6F8FB"/>
          </a:solidFill>
          <a:ln w="12700">
            <a:solidFill>
              <a:srgbClr val="F6F8FB"/>
            </a:solidFill>
            <a:prstDash val="solid"/>
          </a:ln>
        </p:spPr>
      </p:sp>
      <p:sp>
        <p:nvSpPr>
          <p:cNvPr id="10" name="Text 8"/>
          <p:cNvSpPr txBox="1"/>
          <p:nvPr/>
        </p:nvSpPr>
        <p:spPr>
          <a:xfrm>
            <a:off x="6035040" y="3904488"/>
            <a:ext cx="5486400" cy="384048"/>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Benchetrit et al., June 2026 [20]</a:t>
            </a:r>
            <a:endParaRPr lang="en-US" sz="1600" dirty="0"/>
          </a:p>
        </p:txBody>
      </p:sp>
      <p:sp>
        <p:nvSpPr>
          <p:cNvPr id="11" name="Text 9"/>
          <p:cNvSpPr txBox="1"/>
          <p:nvPr/>
        </p:nvSpPr>
        <p:spPr>
          <a:xfrm>
            <a:off x="6035040" y="4343400"/>
            <a:ext cx="5486400" cy="1737360"/>
          </a:xfrm>
          <a:prstGeom prst="rect">
            <a:avLst/>
          </a:prstGeom>
          <a:noFill/>
          <a:ln/>
        </p:spPr>
        <p:txBody>
          <a:bodyPr wrap="square" lIns="0" tIns="0" rIns="0" bIns="0" rtlCol="0" anchor="t"/>
          <a:lstStyle/>
          <a:p>
            <a:pPr indent="0" marL="0">
              <a:spcAft>
                <a:spcPts val="600"/>
              </a:spcAft>
              <a:buNone/>
            </a:pPr>
            <a:r>
              <a:rPr lang="en-US" sz="1450" b="1" dirty="0">
                <a:solidFill>
                  <a:srgbClr val="0B0B0B"/>
                </a:solidFill>
                <a:latin typeface="Calibri" pitchFamily="34" charset="0"/>
                <a:ea typeface="Calibri" pitchFamily="34" charset="-122"/>
                <a:cs typeface="Calibri" pitchFamily="34" charset="-120"/>
              </a:rPr>
              <a:t>What it does: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Uses TRIBE v2 forwards to synthesise fMRI that augments training of a brain-to-image decoder.</a:t>
            </a:r>
            <a:endParaRPr lang="en-US" sz="1450" dirty="0"/>
          </a:p>
          <a:p>
            <a:pPr indent="0" marL="0">
              <a:spcAft>
                <a:spcPts val="600"/>
              </a:spcAft>
              <a:buNone/>
            </a:pPr>
            <a:r>
              <a:rPr lang="en-US" sz="1450" b="1" dirty="0">
                <a:solidFill>
                  <a:srgbClr val="EB6834"/>
                </a:solidFill>
                <a:latin typeface="Calibri" pitchFamily="34" charset="0"/>
                <a:ea typeface="Calibri" pitchFamily="34" charset="-122"/>
                <a:cs typeface="Calibri" pitchFamily="34" charset="-120"/>
              </a:rPr>
              <a:t>Difference: </a:t>
            </a:r>
            <a:pPr indent="0" marL="0">
              <a:spcAft>
                <a:spcPts val="600"/>
              </a:spcAft>
              <a:buNone/>
            </a:pPr>
            <a:r>
              <a:rPr lang="en-US" sz="1450" dirty="0">
                <a:solidFill>
                  <a:srgbClr val="0B0B0B"/>
                </a:solidFill>
                <a:latin typeface="Calibri" pitchFamily="34" charset="0"/>
                <a:ea typeface="Calibri" pitchFamily="34" charset="-122"/>
                <a:cs typeface="Calibri" pitchFamily="34" charset="-120"/>
              </a:rPr>
              <a:t>The encoder is only run forwards; its inverse is never analysed.</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Novel contributions, each with its evidence</a:t>
            </a:r>
            <a:endParaRPr lang="en-US" sz="3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457200"/>
                <a:gridCol w="4206240"/>
                <a:gridCol w="5303520"/>
                <a:gridCol w="1280160"/>
              </a:tblGrid>
              <a:tr h="713232">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Contribution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Evidence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Status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First uniqueness and conditioning analysis of a deep foundation brain encoder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Prior-art matrix and dated search protocol (previous two slides)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accuracy and decodability dissociate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the final halving buys +0.015 recovery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Incomplete recovery is non-convexity, not a null space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Fit-matched solutions disagree (min cosine 0.817 ± 0.007, 4 ground truths); perturbations show barriers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Error concentrates in the operator's least-sensitive directions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Solution-difference direction 1.9× below the random median; 0th percentile of 200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Predictable is not recoverable, region by region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Visual −0.125, somatomotor +0.102 vs size-matched random sets; ≈10× the control spread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13232">
                <a:tc>
                  <a:txBody>
                    <a:bodyPr/>
                    <a:lstStyle/>
                    <a:p>
                      <a:pPr algn="ctr" indent="0" marL="0">
                        <a:buNone/>
                      </a:pPr>
                      <a:r>
                        <a:rPr lang="en-US" sz="1400" b="1" dirty="0">
                          <a:solidFill>
                            <a:srgbClr val="13243B"/>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Nonlinear inversion beats linear decoding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0.918 vs 0.060 for the best ridge decoder (≈15×)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b="1" dirty="0">
                          <a:solidFill>
                            <a:srgbClr val="1BAF7A"/>
                          </a:solidFill>
                          <a:latin typeface="Calibri" pitchFamily="34" charset="0"/>
                          <a:ea typeface="Calibri" pitchFamily="34" charset="-122"/>
                          <a:cs typeface="Calibri" pitchFamily="34" charset="-120"/>
                        </a:rPr>
                        <a:t>Shown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Methodology, analytical model and validation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How every claim is tested, and what would have falsified it</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Functional block diagram (final)</a:t>
            </a:r>
            <a:endParaRPr lang="en-US" sz="3000" dirty="0"/>
          </a:p>
        </p:txBody>
      </p:sp>
      <p:sp>
        <p:nvSpPr>
          <p:cNvPr id="3" name="Shape 1"/>
          <p:cNvSpPr/>
          <p:nvPr/>
        </p:nvSpPr>
        <p:spPr>
          <a:xfrm>
            <a:off x="457200" y="1325880"/>
            <a:ext cx="2286000" cy="1051560"/>
          </a:xfrm>
          <a:prstGeom prst="roundRect">
            <a:avLst>
              <a:gd name="adj" fmla="val 6957"/>
            </a:avLst>
          </a:prstGeom>
          <a:solidFill>
            <a:srgbClr val="13243B"/>
          </a:solidFill>
          <a:ln w="12700">
            <a:solidFill>
              <a:srgbClr val="13243B"/>
            </a:solidFill>
            <a:prstDash val="solid"/>
          </a:ln>
        </p:spPr>
      </p:sp>
      <p:sp>
        <p:nvSpPr>
          <p:cNvPr id="4" name="Text 2"/>
          <p:cNvSpPr txBox="1"/>
          <p:nvPr/>
        </p:nvSpPr>
        <p:spPr>
          <a:xfrm>
            <a:off x="53035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Ground-truth generator</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seeded, 32 × 1152</a:t>
            </a:r>
            <a:endParaRPr lang="en-US" sz="1300" dirty="0"/>
          </a:p>
        </p:txBody>
      </p:sp>
      <p:sp>
        <p:nvSpPr>
          <p:cNvPr id="5" name="Shape 3"/>
          <p:cNvSpPr/>
          <p:nvPr/>
        </p:nvSpPr>
        <p:spPr>
          <a:xfrm>
            <a:off x="3017520" y="1325880"/>
            <a:ext cx="2286000" cy="1051560"/>
          </a:xfrm>
          <a:prstGeom prst="roundRect">
            <a:avLst>
              <a:gd name="adj" fmla="val 6957"/>
            </a:avLst>
          </a:prstGeom>
          <a:solidFill>
            <a:srgbClr val="2A78D6"/>
          </a:solidFill>
          <a:ln w="12700">
            <a:solidFill>
              <a:srgbClr val="2A78D6"/>
            </a:solidFill>
            <a:prstDash val="solid"/>
          </a:ln>
        </p:spPr>
      </p:sp>
      <p:sp>
        <p:nvSpPr>
          <p:cNvPr id="6" name="Text 4"/>
          <p:cNvSpPr txBox="1"/>
          <p:nvPr/>
        </p:nvSpPr>
        <p:spPr>
          <a:xfrm>
            <a:off x="309067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Frozen operator f(x)</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TRIBE v2, 177.21 M params</a:t>
            </a:r>
            <a:endParaRPr lang="en-US" sz="1300" dirty="0"/>
          </a:p>
        </p:txBody>
      </p:sp>
      <p:sp>
        <p:nvSpPr>
          <p:cNvPr id="7" name="Shape 5"/>
          <p:cNvSpPr/>
          <p:nvPr/>
        </p:nvSpPr>
        <p:spPr>
          <a:xfrm>
            <a:off x="5577840" y="1325880"/>
            <a:ext cx="2286000" cy="1051560"/>
          </a:xfrm>
          <a:prstGeom prst="roundRect">
            <a:avLst>
              <a:gd name="adj" fmla="val 6957"/>
            </a:avLst>
          </a:prstGeom>
          <a:solidFill>
            <a:srgbClr val="13243B"/>
          </a:solidFill>
          <a:ln w="12700">
            <a:solidFill>
              <a:srgbClr val="13243B"/>
            </a:solidFill>
            <a:prstDash val="solid"/>
          </a:ln>
        </p:spPr>
      </p:sp>
      <p:sp>
        <p:nvSpPr>
          <p:cNvPr id="8" name="Text 6"/>
          <p:cNvSpPr txBox="1"/>
          <p:nvPr/>
        </p:nvSpPr>
        <p:spPr>
          <a:xfrm>
            <a:off x="5650992" y="1325880"/>
            <a:ext cx="213969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Measurement model</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y = M ⊙ f(x*) + η</a:t>
            </a:r>
            <a:endParaRPr lang="en-US" sz="1300" dirty="0"/>
          </a:p>
        </p:txBody>
      </p:sp>
      <p:sp>
        <p:nvSpPr>
          <p:cNvPr id="9" name="Shape 7"/>
          <p:cNvSpPr/>
          <p:nvPr/>
        </p:nvSpPr>
        <p:spPr>
          <a:xfrm>
            <a:off x="8138160" y="1325880"/>
            <a:ext cx="3566160" cy="1051560"/>
          </a:xfrm>
          <a:prstGeom prst="roundRect">
            <a:avLst>
              <a:gd name="adj" fmla="val 6957"/>
            </a:avLst>
          </a:prstGeom>
          <a:solidFill>
            <a:srgbClr val="EB6834"/>
          </a:solidFill>
          <a:ln w="12700">
            <a:solidFill>
              <a:srgbClr val="EB6834"/>
            </a:solidFill>
            <a:prstDash val="solid"/>
          </a:ln>
        </p:spPr>
      </p:sp>
      <p:sp>
        <p:nvSpPr>
          <p:cNvPr id="10" name="Text 8"/>
          <p:cNvSpPr txBox="1"/>
          <p:nvPr/>
        </p:nvSpPr>
        <p:spPr>
          <a:xfrm>
            <a:off x="8211312" y="13258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 engine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Adam on x, θ frozen, gradients by autograd</a:t>
            </a:r>
            <a:endParaRPr lang="en-US" sz="1300" dirty="0"/>
          </a:p>
        </p:txBody>
      </p:sp>
      <p:sp>
        <p:nvSpPr>
          <p:cNvPr id="11" name="Shape 9"/>
          <p:cNvSpPr/>
          <p:nvPr/>
        </p:nvSpPr>
        <p:spPr>
          <a:xfrm>
            <a:off x="2743200" y="1847088"/>
            <a:ext cx="274320" cy="914"/>
          </a:xfrm>
          <a:prstGeom prst="line">
            <a:avLst/>
          </a:prstGeom>
          <a:noFill/>
          <a:ln w="22225">
            <a:solidFill>
              <a:srgbClr val="8A8984"/>
            </a:solidFill>
            <a:prstDash val="solid"/>
            <a:tailEnd type="triangle"/>
          </a:ln>
        </p:spPr>
      </p:sp>
      <p:sp>
        <p:nvSpPr>
          <p:cNvPr id="12" name="Shape 10"/>
          <p:cNvSpPr/>
          <p:nvPr/>
        </p:nvSpPr>
        <p:spPr>
          <a:xfrm>
            <a:off x="5303520" y="1847088"/>
            <a:ext cx="274320" cy="914"/>
          </a:xfrm>
          <a:prstGeom prst="line">
            <a:avLst/>
          </a:prstGeom>
          <a:noFill/>
          <a:ln w="22225">
            <a:solidFill>
              <a:srgbClr val="8A8984"/>
            </a:solidFill>
            <a:prstDash val="solid"/>
            <a:tailEnd type="triangle"/>
          </a:ln>
        </p:spPr>
      </p:sp>
      <p:sp>
        <p:nvSpPr>
          <p:cNvPr id="13" name="Shape 11"/>
          <p:cNvSpPr/>
          <p:nvPr/>
        </p:nvSpPr>
        <p:spPr>
          <a:xfrm>
            <a:off x="7863840" y="1847088"/>
            <a:ext cx="274320" cy="914"/>
          </a:xfrm>
          <a:prstGeom prst="line">
            <a:avLst/>
          </a:prstGeom>
          <a:noFill/>
          <a:ln w="22225">
            <a:solidFill>
              <a:srgbClr val="8A8984"/>
            </a:solidFill>
            <a:prstDash val="solid"/>
            <a:tailEnd type="triangle"/>
          </a:ln>
        </p:spPr>
      </p:sp>
      <p:sp>
        <p:nvSpPr>
          <p:cNvPr id="14" name="Shape 12"/>
          <p:cNvSpPr/>
          <p:nvPr/>
        </p:nvSpPr>
        <p:spPr>
          <a:xfrm>
            <a:off x="457200" y="2926080"/>
            <a:ext cx="3474720" cy="1051560"/>
          </a:xfrm>
          <a:prstGeom prst="roundRect">
            <a:avLst>
              <a:gd name="adj" fmla="val 6957"/>
            </a:avLst>
          </a:prstGeom>
          <a:solidFill>
            <a:srgbClr val="1BAF7A"/>
          </a:solidFill>
          <a:ln w="12700">
            <a:solidFill>
              <a:srgbClr val="1BAF7A"/>
            </a:solidFill>
            <a:prstDash val="solid"/>
          </a:ln>
        </p:spPr>
      </p:sp>
      <p:sp>
        <p:nvSpPr>
          <p:cNvPr id="15" name="Text 13"/>
          <p:cNvSpPr txBox="1"/>
          <p:nvPr/>
        </p:nvSpPr>
        <p:spPr>
          <a:xfrm>
            <a:off x="530352" y="29260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Anatomical ROI masks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Destrieux atlas → 6 networks on fsaverage5</a:t>
            </a:r>
            <a:endParaRPr lang="en-US" sz="1300" dirty="0"/>
          </a:p>
        </p:txBody>
      </p:sp>
      <p:sp>
        <p:nvSpPr>
          <p:cNvPr id="16" name="Shape 14"/>
          <p:cNvSpPr/>
          <p:nvPr/>
        </p:nvSpPr>
        <p:spPr>
          <a:xfrm>
            <a:off x="4206240" y="2926080"/>
            <a:ext cx="3474720" cy="1051560"/>
          </a:xfrm>
          <a:prstGeom prst="roundRect">
            <a:avLst>
              <a:gd name="adj" fmla="val 6957"/>
            </a:avLst>
          </a:prstGeom>
          <a:solidFill>
            <a:srgbClr val="1BAF7A"/>
          </a:solidFill>
          <a:ln w="12700">
            <a:solidFill>
              <a:srgbClr val="1BAF7A"/>
            </a:solidFill>
            <a:prstDash val="solid"/>
          </a:ln>
        </p:spPr>
      </p:sp>
      <p:sp>
        <p:nvSpPr>
          <p:cNvPr id="17" name="Text 15"/>
          <p:cNvSpPr txBox="1"/>
          <p:nvPr/>
        </p:nvSpPr>
        <p:spPr>
          <a:xfrm>
            <a:off x="4279392" y="29260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Forward sensitivity maps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per-vertex response to text / audio / video dims</a:t>
            </a:r>
            <a:endParaRPr lang="en-US" sz="1300" dirty="0"/>
          </a:p>
        </p:txBody>
      </p:sp>
      <p:sp>
        <p:nvSpPr>
          <p:cNvPr id="18" name="Shape 16"/>
          <p:cNvSpPr/>
          <p:nvPr/>
        </p:nvSpPr>
        <p:spPr>
          <a:xfrm>
            <a:off x="8138160" y="2926080"/>
            <a:ext cx="3566160" cy="1051560"/>
          </a:xfrm>
          <a:prstGeom prst="roundRect">
            <a:avLst>
              <a:gd name="adj" fmla="val 6957"/>
            </a:avLst>
          </a:prstGeom>
          <a:solidFill>
            <a:srgbClr val="4A3AA7"/>
          </a:solidFill>
          <a:ln w="12700">
            <a:solidFill>
              <a:srgbClr val="4A3AA7"/>
            </a:solidFill>
            <a:prstDash val="solid"/>
          </a:ln>
        </p:spPr>
      </p:sp>
      <p:sp>
        <p:nvSpPr>
          <p:cNvPr id="19" name="Text 17"/>
          <p:cNvSpPr txBox="1"/>
          <p:nvPr/>
        </p:nvSpPr>
        <p:spPr>
          <a:xfrm>
            <a:off x="8211312" y="29260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Hypothesis tests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init control · perturbation · sensitivity · gain</a:t>
            </a:r>
            <a:endParaRPr lang="en-US" sz="1300" dirty="0"/>
          </a:p>
        </p:txBody>
      </p:sp>
      <p:sp>
        <p:nvSpPr>
          <p:cNvPr id="20" name="Shape 18"/>
          <p:cNvSpPr/>
          <p:nvPr/>
        </p:nvSpPr>
        <p:spPr>
          <a:xfrm flipV="1">
            <a:off x="2194560" y="2377440"/>
            <a:ext cx="3840480" cy="548640"/>
          </a:xfrm>
          <a:prstGeom prst="line">
            <a:avLst/>
          </a:prstGeom>
          <a:noFill/>
          <a:ln w="22225">
            <a:solidFill>
              <a:srgbClr val="1BAF7A"/>
            </a:solidFill>
            <a:prstDash val="solid"/>
            <a:tailEnd type="triangle"/>
          </a:ln>
        </p:spPr>
      </p:sp>
      <p:sp>
        <p:nvSpPr>
          <p:cNvPr id="21" name="Shape 19"/>
          <p:cNvSpPr/>
          <p:nvPr/>
        </p:nvSpPr>
        <p:spPr>
          <a:xfrm>
            <a:off x="9921240" y="2377440"/>
            <a:ext cx="914" cy="548640"/>
          </a:xfrm>
          <a:prstGeom prst="line">
            <a:avLst/>
          </a:prstGeom>
          <a:noFill/>
          <a:ln w="22225">
            <a:solidFill>
              <a:srgbClr val="EB6834"/>
            </a:solidFill>
            <a:prstDash val="solid"/>
            <a:tailEnd type="triangle"/>
          </a:ln>
        </p:spPr>
      </p:sp>
      <p:sp>
        <p:nvSpPr>
          <p:cNvPr id="22" name="Shape 20"/>
          <p:cNvSpPr/>
          <p:nvPr/>
        </p:nvSpPr>
        <p:spPr>
          <a:xfrm>
            <a:off x="457200" y="4526280"/>
            <a:ext cx="3474720" cy="1051560"/>
          </a:xfrm>
          <a:prstGeom prst="roundRect">
            <a:avLst>
              <a:gd name="adj" fmla="val 6957"/>
            </a:avLst>
          </a:prstGeom>
          <a:solidFill>
            <a:srgbClr val="8A8984"/>
          </a:solidFill>
          <a:ln w="12700">
            <a:solidFill>
              <a:srgbClr val="8A8984"/>
            </a:solidFill>
            <a:prstDash val="solid"/>
          </a:ln>
        </p:spPr>
      </p:sp>
      <p:sp>
        <p:nvSpPr>
          <p:cNvPr id="23" name="Text 21"/>
          <p:cNvSpPr txBox="1"/>
          <p:nvPr/>
        </p:nvSpPr>
        <p:spPr>
          <a:xfrm>
            <a:off x="530352" y="45262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Controls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size-matched random masks · 2nd seed · whole-cortex anchor</a:t>
            </a:r>
            <a:endParaRPr lang="en-US" sz="1300" dirty="0"/>
          </a:p>
        </p:txBody>
      </p:sp>
      <p:sp>
        <p:nvSpPr>
          <p:cNvPr id="24" name="Shape 22"/>
          <p:cNvSpPr/>
          <p:nvPr/>
        </p:nvSpPr>
        <p:spPr>
          <a:xfrm>
            <a:off x="4206240" y="4526280"/>
            <a:ext cx="3474720" cy="1051560"/>
          </a:xfrm>
          <a:prstGeom prst="roundRect">
            <a:avLst>
              <a:gd name="adj" fmla="val 6957"/>
            </a:avLst>
          </a:prstGeom>
          <a:solidFill>
            <a:srgbClr val="1BAF7A"/>
          </a:solidFill>
          <a:ln w="12700">
            <a:solidFill>
              <a:srgbClr val="1BAF7A"/>
            </a:solidFill>
            <a:prstDash val="solid"/>
          </a:ln>
        </p:spPr>
      </p:sp>
      <p:sp>
        <p:nvSpPr>
          <p:cNvPr id="25" name="Text 23"/>
          <p:cNvSpPr txBox="1"/>
          <p:nvPr/>
        </p:nvSpPr>
        <p:spPr>
          <a:xfrm>
            <a:off x="4279392" y="4526280"/>
            <a:ext cx="332841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Evaluation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cosine · per-modality cosine · rel. error · retrieval</a:t>
            </a:r>
            <a:endParaRPr lang="en-US" sz="1300" dirty="0"/>
          </a:p>
        </p:txBody>
      </p:sp>
      <p:sp>
        <p:nvSpPr>
          <p:cNvPr id="26" name="Shape 24"/>
          <p:cNvSpPr/>
          <p:nvPr/>
        </p:nvSpPr>
        <p:spPr>
          <a:xfrm>
            <a:off x="8138160" y="4526280"/>
            <a:ext cx="3566160" cy="1051560"/>
          </a:xfrm>
          <a:prstGeom prst="roundRect">
            <a:avLst>
              <a:gd name="adj" fmla="val 6957"/>
            </a:avLst>
          </a:prstGeom>
          <a:solidFill>
            <a:srgbClr val="13243B"/>
          </a:solidFill>
          <a:ln w="12700">
            <a:solidFill>
              <a:srgbClr val="13243B"/>
            </a:solidFill>
            <a:prstDash val="solid"/>
          </a:ln>
        </p:spPr>
      </p:sp>
      <p:sp>
        <p:nvSpPr>
          <p:cNvPr id="27" name="Text 25"/>
          <p:cNvSpPr txBox="1"/>
          <p:nvPr/>
        </p:nvSpPr>
        <p:spPr>
          <a:xfrm>
            <a:off x="8211312" y="4526280"/>
            <a:ext cx="3419856" cy="10515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Results store</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results.json + ROI json · figures from logged numbers</a:t>
            </a:r>
            <a:endParaRPr lang="en-US" sz="1300" dirty="0"/>
          </a:p>
        </p:txBody>
      </p:sp>
      <p:sp>
        <p:nvSpPr>
          <p:cNvPr id="28" name="Shape 26"/>
          <p:cNvSpPr/>
          <p:nvPr/>
        </p:nvSpPr>
        <p:spPr>
          <a:xfrm>
            <a:off x="3931920" y="5047488"/>
            <a:ext cx="274320" cy="914"/>
          </a:xfrm>
          <a:prstGeom prst="line">
            <a:avLst/>
          </a:prstGeom>
          <a:noFill/>
          <a:ln w="22225">
            <a:solidFill>
              <a:srgbClr val="8A8984"/>
            </a:solidFill>
            <a:prstDash val="solid"/>
            <a:tailEnd type="triangle"/>
          </a:ln>
        </p:spPr>
      </p:sp>
      <p:sp>
        <p:nvSpPr>
          <p:cNvPr id="29" name="Shape 27"/>
          <p:cNvSpPr/>
          <p:nvPr/>
        </p:nvSpPr>
        <p:spPr>
          <a:xfrm>
            <a:off x="7680960" y="5047488"/>
            <a:ext cx="457200" cy="914"/>
          </a:xfrm>
          <a:prstGeom prst="line">
            <a:avLst/>
          </a:prstGeom>
          <a:noFill/>
          <a:ln w="22225">
            <a:solidFill>
              <a:srgbClr val="8A8984"/>
            </a:solidFill>
            <a:prstDash val="solid"/>
            <a:tailEnd type="triangle"/>
          </a:ln>
        </p:spPr>
      </p:sp>
      <p:sp>
        <p:nvSpPr>
          <p:cNvPr id="30" name="Shape 28"/>
          <p:cNvSpPr/>
          <p:nvPr/>
        </p:nvSpPr>
        <p:spPr>
          <a:xfrm>
            <a:off x="9921240" y="3977640"/>
            <a:ext cx="914" cy="548640"/>
          </a:xfrm>
          <a:prstGeom prst="line">
            <a:avLst/>
          </a:prstGeom>
          <a:noFill/>
          <a:ln w="22225">
            <a:solidFill>
              <a:srgbClr val="4A3AA7"/>
            </a:solidFill>
            <a:prstDash val="solid"/>
            <a:tailEnd type="triangle"/>
          </a:ln>
        </p:spPr>
      </p:sp>
      <p:sp>
        <p:nvSpPr>
          <p:cNvPr id="31" name="Text 29"/>
          <p:cNvSpPr txBox="1"/>
          <p:nvPr/>
        </p:nvSpPr>
        <p:spPr>
          <a:xfrm>
            <a:off x="457200" y="5806440"/>
            <a:ext cx="11247120" cy="365760"/>
          </a:xfrm>
          <a:prstGeom prst="rect">
            <a:avLst/>
          </a:prstGeom>
          <a:noFill/>
          <a:ln/>
        </p:spPr>
        <p:txBody>
          <a:bodyPr wrap="square" lIns="0" tIns="0" rIns="0" bIns="0" rtlCol="0" anchor="t"/>
          <a:lstStyle/>
          <a:p>
            <a:pPr indent="0" marL="0">
              <a:buNone/>
            </a:pPr>
            <a:r>
              <a:rPr lang="en-US" sz="1300" i="1" dirty="0">
                <a:solidFill>
                  <a:srgbClr val="52514E"/>
                </a:solidFill>
                <a:latin typeface="Calibri" pitchFamily="34" charset="0"/>
                <a:ea typeface="Calibri" pitchFamily="34" charset="-122"/>
                <a:cs typeface="Calibri" pitchFamily="34" charset="-120"/>
              </a:rPr>
              <a:t>New since Review II: ROI masks, sensitivity maps, hypothesis tests and controls (green / violet / grey).</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Four explanations for incomplete recovery</a:t>
            </a:r>
            <a:endParaRPr lang="en-US" sz="3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017520"/>
                <a:gridCol w="3291840"/>
                <a:gridCol w="3291840"/>
                <a:gridCol w="1645920"/>
              </a:tblGrid>
              <a:tr h="77724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Hypothesis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Predicted signature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Test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Verdict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H1  Information loss (null space)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Fit-matched solutions differ along a direction the operator ignores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Perturb along the difference d vs random directions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C0392B"/>
                          </a:solidFill>
                          <a:latin typeface="Calibri" pitchFamily="34" charset="0"/>
                          <a:ea typeface="Calibri" pitchFamily="34" charset="-122"/>
                          <a:cs typeface="Calibri" pitchFamily="34" charset="-120"/>
                        </a:rPr>
                        <a:t>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H2  Non-convexity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Distinct minima at equal fit, separated by a barrier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Init control at matched fit; replicate × 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Supported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H3  Optimiser artefact (under-convergence)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Recovery keeps rising with budget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Convergence curve; fit-matched inclusion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Controlled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H4  Unidentifiable gain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Rescaled x produces the same output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Forward-only rescaling test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b="1" dirty="0">
                          <a:solidFill>
                            <a:srgbClr val="C0392B"/>
                          </a:solidFill>
                          <a:latin typeface="Calibri" pitchFamily="34" charset="0"/>
                          <a:ea typeface="Calibri" pitchFamily="34" charset="-122"/>
                          <a:cs typeface="Calibri" pitchFamily="34" charset="-120"/>
                        </a:rPr>
                        <a:t>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77724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H5  Errors along weak directions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Difference directions have low Jacobian response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Directional sensitivity vs 200 random</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b="1" dirty="0">
                          <a:solidFill>
                            <a:srgbClr val="138A5E"/>
                          </a:solidFill>
                          <a:latin typeface="Calibri" pitchFamily="34" charset="0"/>
                          <a:ea typeface="Calibri" pitchFamily="34" charset="-122"/>
                          <a:cs typeface="Calibri" pitchFamily="34" charset="-120"/>
                        </a:rPr>
                        <a:t>Supported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Validation built into the method</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566160"/>
                <a:gridCol w="4206240"/>
                <a:gridCol w="3474720"/>
              </a:tblGrid>
              <a:tr h="566928">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Risk to validity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Safeguard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Measuring the optimiser, not the operator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Converge first; independent runs to schedule end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Plateau ≈ 0.94 by 32 000 steps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Under-converged runs posing as alternative solutions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Only solutions within 2× of best fit compared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gauss_5.0 excluded (3.4× worse fit)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One trajectory being special</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Replicate across 4 independent ground truths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min pairwise 0.8165 ± 0.0068</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Inference instead of demonstration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Direct perturbation test along 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Ratio 2.6× → 0.6×: H1 rejected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ROI size confound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Random vertex sets of identical size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Paired comparison per network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Random-seed luck in controls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Second random seed for two networks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Δ between seeds ≤ 0.013</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66928">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Platform dependence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Whole-cortex anchor re-run on CPU vs earlier GPU</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0.836 vs 0.836 (GPU)</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Results and interpretation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Why recovery is incomplete, and where in cortex meaning is recoverable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Recap: encoding and decoding dissociate</a:t>
            </a:r>
            <a:endParaRPr lang="en-US" sz="3000" dirty="0"/>
          </a:p>
        </p:txBody>
      </p:sp>
      <p:pic>
        <p:nvPicPr>
          <p:cNvPr id="3" name="Image 0" descr="/home/claude/work/deck/assets_deck/fig_dissociation.png">    </p:cNvPr>
          <p:cNvPicPr>
            <a:picLocks noChangeAspect="1"/>
          </p:cNvPicPr>
          <p:nvPr/>
        </p:nvPicPr>
        <p:blipFill>
          <a:blip r:embed="rId1"/>
          <a:stretch>
            <a:fillRect/>
          </a:stretch>
        </p:blipFill>
        <p:spPr>
          <a:xfrm>
            <a:off x="365760" y="1888342"/>
            <a:ext cx="5852160" cy="3538515"/>
          </a:xfrm>
          <a:prstGeom prst="rect">
            <a:avLst/>
          </a:prstGeom>
        </p:spPr>
      </p:pic>
      <p:pic>
        <p:nvPicPr>
          <p:cNvPr id="4" name="Image 1" descr="/home/claude/work/deck/assets_deck/fig_extent.png">    </p:cNvPr>
          <p:cNvPicPr>
            <a:picLocks noChangeAspect="1"/>
          </p:cNvPicPr>
          <p:nvPr/>
        </p:nvPicPr>
        <p:blipFill>
          <a:blip r:embed="rId2"/>
          <a:stretch>
            <a:fillRect/>
          </a:stretch>
        </p:blipFill>
        <p:spPr>
          <a:xfrm>
            <a:off x="6309360" y="1532152"/>
            <a:ext cx="5486400" cy="3062177"/>
          </a:xfrm>
          <a:prstGeom prst="rect">
            <a:avLst/>
          </a:prstGeom>
        </p:spPr>
      </p:pic>
      <p:sp>
        <p:nvSpPr>
          <p:cNvPr id="5" name="card"/>
          <p:cNvSpPr/>
          <p:nvPr/>
        </p:nvSpPr>
        <p:spPr>
          <a:xfrm>
            <a:off x="6355080" y="5074920"/>
            <a:ext cx="5349240" cy="1143000"/>
          </a:xfrm>
          <a:prstGeom prst="roundRect">
            <a:avLst>
              <a:gd name="adj" fmla="val 6400"/>
            </a:avLst>
          </a:prstGeom>
          <a:solidFill>
            <a:srgbClr val="EEF3F9"/>
          </a:solidFill>
          <a:ln w="12700">
            <a:solidFill>
              <a:srgbClr val="EEF3F9"/>
            </a:solidFill>
            <a:prstDash val="solid"/>
          </a:ln>
        </p:spPr>
      </p:sp>
      <p:sp>
        <p:nvSpPr>
          <p:cNvPr id="6" name="Text 2"/>
          <p:cNvSpPr txBox="1"/>
          <p:nvPr/>
        </p:nvSpPr>
        <p:spPr>
          <a:xfrm>
            <a:off x="6537960" y="5120640"/>
            <a:ext cx="4983480" cy="105156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Encoding error falls 28.4× while recovery saturates at 0.944. Recovery saturates near 2 000 random vertices. Both established at Review II.</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Same fit, different answers: the inverse is non-convex</a:t>
            </a:r>
            <a:endParaRPr lang="en-US" sz="3000" dirty="0"/>
          </a:p>
        </p:txBody>
      </p:sp>
      <p:pic>
        <p:nvPicPr>
          <p:cNvPr id="3" name="Image 0" descr="/home/claude/work/deck/assets_deck/fig_nonconvex.png">    </p:cNvPr>
          <p:cNvPicPr>
            <a:picLocks noChangeAspect="1"/>
          </p:cNvPicPr>
          <p:nvPr/>
        </p:nvPicPr>
        <p:blipFill>
          <a:blip r:embed="rId1"/>
          <a:stretch>
            <a:fillRect/>
          </a:stretch>
        </p:blipFill>
        <p:spPr>
          <a:xfrm>
            <a:off x="937260" y="1188720"/>
            <a:ext cx="10287000" cy="4114800"/>
          </a:xfrm>
          <a:prstGeom prst="rect">
            <a:avLst/>
          </a:prstGeom>
        </p:spPr>
      </p:pic>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5349240"/>
          <a:ext cx="11247120" cy="914400"/>
        </p:xfrm>
        <a:graphic>
          <a:graphicData uri="http://schemas.openxmlformats.org/drawingml/2006/table">
            <a:tbl>
              <a:tblPr/>
              <a:tblGrid>
                <a:gridCol w="1645920"/>
                <a:gridCol w="1645920"/>
                <a:gridCol w="2011680"/>
                <a:gridCol w="2011680"/>
                <a:gridCol w="3931920"/>
              </a:tblGrid>
              <a:tr h="219456">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Ground truth</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Best fit</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Mean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Min pairwise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Worst pair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0.8068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3.65e-7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0.8934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3.11e-7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0.9007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0.8257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19456">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3.13e-7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0.8996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0.8186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uniform vs truth+noise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Information-loss hypothesis rejected</a:t>
            </a:r>
            <a:endParaRPr lang="en-US" sz="3000" dirty="0"/>
          </a:p>
        </p:txBody>
      </p:sp>
      <p:pic>
        <p:nvPicPr>
          <p:cNvPr id="3" name="Image 0" descr="/home/claude/work/deck/assets_deck/fig_nullspace_test.png">    </p:cNvPr>
          <p:cNvPicPr>
            <a:picLocks noChangeAspect="1"/>
          </p:cNvPicPr>
          <p:nvPr/>
        </p:nvPicPr>
        <p:blipFill>
          <a:blip r:embed="rId1"/>
          <a:stretch>
            <a:fillRect/>
          </a:stretch>
        </p:blipFill>
        <p:spPr>
          <a:xfrm>
            <a:off x="365760" y="1674796"/>
            <a:ext cx="6400800" cy="3874168"/>
          </a:xfrm>
          <a:prstGeom prst="rect">
            <a:avLst/>
          </a:prstGeom>
        </p:spPr>
      </p:pic>
      <p:sp>
        <p:nvSpPr>
          <p:cNvPr id="4" name="card"/>
          <p:cNvSpPr/>
          <p:nvPr/>
        </p:nvSpPr>
        <p:spPr>
          <a:xfrm>
            <a:off x="7040880" y="1280160"/>
            <a:ext cx="4663440" cy="4892040"/>
          </a:xfrm>
          <a:prstGeom prst="roundRect">
            <a:avLst>
              <a:gd name="adj" fmla="val 1569"/>
            </a:avLst>
          </a:prstGeom>
          <a:solidFill>
            <a:srgbClr val="EEF3F9"/>
          </a:solidFill>
          <a:ln w="12700">
            <a:solidFill>
              <a:srgbClr val="EEF3F9"/>
            </a:solidFill>
            <a:prstDash val="solid"/>
          </a:ln>
        </p:spPr>
      </p:sp>
      <p:sp>
        <p:nvSpPr>
          <p:cNvPr id="5" name="Text 2"/>
          <p:cNvSpPr txBox="1"/>
          <p:nvPr/>
        </p:nvSpPr>
        <p:spPr>
          <a:xfrm>
            <a:off x="7269480" y="1417320"/>
            <a:ext cx="4251960" cy="4663440"/>
          </a:xfrm>
          <a:prstGeom prst="rect">
            <a:avLst/>
          </a:prstGeom>
          <a:noFill/>
          <a:ln/>
        </p:spPr>
        <p:txBody>
          <a:bodyPr wrap="square" lIns="0" tIns="0" rIns="0" bIns="0" rtlCol="0" anchor="t"/>
          <a:lstStyle/>
          <a:p>
            <a:pPr indent="0" marL="0">
              <a:buNone/>
            </a:pPr>
            <a:r>
              <a:rPr lang="en-US" sz="1700" b="1" dirty="0">
                <a:solidFill>
                  <a:srgbClr val="13243B"/>
                </a:solidFill>
                <a:latin typeface="Calibri" pitchFamily="34" charset="0"/>
                <a:ea typeface="Calibri" pitchFamily="34" charset="-122"/>
                <a:cs typeface="Calibri" pitchFamily="34" charset="-120"/>
              </a:rPr>
              <a:t>Test</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Let d be the difference between two fit-matched solutions. If d lay in a null space, moving along d would barely change the predicted response, at every scale.</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 </a:t>
            </a:r>
            <a:endParaRPr lang="en-US" sz="1450" dirty="0"/>
          </a:p>
          <a:p>
            <a:pPr indent="0" marL="0">
              <a:buNone/>
            </a:pPr>
            <a:r>
              <a:rPr lang="en-US" sz="1700" b="1" dirty="0">
                <a:solidFill>
                  <a:srgbClr val="13243B"/>
                </a:solidFill>
                <a:latin typeface="Calibri" pitchFamily="34" charset="0"/>
                <a:ea typeface="Calibri" pitchFamily="34" charset="-122"/>
                <a:cs typeface="Calibri" pitchFamily="34" charset="-120"/>
              </a:rPr>
              <a:t>Result</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Privileged only for small steps (2.6×). At the full separation, moving along d changes the response more than a random direction (0.6×).</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 </a:t>
            </a:r>
            <a:endParaRPr lang="en-US" sz="1450" dirty="0"/>
          </a:p>
          <a:p>
            <a:pPr indent="0" marL="0">
              <a:buNone/>
            </a:pPr>
            <a:r>
              <a:rPr lang="en-US" sz="1700" b="1" dirty="0">
                <a:solidFill>
                  <a:srgbClr val="13243B"/>
                </a:solidFill>
                <a:latin typeface="Calibri" pitchFamily="34" charset="0"/>
                <a:ea typeface="Calibri" pitchFamily="34" charset="-122"/>
                <a:cs typeface="Calibri" pitchFamily="34" charset="-120"/>
              </a:rPr>
              <a:t>Meaning</a:t>
            </a: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The two answers are separate minima with a barrier between them, not points on a flat valley. Recovery is limited by optimisation geometry, not destroyed information.</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Errors concentrate in the operator's weakest directions</a:t>
            </a:r>
            <a:endParaRPr lang="en-US" sz="3000" dirty="0"/>
          </a:p>
        </p:txBody>
      </p:sp>
      <p:pic>
        <p:nvPicPr>
          <p:cNvPr id="3" name="Image 0" descr="/home/claude/work/deck/assets_deck/fig_sensitivity.png">    </p:cNvPr>
          <p:cNvPicPr>
            <a:picLocks noChangeAspect="1"/>
          </p:cNvPicPr>
          <p:nvPr/>
        </p:nvPicPr>
        <p:blipFill>
          <a:blip r:embed="rId1"/>
          <a:stretch>
            <a:fillRect/>
          </a:stretch>
        </p:blipFill>
        <p:spPr>
          <a:xfrm>
            <a:off x="365760" y="1417320"/>
            <a:ext cx="7498080" cy="3749040"/>
          </a:xfrm>
          <a:prstGeom prst="rect">
            <a:avLst/>
          </a:prstGeom>
        </p:spPr>
      </p:pic>
      <p:sp>
        <p:nvSpPr>
          <p:cNvPr id="4" name="Text 1"/>
          <p:cNvSpPr txBox="1"/>
          <p:nvPr/>
        </p:nvSpPr>
        <p:spPr>
          <a:xfrm>
            <a:off x="8183880" y="1371600"/>
            <a:ext cx="3566160" cy="731520"/>
          </a:xfrm>
          <a:prstGeom prst="rect">
            <a:avLst/>
          </a:prstGeom>
          <a:noFill/>
          <a:ln/>
        </p:spPr>
        <p:txBody>
          <a:bodyPr wrap="square" lIns="0" tIns="0" rIns="0" bIns="0" rtlCol="0" anchor="b"/>
          <a:lstStyle/>
          <a:p>
            <a:pPr indent="0" marL="0">
              <a:buNone/>
            </a:pPr>
            <a:r>
              <a:rPr lang="en-US" sz="4400" b="1" dirty="0">
                <a:solidFill>
                  <a:srgbClr val="EB6834"/>
                </a:solidFill>
                <a:latin typeface="Cambria" pitchFamily="34" charset="0"/>
                <a:ea typeface="Cambria" pitchFamily="34" charset="-122"/>
                <a:cs typeface="Cambria" pitchFamily="34" charset="-120"/>
              </a:rPr>
              <a:t>1.9×</a:t>
            </a:r>
            <a:endParaRPr lang="en-US" sz="4400" dirty="0"/>
          </a:p>
        </p:txBody>
      </p:sp>
      <p:sp>
        <p:nvSpPr>
          <p:cNvPr id="5" name="Text 2"/>
          <p:cNvSpPr txBox="1"/>
          <p:nvPr/>
        </p:nvSpPr>
        <p:spPr>
          <a:xfrm>
            <a:off x="8183880" y="214884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lower sensitivity along d than the random median</a:t>
            </a:r>
            <a:endParaRPr lang="en-US" sz="1300" dirty="0"/>
          </a:p>
        </p:txBody>
      </p:sp>
      <p:sp>
        <p:nvSpPr>
          <p:cNvPr id="6" name="Text 3"/>
          <p:cNvSpPr txBox="1"/>
          <p:nvPr/>
        </p:nvSpPr>
        <p:spPr>
          <a:xfrm>
            <a:off x="8183880" y="2926080"/>
            <a:ext cx="3566160" cy="731520"/>
          </a:xfrm>
          <a:prstGeom prst="rect">
            <a:avLst/>
          </a:prstGeom>
          <a:noFill/>
          <a:ln/>
        </p:spPr>
        <p:txBody>
          <a:bodyPr wrap="square" lIns="0" tIns="0" rIns="0" bIns="0" rtlCol="0" anchor="b"/>
          <a:lstStyle/>
          <a:p>
            <a:pPr indent="0" marL="0">
              <a:buNone/>
            </a:pPr>
            <a:r>
              <a:rPr lang="en-US" sz="4400" b="1" dirty="0">
                <a:solidFill>
                  <a:srgbClr val="2A78D6"/>
                </a:solidFill>
                <a:latin typeface="Cambria" pitchFamily="34" charset="0"/>
                <a:ea typeface="Cambria" pitchFamily="34" charset="-122"/>
                <a:cs typeface="Cambria" pitchFamily="34" charset="-120"/>
              </a:rPr>
              <a:t>6 / 6</a:t>
            </a:r>
            <a:endParaRPr lang="en-US" sz="4400" dirty="0"/>
          </a:p>
        </p:txBody>
      </p:sp>
      <p:sp>
        <p:nvSpPr>
          <p:cNvPr id="7" name="Text 4"/>
          <p:cNvSpPr txBox="1"/>
          <p:nvPr/>
        </p:nvSpPr>
        <p:spPr>
          <a:xfrm>
            <a:off x="8183880" y="3703320"/>
            <a:ext cx="356616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pairwise difference directions below every random direction</a:t>
            </a:r>
            <a:endParaRPr lang="en-US" sz="1300" dirty="0"/>
          </a:p>
        </p:txBody>
      </p:sp>
      <p:sp>
        <p:nvSpPr>
          <p:cNvPr id="8"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9" name="Text 6"/>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Anisotropic ill-conditioning, quantified: what the inverse fails to pin down is exactly what the operator responds to least (s = 0.095 vs random 0.135–0.250).</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Gain is identifiable; error is not a single scale factor</a:t>
            </a:r>
            <a:endParaRPr lang="en-US" sz="3000" dirty="0"/>
          </a:p>
        </p:txBody>
      </p:sp>
      <p:pic>
        <p:nvPicPr>
          <p:cNvPr id="3" name="Image 0" descr="/home/claude/work/deck/assets_deck/fig_gain.png">    </p:cNvPr>
          <p:cNvPicPr>
            <a:picLocks noChangeAspect="1"/>
          </p:cNvPicPr>
          <p:nvPr/>
        </p:nvPicPr>
        <p:blipFill>
          <a:blip r:embed="rId1"/>
          <a:stretch>
            <a:fillRect/>
          </a:stretch>
        </p:blipFill>
        <p:spPr>
          <a:xfrm>
            <a:off x="365760" y="1439091"/>
            <a:ext cx="6766560" cy="3705497"/>
          </a:xfrm>
          <a:prstGeom prst="rect">
            <a:avLst/>
          </a:prstGeom>
        </p:spPr>
      </p:pic>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7406640" y="1325880"/>
          <a:ext cx="4297680" cy="914400"/>
        </p:xfrm>
        <a:graphic>
          <a:graphicData uri="http://schemas.openxmlformats.org/drawingml/2006/table">
            <a:tbl>
              <a:tblPr/>
              <a:tblGrid>
                <a:gridCol w="2743200"/>
                <a:gridCol w="1554480"/>
              </a:tblGrid>
              <a:tr h="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Quantity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Value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Direction cosine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0.8362</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Mean norm ratio ‖x̂‖/‖x*‖</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0.747 (sd 0.046)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Norm correlation over time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0.915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Relative error, raw</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0.5516</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Relative error after optimal rescale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0.5675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card"/>
          <p:cNvSpPr/>
          <p:nvPr/>
        </p:nvSpPr>
        <p:spPr>
          <a:xfrm>
            <a:off x="7406640" y="4023360"/>
            <a:ext cx="4297680" cy="1371600"/>
          </a:xfrm>
          <a:prstGeom prst="roundRect">
            <a:avLst>
              <a:gd name="adj" fmla="val 5333"/>
            </a:avLst>
          </a:prstGeom>
          <a:solidFill>
            <a:srgbClr val="FCE4D9"/>
          </a:solidFill>
          <a:ln w="12700">
            <a:solidFill>
              <a:srgbClr val="FCE4D9"/>
            </a:solidFill>
            <a:prstDash val="solid"/>
          </a:ln>
        </p:spPr>
      </p:sp>
      <p:sp>
        <p:nvSpPr>
          <p:cNvPr id="6" name="Text 2"/>
          <p:cNvSpPr txBox="1"/>
          <p:nvPr/>
        </p:nvSpPr>
        <p:spPr>
          <a:xfrm>
            <a:off x="7589520" y="4069080"/>
            <a:ext cx="3931920" cy="128016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Rescaling makes error slightly worse, so the shortfall is not a global gain. Even ±10% scaling is 7–9× above the noise floor.</a:t>
            </a:r>
            <a:endParaRPr lang="en-US" sz="1400" dirty="0"/>
          </a:p>
        </p:txBody>
      </p:sp>
      <p:sp>
        <p:nvSpPr>
          <p:cNvPr id="7" name="card"/>
          <p:cNvSpPr/>
          <p:nvPr/>
        </p:nvSpPr>
        <p:spPr>
          <a:xfrm>
            <a:off x="457200" y="5532120"/>
            <a:ext cx="11247120" cy="731520"/>
          </a:xfrm>
          <a:prstGeom prst="roundRect">
            <a:avLst>
              <a:gd name="adj" fmla="val 10000"/>
            </a:avLst>
          </a:prstGeom>
          <a:solidFill>
            <a:srgbClr val="EEF3F9"/>
          </a:solidFill>
          <a:ln w="12700">
            <a:solidFill>
              <a:srgbClr val="EEF3F9"/>
            </a:solidFill>
            <a:prstDash val="solid"/>
          </a:ln>
        </p:spPr>
      </p:sp>
      <p:sp>
        <p:nvSpPr>
          <p:cNvPr id="8" name="Text 4"/>
          <p:cNvSpPr txBox="1"/>
          <p:nvPr/>
        </p:nvSpPr>
        <p:spPr>
          <a:xfrm>
            <a:off x="685800" y="5577840"/>
            <a:ext cx="10789920" cy="640080"/>
          </a:xfrm>
          <a:prstGeom prst="rect">
            <a:avLst/>
          </a:prstGeom>
          <a:noFill/>
          <a:ln/>
        </p:spPr>
        <p:txBody>
          <a:bodyPr wrap="square" lIns="0" tIns="0" rIns="0" bIns="0" rtlCol="0" anchor="ctr"/>
          <a:lstStyle/>
          <a:p>
            <a:pPr indent="0" marL="0">
              <a:buNone/>
            </a:pPr>
            <a:r>
              <a:rPr lang="en-US" sz="1450" dirty="0">
                <a:solidFill>
                  <a:srgbClr val="0B0B0B"/>
                </a:solidFill>
                <a:latin typeface="Calibri" pitchFamily="34" charset="0"/>
                <a:ea typeface="Calibri" pitchFamily="34" charset="-122"/>
                <a:cs typeface="Calibri" pitchFamily="34" charset="-120"/>
              </a:rPr>
              <a:t>Two simple explanations excluded: the decoder is not merely losing the overall magnitude of the representation.</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Nonlinear inversion vs a linear decoder</a:t>
            </a:r>
            <a:endParaRPr lang="en-US" sz="3000" dirty="0"/>
          </a:p>
        </p:txBody>
      </p:sp>
      <p:pic>
        <p:nvPicPr>
          <p:cNvPr id="3" name="Image 0" descr="/home/claude/work/deck/assets_deck/fig_baseline.png">    </p:cNvPr>
          <p:cNvPicPr>
            <a:picLocks noChangeAspect="1"/>
          </p:cNvPicPr>
          <p:nvPr/>
        </p:nvPicPr>
        <p:blipFill>
          <a:blip r:embed="rId1"/>
          <a:stretch>
            <a:fillRect/>
          </a:stretch>
        </p:blipFill>
        <p:spPr>
          <a:xfrm>
            <a:off x="365760" y="1745673"/>
            <a:ext cx="5486400" cy="3823855"/>
          </a:xfrm>
          <a:prstGeom prst="rect">
            <a:avLst/>
          </a:prstGeom>
        </p:spPr>
      </p:pic>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6309360" y="1325880"/>
          <a:ext cx="2743200" cy="914400"/>
        </p:xfrm>
        <a:graphic>
          <a:graphicData uri="http://schemas.openxmlformats.org/drawingml/2006/table">
            <a:tbl>
              <a:tblPr/>
              <a:tblGrid>
                <a:gridCol w="1280160"/>
                <a:gridCol w="1463040"/>
              </a:tblGrid>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Ridge λ</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Test cosine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0.0599</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0.0310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0.0205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1e1</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0.0133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1e2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0.0103</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5" name="card"/>
          <p:cNvSpPr/>
          <p:nvPr/>
        </p:nvSpPr>
        <p:spPr>
          <a:xfrm>
            <a:off x="6309360" y="3749040"/>
            <a:ext cx="5394960" cy="2377440"/>
          </a:xfrm>
          <a:prstGeom prst="roundRect">
            <a:avLst>
              <a:gd name="adj" fmla="val 3077"/>
            </a:avLst>
          </a:prstGeom>
          <a:solidFill>
            <a:srgbClr val="FCE4D9"/>
          </a:solidFill>
          <a:ln w="12700">
            <a:solidFill>
              <a:srgbClr val="FCE4D9"/>
            </a:solidFill>
            <a:prstDash val="solid"/>
          </a:ln>
        </p:spPr>
      </p:sp>
      <p:sp>
        <p:nvSpPr>
          <p:cNvPr id="6" name="Text 2"/>
          <p:cNvSpPr txBox="1"/>
          <p:nvPr/>
        </p:nvSpPr>
        <p:spPr>
          <a:xfrm>
            <a:off x="6492240" y="3840480"/>
            <a:ext cx="5029200" cy="2194560"/>
          </a:xfrm>
          <a:prstGeom prst="rect">
            <a:avLst/>
          </a:prstGeom>
          <a:noFill/>
          <a:ln/>
        </p:spPr>
        <p:txBody>
          <a:bodyPr wrap="square" lIns="0" tIns="0" rIns="0" bIns="0" rtlCol="0" anchor="ctr"/>
          <a:lstStyle/>
          <a:p>
            <a:pPr indent="0" marL="0">
              <a:buNone/>
            </a:pPr>
            <a:r>
              <a:rPr lang="en-US" sz="1400" b="1" dirty="0">
                <a:solidFill>
                  <a:srgbClr val="13243B"/>
                </a:solidFill>
                <a:latin typeface="Calibri" pitchFamily="34" charset="0"/>
                <a:ea typeface="Calibri" pitchFamily="34" charset="-122"/>
                <a:cs typeface="Calibri" pitchFamily="34" charset="-120"/>
              </a:rPr>
              <a:t>Caveat stated plainly.  </a:t>
            </a:r>
            <a:pPr indent="0" marL="0">
              <a:buNone/>
            </a:pPr>
            <a:r>
              <a:rPr lang="en-US" sz="1400" dirty="0">
                <a:solidFill>
                  <a:srgbClr val="0B0B0B"/>
                </a:solidFill>
                <a:latin typeface="Calibri" pitchFamily="34" charset="0"/>
                <a:ea typeface="Calibri" pitchFamily="34" charset="-122"/>
                <a:cs typeface="Calibri" pitchFamily="34" charset="-120"/>
              </a:rPr>
              <a:t>Ridge (240 train / 60 test pairs) predicts the time-averaged representation from time-averaged BOLD, a strictly easier target than the time-resolved trajectory inversion recovers. Read 0.060 as a floor; the 15× gap exceeds what the mismatch can explain.</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did not work, reported as such</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2743200"/>
                <a:gridCol w="2926080"/>
                <a:gridCol w="2834640"/>
                <a:gridCol w="2743200"/>
              </a:tblGrid>
              <a:tr h="50292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Experiment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Outcome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How we report it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0292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Optimiser control (SGD, L-BFGS)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Fits 1.4e-4 / 2.8e-5 vs Adam 3.5e-7</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Hyperparameters did not converge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Invalid control; limitation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Bandwidth sweep</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Flat 0.838–0.858 over 64×</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No HRF operator in the release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Structural null result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Stimulus manifold</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0.947 vs 0.942</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Operator indifferent to prior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Null result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Smoothness prior</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0.527 → 0.0008</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Wrong prior for semantics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Negative result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457200" y="4206240"/>
            <a:ext cx="11247120" cy="2011680"/>
          </a:xfrm>
          <a:prstGeom prst="roundRect">
            <a:avLst>
              <a:gd name="adj" fmla="val 3636"/>
            </a:avLst>
          </a:prstGeom>
          <a:solidFill>
            <a:srgbClr val="EEF3F9"/>
          </a:solidFill>
          <a:ln w="12700">
            <a:solidFill>
              <a:srgbClr val="EEF3F9"/>
            </a:solidFill>
            <a:prstDash val="solid"/>
          </a:ln>
        </p:spPr>
      </p:sp>
      <p:sp>
        <p:nvSpPr>
          <p:cNvPr id="5" name="Text 2"/>
          <p:cNvSpPr txBox="1"/>
          <p:nvPr/>
        </p:nvSpPr>
        <p:spPr>
          <a:xfrm>
            <a:off x="685800" y="4297680"/>
            <a:ext cx="10789920" cy="1828800"/>
          </a:xfrm>
          <a:prstGeom prst="rect">
            <a:avLst/>
          </a:prstGeom>
          <a:noFill/>
          <a:ln/>
        </p:spPr>
        <p:txBody>
          <a:bodyPr wrap="square" lIns="0" tIns="0" rIns="0" bIns="0" rtlCol="0" anchor="ctr"/>
          <a:lstStyle/>
          <a:p>
            <a:pPr indent="0" marL="0">
              <a:buNone/>
            </a:pPr>
            <a:r>
              <a:rPr lang="en-US" sz="1600" dirty="0">
                <a:solidFill>
                  <a:srgbClr val="0B0B0B"/>
                </a:solidFill>
                <a:latin typeface="Calibri" pitchFamily="34" charset="0"/>
                <a:ea typeface="Calibri" pitchFamily="34" charset="-122"/>
                <a:cs typeface="Calibri" pitchFamily="34" charset="-120"/>
              </a:rPr>
              <a:t>Why this slide exists: the non-convexity claim does not rest on the failed optimiser control. It rests on the perturbation and sensitivity tests (forward passes only) and on replication across four ground truths. A converged second optimiser would strengthen it, and is listed as future work.</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Regional analysis (neurobiology track)</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Which networks the operator listens to, and where meaning is recoverable</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Six anatomical networks on fsaverage5</a:t>
            </a:r>
            <a:endParaRPr lang="en-US" sz="3000" dirty="0"/>
          </a:p>
        </p:txBody>
      </p:sp>
      <p:pic>
        <p:nvPicPr>
          <p:cNvPr id="3" name="Image 0" descr="/home/claude/work/deck/assets/brain_rois.png">    </p:cNvPr>
          <p:cNvPicPr>
            <a:picLocks noChangeAspect="1"/>
          </p:cNvPicPr>
          <p:nvPr/>
        </p:nvPicPr>
        <p:blipFill>
          <a:blip r:embed="rId1"/>
          <a:stretch>
            <a:fillRect/>
          </a:stretch>
        </p:blipFill>
        <p:spPr>
          <a:xfrm>
            <a:off x="365760" y="1211580"/>
            <a:ext cx="11430000" cy="2971800"/>
          </a:xfrm>
          <a:prstGeom prst="rect">
            <a:avLst/>
          </a:prstGeom>
        </p:spPr>
      </p:pic>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11247120" cy="914400"/>
        </p:xfrm>
        <a:graphic>
          <a:graphicData uri="http://schemas.openxmlformats.org/drawingml/2006/table">
            <a:tbl>
              <a:tblPr/>
              <a:tblGrid>
                <a:gridCol w="2194560"/>
                <a:gridCol w="7863840"/>
                <a:gridCol w="1188720"/>
              </a:tblGrid>
              <a:tr h="27432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Destrieux labels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Vertices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IFG opercular/triangular/orbital, STG lateral, STS, MTG, temporal pole, angular gyrus</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1 282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homologue (R)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Same labels, right hemisphere (lateralisation test)</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1 368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Auditory</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Heschl's gyrus, transverse temporal sulcus, planum temporale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277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Default mode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Precuneus, posterior cingulate (dorsal, ventral), anterior cingulate, subparietal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1 224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Visual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Occipital pole, cuneus, calcarine, middle/superior occipital, lingual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1 582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27432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Somatomotor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Precentral, postcentral gyri, central sulcus (low-semantic control)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1 487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operator's functional topography matches anatomy</a:t>
            </a:r>
            <a:endParaRPr lang="en-US" sz="3000" dirty="0"/>
          </a:p>
        </p:txBody>
      </p:sp>
      <p:pic>
        <p:nvPicPr>
          <p:cNvPr id="3" name="Image 0" descr="/home/claude/work/deck/assets_deck/brain_topography_grid.png">    </p:cNvPr>
          <p:cNvPicPr>
            <a:picLocks noChangeAspect="1"/>
          </p:cNvPicPr>
          <p:nvPr/>
        </p:nvPicPr>
        <p:blipFill>
          <a:blip r:embed="rId1"/>
          <a:stretch>
            <a:fillRect/>
          </a:stretch>
        </p:blipFill>
        <p:spPr>
          <a:xfrm>
            <a:off x="274320" y="1316338"/>
            <a:ext cx="7223760" cy="4773963"/>
          </a:xfrm>
          <a:prstGeom prst="rect">
            <a:avLst/>
          </a:prstGeom>
        </p:spPr>
      </p:pic>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7680960" y="1234440"/>
          <a:ext cx="4069080" cy="914400"/>
        </p:xfrm>
        <a:graphic>
          <a:graphicData uri="http://schemas.openxmlformats.org/drawingml/2006/table">
            <a:tbl>
              <a:tblPr/>
              <a:tblGrid>
                <a:gridCol w="1600200"/>
                <a:gridCol w="822960"/>
                <a:gridCol w="822960"/>
                <a:gridCol w="822960"/>
              </a:tblGrid>
              <a:tr h="0">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Network</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text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audio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video z</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-12.5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Language homologue (R)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+28.5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-10.6</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-23.3</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Auditory</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+34.7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-32.8</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Default mode</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+26.9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-15.1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-16.1</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Visual</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-38.4</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+7.5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+40.7</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Somatomotor</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b="1" dirty="0">
                          <a:solidFill>
                            <a:srgbClr val="B03A2E"/>
                          </a:solidFill>
                          <a:latin typeface="Calibri" pitchFamily="34" charset="0"/>
                          <a:ea typeface="Calibri" pitchFamily="34" charset="-122"/>
                          <a:cs typeface="Calibri" pitchFamily="34" charset="-120"/>
                        </a:rPr>
                        <a:t>+6.9</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200" dirty="0">
                          <a:solidFill>
                            <a:srgbClr val="0B0B0B"/>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7680960" y="3977640"/>
            <a:ext cx="4069080" cy="2240280"/>
          </a:xfrm>
          <a:prstGeom prst="roundRect">
            <a:avLst>
              <a:gd name="adj" fmla="val 3265"/>
            </a:avLst>
          </a:prstGeom>
          <a:solidFill>
            <a:srgbClr val="EEF3F9"/>
          </a:solidFill>
          <a:ln w="12700">
            <a:solidFill>
              <a:srgbClr val="EEF3F9"/>
            </a:solidFill>
            <a:prstDash val="solid"/>
          </a:ln>
        </p:spPr>
      </p:sp>
      <p:sp>
        <p:nvSpPr>
          <p:cNvPr id="6" name="Text 2"/>
          <p:cNvSpPr txBox="1"/>
          <p:nvPr/>
        </p:nvSpPr>
        <p:spPr>
          <a:xfrm>
            <a:off x="7863840" y="4069080"/>
            <a:ext cx="3749040" cy="210312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Each network is dominated by the modality it should be: language and default-mode by text-derived dimensions, auditory cortex by audio, visual cortex by video. Somatomotor is least sensitive overall (0.73× cortex mean).</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Where you look matters: visual cortex hurts, somatomotor helps</a:t>
            </a:r>
            <a:endParaRPr lang="en-US" sz="3000" dirty="0"/>
          </a:p>
        </p:txBody>
      </p:sp>
      <p:pic>
        <p:nvPicPr>
          <p:cNvPr id="3" name="Image 0" descr="/home/claude/work/deck/assets_deck/fig_roi_recovery.png">    </p:cNvPr>
          <p:cNvPicPr>
            <a:picLocks noChangeAspect="1"/>
          </p:cNvPicPr>
          <p:nvPr/>
        </p:nvPicPr>
        <p:blipFill>
          <a:blip r:embed="rId1"/>
          <a:stretch>
            <a:fillRect/>
          </a:stretch>
        </p:blipFill>
        <p:spPr>
          <a:xfrm>
            <a:off x="365760" y="1674942"/>
            <a:ext cx="7589520" cy="3233795"/>
          </a:xfrm>
          <a:prstGeom prst="rect">
            <a:avLst/>
          </a:prstGeom>
        </p:spPr>
      </p:pic>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183880" y="1234440"/>
          <a:ext cx="3566160" cy="914400"/>
        </p:xfrm>
        <a:graphic>
          <a:graphicData uri="http://schemas.openxmlformats.org/drawingml/2006/table">
            <a:tbl>
              <a:tblPr/>
              <a:tblGrid>
                <a:gridCol w="1600200"/>
                <a:gridCol w="640080"/>
                <a:gridCol w="685800"/>
                <a:gridCol w="640080"/>
              </a:tblGrid>
              <a:tr h="0">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ROI</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Random</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Δ</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+0.023</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Language homologue (R)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0.750</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0.739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+0.011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Auditory</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0.386</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0.371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+0.015</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Default mode</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0.727</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0.723</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+0.004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Visual</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0.629</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0.754</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−0.125</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0">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Somatomotor</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0.851</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0.748</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150" dirty="0">
                          <a:solidFill>
                            <a:srgbClr val="0B0B0B"/>
                          </a:solidFill>
                          <a:latin typeface="Calibri" pitchFamily="34" charset="0"/>
                          <a:ea typeface="Calibri" pitchFamily="34" charset="-122"/>
                          <a:cs typeface="Calibri" pitchFamily="34" charset="-120"/>
                        </a:rPr>
                        <a:t>+0.102</a:t>
                      </a:r>
                      <a:endParaRPr lang="en-US" sz="11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5"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6"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Visual cortex recovers 0.125 worse than random vertices of the same count; somatomotor 0.102 better, beating the whole cortex at the same budget (0.851 vs 0.836). Both effects are ~10× the control seed spread (≤ 0.013). Left language +0.023; homologue, auditory, default mode within noise.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The regional effect is not modality-specific</a:t>
            </a:r>
            <a:endParaRPr lang="en-US" sz="3000" dirty="0"/>
          </a:p>
        </p:txBody>
      </p:sp>
      <p:pic>
        <p:nvPicPr>
          <p:cNvPr id="3" name="Image 0" descr="/home/claude/work/deck/assets_deck/fig_roi_slots.png">    </p:cNvPr>
          <p:cNvPicPr>
            <a:picLocks noChangeAspect="1"/>
          </p:cNvPicPr>
          <p:nvPr/>
        </p:nvPicPr>
        <p:blipFill>
          <a:blip r:embed="rId1"/>
          <a:stretch>
            <a:fillRect/>
          </a:stretch>
        </p:blipFill>
        <p:spPr>
          <a:xfrm>
            <a:off x="365760" y="1755648"/>
            <a:ext cx="7680960" cy="3072384"/>
          </a:xfrm>
          <a:prstGeom prst="rect">
            <a:avLst/>
          </a:prstGeom>
        </p:spPr>
      </p:pic>
      <p:sp>
        <p:nvSpPr>
          <p:cNvPr id="4" name="card"/>
          <p:cNvSpPr/>
          <p:nvPr/>
        </p:nvSpPr>
        <p:spPr>
          <a:xfrm>
            <a:off x="8275320" y="1280160"/>
            <a:ext cx="3429000" cy="4114800"/>
          </a:xfrm>
          <a:prstGeom prst="roundRect">
            <a:avLst>
              <a:gd name="adj" fmla="val 2133"/>
            </a:avLst>
          </a:prstGeom>
          <a:solidFill>
            <a:srgbClr val="EEF3F9"/>
          </a:solidFill>
          <a:ln w="12700">
            <a:solidFill>
              <a:srgbClr val="EEF3F9"/>
            </a:solidFill>
            <a:prstDash val="solid"/>
          </a:ln>
        </p:spPr>
      </p:sp>
      <p:sp>
        <p:nvSpPr>
          <p:cNvPr id="5" name="Text 2"/>
          <p:cNvSpPr txBox="1"/>
          <p:nvPr/>
        </p:nvSpPr>
        <p:spPr>
          <a:xfrm>
            <a:off x="8458200" y="1371600"/>
            <a:ext cx="3108960" cy="39319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Split recovery into the text-, audio- and video-derived thirds of x. If a network helped only with the modality it encodes, visual cortex would recover video dimensions well. Instead, every network shifts all three thirds together: visual cortex loses text, audio and video alike; somatomotor gains all three.</a:t>
            </a:r>
            <a:endParaRPr lang="en-US" sz="1400" dirty="0"/>
          </a:p>
        </p:txBody>
      </p:sp>
      <p:sp>
        <p:nvSpPr>
          <p:cNvPr id="6" name="card"/>
          <p:cNvSpPr/>
          <p:nvPr/>
        </p:nvSpPr>
        <p:spPr>
          <a:xfrm>
            <a:off x="457200" y="5486400"/>
            <a:ext cx="11247120" cy="777240"/>
          </a:xfrm>
          <a:prstGeom prst="roundRect">
            <a:avLst>
              <a:gd name="adj" fmla="val 9412"/>
            </a:avLst>
          </a:prstGeom>
          <a:solidFill>
            <a:srgbClr val="FCE4D9"/>
          </a:solidFill>
          <a:ln w="12700">
            <a:solidFill>
              <a:srgbClr val="FCE4D9"/>
            </a:solidFill>
            <a:prstDash val="solid"/>
          </a:ln>
        </p:spPr>
      </p:sp>
      <p:sp>
        <p:nvSpPr>
          <p:cNvPr id="7" name="Text 4"/>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Regional recoverability is a property of how a region's response is shaped, not of which modality it is tuned to.</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Predictable is not recoverable</a:t>
            </a:r>
            <a:endParaRPr lang="en-US" sz="3000" dirty="0"/>
          </a:p>
        </p:txBody>
      </p:sp>
      <p:pic>
        <p:nvPicPr>
          <p:cNvPr id="3" name="Image 0" descr="/home/claude/work/deck/assets_deck/fig_roi_pred_vs_rec.png">    </p:cNvPr>
          <p:cNvPicPr>
            <a:picLocks noChangeAspect="1"/>
          </p:cNvPicPr>
          <p:nvPr/>
        </p:nvPicPr>
        <p:blipFill>
          <a:blip r:embed="rId1"/>
          <a:stretch>
            <a:fillRect/>
          </a:stretch>
        </p:blipFill>
        <p:spPr>
          <a:xfrm>
            <a:off x="365760" y="1451008"/>
            <a:ext cx="6583680" cy="4504623"/>
          </a:xfrm>
          <a:prstGeom prst="rect">
            <a:avLst/>
          </a:prstGeom>
        </p:spPr>
      </p:pic>
      <p:sp>
        <p:nvSpPr>
          <p:cNvPr id="4" name="card"/>
          <p:cNvSpPr/>
          <p:nvPr/>
        </p:nvSpPr>
        <p:spPr>
          <a:xfrm>
            <a:off x="7223760" y="1280160"/>
            <a:ext cx="4480560" cy="4937760"/>
          </a:xfrm>
          <a:prstGeom prst="roundRect">
            <a:avLst>
              <a:gd name="adj" fmla="val 1633"/>
            </a:avLst>
          </a:prstGeom>
          <a:solidFill>
            <a:srgbClr val="EEF3F9"/>
          </a:solidFill>
          <a:ln w="12700">
            <a:solidFill>
              <a:srgbClr val="EEF3F9"/>
            </a:solidFill>
            <a:prstDash val="solid"/>
          </a:ln>
        </p:spPr>
      </p:sp>
      <p:sp>
        <p:nvSpPr>
          <p:cNvPr id="5" name="Text 2"/>
          <p:cNvSpPr txBox="1"/>
          <p:nvPr/>
        </p:nvSpPr>
        <p:spPr>
          <a:xfrm>
            <a:off x="7406640" y="1417320"/>
            <a:ext cx="4114800" cy="4663440"/>
          </a:xfrm>
          <a:prstGeom prst="rect">
            <a:avLst/>
          </a:prstGeom>
          <a:noFill/>
          <a:ln/>
        </p:spPr>
        <p:txBody>
          <a:bodyPr wrap="square" lIns="0" tIns="0" rIns="0" bIns="0" rtlCol="0" anchor="t"/>
          <a:lstStyle/>
          <a:p>
            <a:pPr indent="0" marL="0">
              <a:buNone/>
            </a:pPr>
            <a:r>
              <a:rPr lang="en-US" sz="1450" dirty="0">
                <a:solidFill>
                  <a:srgbClr val="0B0B0B"/>
                </a:solidFill>
                <a:latin typeface="Calibri" pitchFamily="34" charset="0"/>
                <a:ea typeface="Calibri" pitchFamily="34" charset="-122"/>
                <a:cs typeface="Calibri" pitchFamily="34" charset="-120"/>
              </a:rPr>
              <a:t>Visual cortex responds most strongly to the representation (1.60× cortex mean) and is the worst place to decode it from. Somatomotor responds least (0.73×) and is the best.</a:t>
            </a:r>
            <a:endParaRPr lang="en-US" sz="1450" dirty="0"/>
          </a:p>
          <a:p>
            <a:pPr indent="0" marL="0">
              <a:buNone/>
            </a:pP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Partial mechanism: response diversity. Somatomotor's response spans the most independent directions (participation ratio 18.6 vs 15.2 matched; top direction carries 15% of variance). Visual responses are strong but concentrated (PR 10.3; top direction 27%).</a:t>
            </a:r>
            <a:endParaRPr lang="en-US" sz="1450" dirty="0"/>
          </a:p>
          <a:p>
            <a:pPr indent="0" marL="0">
              <a:buNone/>
            </a:pPr>
            <a:endParaRPr lang="en-US" sz="1450" dirty="0"/>
          </a:p>
          <a:p>
            <a:pPr indent="0" marL="0">
              <a:buNone/>
            </a:pPr>
            <a:r>
              <a:rPr lang="en-US" sz="1450" dirty="0">
                <a:solidFill>
                  <a:srgbClr val="0B0B0B"/>
                </a:solidFill>
                <a:latin typeface="Calibri" pitchFamily="34" charset="0"/>
                <a:ea typeface="Calibri" pitchFamily="34" charset="-122"/>
                <a:cs typeface="Calibri" pitchFamily="34" charset="-120"/>
              </a:rPr>
              <a:t>Language and auditory are also concentrated yet near their controls, so diversity explains the extremes, not every network. Six networks are too few for a correlation claim.</a:t>
            </a:r>
            <a:endParaRPr lang="en-US" sz="14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 partial mechanism: response diversity</a:t>
            </a:r>
            <a:endParaRPr lang="en-US" sz="3000" dirty="0"/>
          </a:p>
        </p:txBody>
      </p:sp>
      <p:pic>
        <p:nvPicPr>
          <p:cNvPr id="3" name="Image 0" descr="/home/claude/work/deck/assets_deck/fig_roi_dim.png">    </p:cNvPr>
          <p:cNvPicPr>
            <a:picLocks noChangeAspect="1"/>
          </p:cNvPicPr>
          <p:nvPr/>
        </p:nvPicPr>
        <p:blipFill>
          <a:blip r:embed="rId1"/>
          <a:stretch>
            <a:fillRect/>
          </a:stretch>
        </p:blipFill>
        <p:spPr>
          <a:xfrm>
            <a:off x="594360" y="1188720"/>
            <a:ext cx="10972800" cy="4206240"/>
          </a:xfrm>
          <a:prstGeom prst="rect">
            <a:avLst/>
          </a:prstGeom>
        </p:spPr>
      </p:pic>
      <p:sp>
        <p:nvSpPr>
          <p:cNvPr id="4" name="card"/>
          <p:cNvSpPr/>
          <p:nvPr/>
        </p:nvSpPr>
        <p:spPr>
          <a:xfrm>
            <a:off x="457200" y="5486400"/>
            <a:ext cx="11247120" cy="777240"/>
          </a:xfrm>
          <a:prstGeom prst="roundRect">
            <a:avLst>
              <a:gd name="adj" fmla="val 9412"/>
            </a:avLst>
          </a:prstGeom>
          <a:solidFill>
            <a:srgbClr val="EEF3F9"/>
          </a:solidFill>
          <a:ln w="12700">
            <a:solidFill>
              <a:srgbClr val="EEF3F9"/>
            </a:solidFill>
            <a:prstDash val="solid"/>
          </a:ln>
        </p:spPr>
      </p:sp>
      <p:sp>
        <p:nvSpPr>
          <p:cNvPr id="5" name="Text 2"/>
          <p:cNvSpPr txBox="1"/>
          <p:nvPr/>
        </p:nvSpPr>
        <p:spPr>
          <a:xfrm>
            <a:off x="685800" y="5532120"/>
            <a:ext cx="10789920" cy="685800"/>
          </a:xfrm>
          <a:prstGeom prst="rect">
            <a:avLst/>
          </a:prstGeom>
          <a:noFill/>
          <a:ln/>
        </p:spPr>
        <p:txBody>
          <a:bodyPr wrap="square" lIns="0" tIns="0" rIns="0" bIns="0" rtlCol="0" anchor="ctr"/>
          <a:lstStyle/>
          <a:p>
            <a:pPr indent="0" marL="0">
              <a:buNone/>
            </a:pPr>
            <a:r>
              <a:rPr lang="en-US" sz="1400" dirty="0">
                <a:solidFill>
                  <a:srgbClr val="0B0B0B"/>
                </a:solidFill>
                <a:latin typeface="Calibri" pitchFamily="34" charset="0"/>
                <a:ea typeface="Calibri" pitchFamily="34" charset="-122"/>
                <a:cs typeface="Calibri" pitchFamily="34" charset="-120"/>
              </a:rPr>
              <a:t>Somatomotor spans the most independent input directions (PR 18.6 vs 15.2) and recovers best; visual is concentrated (PR 10.3) and recovers worst. Language and auditory are concentrated too but near their controls: diversity explains the extremes only.</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What limits semantic decoding from fMRI</a:t>
            </a:r>
            <a:endParaRPr lang="en-US" sz="3000" dirty="0"/>
          </a:p>
        </p:txBody>
      </p:sp>
      <p:sp>
        <p:nvSpPr>
          <p:cNvPr id="3" name="Shape 1"/>
          <p:cNvSpPr/>
          <p:nvPr/>
        </p:nvSpPr>
        <p:spPr>
          <a:xfrm>
            <a:off x="640080" y="1353312"/>
            <a:ext cx="640080" cy="640080"/>
          </a:xfrm>
          <a:prstGeom prst="ellipse">
            <a:avLst/>
          </a:prstGeom>
          <a:solidFill>
            <a:srgbClr val="C0392B"/>
          </a:solidFill>
          <a:ln w="12700">
            <a:solidFill>
              <a:srgbClr val="C0392B"/>
            </a:solidFill>
            <a:prstDash val="solid"/>
          </a:ln>
        </p:spPr>
      </p:sp>
      <p:pic>
        <p:nvPicPr>
          <p:cNvPr id="4" name="Image 0" descr="preencoded.png">    </p:cNvPr>
          <p:cNvPicPr>
            <a:picLocks noChangeAspect="1"/>
          </p:cNvPicPr>
          <p:nvPr/>
        </p:nvPicPr>
        <p:blipFill>
          <a:blip r:embed="rId1"/>
          <a:stretch>
            <a:fillRect/>
          </a:stretch>
        </p:blipFill>
        <p:spPr>
          <a:xfrm>
            <a:off x="793699" y="1506931"/>
            <a:ext cx="332842" cy="332842"/>
          </a:xfrm>
          <a:prstGeom prst="rect">
            <a:avLst/>
          </a:prstGeom>
        </p:spPr>
      </p:pic>
      <p:sp>
        <p:nvSpPr>
          <p:cNvPr id="5" name="Text 2"/>
          <p:cNvSpPr txBox="1"/>
          <p:nvPr/>
        </p:nvSpPr>
        <p:spPr>
          <a:xfrm>
            <a:off x="1508760" y="1280160"/>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Not destroyed information</a:t>
            </a:r>
            <a:endParaRPr lang="en-US" sz="1800" dirty="0"/>
          </a:p>
        </p:txBody>
      </p:sp>
      <p:sp>
        <p:nvSpPr>
          <p:cNvPr id="6" name="Text 3"/>
          <p:cNvSpPr txBox="1"/>
          <p:nvPr/>
        </p:nvSpPr>
        <p:spPr>
          <a:xfrm>
            <a:off x="5029200" y="1280160"/>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No null space: the barrier test rejects it (0.6× at full separation).</a:t>
            </a:r>
            <a:endParaRPr lang="en-US" sz="1500" dirty="0"/>
          </a:p>
        </p:txBody>
      </p:sp>
      <p:sp>
        <p:nvSpPr>
          <p:cNvPr id="7" name="Shape 4"/>
          <p:cNvSpPr/>
          <p:nvPr/>
        </p:nvSpPr>
        <p:spPr>
          <a:xfrm>
            <a:off x="640080" y="2340864"/>
            <a:ext cx="640080" cy="640080"/>
          </a:xfrm>
          <a:prstGeom prst="ellipse">
            <a:avLst/>
          </a:prstGeom>
          <a:solidFill>
            <a:srgbClr val="138A5E"/>
          </a:solidFill>
          <a:ln w="12700">
            <a:solidFill>
              <a:srgbClr val="138A5E"/>
            </a:solidFill>
            <a:prstDash val="solid"/>
          </a:ln>
        </p:spPr>
      </p:sp>
      <p:pic>
        <p:nvPicPr>
          <p:cNvPr id="8" name="Image 1" descr="preencoded.png">    </p:cNvPr>
          <p:cNvPicPr>
            <a:picLocks noChangeAspect="1"/>
          </p:cNvPicPr>
          <p:nvPr/>
        </p:nvPicPr>
        <p:blipFill>
          <a:blip r:embed="rId2"/>
          <a:stretch>
            <a:fillRect/>
          </a:stretch>
        </p:blipFill>
        <p:spPr>
          <a:xfrm>
            <a:off x="793699" y="2494483"/>
            <a:ext cx="332842" cy="332842"/>
          </a:xfrm>
          <a:prstGeom prst="rect">
            <a:avLst/>
          </a:prstGeom>
        </p:spPr>
      </p:pic>
      <p:sp>
        <p:nvSpPr>
          <p:cNvPr id="9" name="Text 5"/>
          <p:cNvSpPr txBox="1"/>
          <p:nvPr/>
        </p:nvSpPr>
        <p:spPr>
          <a:xfrm>
            <a:off x="1508760" y="2267712"/>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Non-convexity</a:t>
            </a:r>
            <a:endParaRPr lang="en-US" sz="1800" dirty="0"/>
          </a:p>
        </p:txBody>
      </p:sp>
      <p:sp>
        <p:nvSpPr>
          <p:cNvPr id="10" name="Text 6"/>
          <p:cNvSpPr txBox="1"/>
          <p:nvPr/>
        </p:nvSpPr>
        <p:spPr>
          <a:xfrm>
            <a:off x="5029200" y="2267712"/>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Equally good fits disagree at 0.82 cosine, reproducibly; the answer depends on where the search starts.</a:t>
            </a:r>
            <a:endParaRPr lang="en-US" sz="1500" dirty="0"/>
          </a:p>
        </p:txBody>
      </p:sp>
      <p:sp>
        <p:nvSpPr>
          <p:cNvPr id="11" name="Shape 7"/>
          <p:cNvSpPr/>
          <p:nvPr/>
        </p:nvSpPr>
        <p:spPr>
          <a:xfrm>
            <a:off x="640080" y="3328416"/>
            <a:ext cx="640080" cy="640080"/>
          </a:xfrm>
          <a:prstGeom prst="ellipse">
            <a:avLst/>
          </a:prstGeom>
          <a:solidFill>
            <a:srgbClr val="138A5E"/>
          </a:solidFill>
          <a:ln w="12700">
            <a:solidFill>
              <a:srgbClr val="138A5E"/>
            </a:solidFill>
            <a:prstDash val="solid"/>
          </a:ln>
        </p:spPr>
      </p:sp>
      <p:pic>
        <p:nvPicPr>
          <p:cNvPr id="12" name="Image 2" descr="preencoded.png">    </p:cNvPr>
          <p:cNvPicPr>
            <a:picLocks noChangeAspect="1"/>
          </p:cNvPicPr>
          <p:nvPr/>
        </p:nvPicPr>
        <p:blipFill>
          <a:blip r:embed="rId3"/>
          <a:stretch>
            <a:fillRect/>
          </a:stretch>
        </p:blipFill>
        <p:spPr>
          <a:xfrm>
            <a:off x="793699" y="3482035"/>
            <a:ext cx="332842" cy="332842"/>
          </a:xfrm>
          <a:prstGeom prst="rect">
            <a:avLst/>
          </a:prstGeom>
        </p:spPr>
      </p:pic>
      <p:sp>
        <p:nvSpPr>
          <p:cNvPr id="13" name="Text 8"/>
          <p:cNvSpPr txBox="1"/>
          <p:nvPr/>
        </p:nvSpPr>
        <p:spPr>
          <a:xfrm>
            <a:off x="1508760" y="3255264"/>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Anisotropic conditioning</a:t>
            </a:r>
            <a:endParaRPr lang="en-US" sz="1800" dirty="0"/>
          </a:p>
        </p:txBody>
      </p:sp>
      <p:sp>
        <p:nvSpPr>
          <p:cNvPr id="14" name="Text 9"/>
          <p:cNvSpPr txBox="1"/>
          <p:nvPr/>
        </p:nvSpPr>
        <p:spPr>
          <a:xfrm>
            <a:off x="5029200" y="3255264"/>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Disagreement lives in directions the operator barely responds to (0th percentile).</a:t>
            </a:r>
            <a:endParaRPr lang="en-US" sz="1500" dirty="0"/>
          </a:p>
        </p:txBody>
      </p:sp>
      <p:sp>
        <p:nvSpPr>
          <p:cNvPr id="15" name="Shape 10"/>
          <p:cNvSpPr/>
          <p:nvPr/>
        </p:nvSpPr>
        <p:spPr>
          <a:xfrm>
            <a:off x="640080" y="4315968"/>
            <a:ext cx="640080" cy="640080"/>
          </a:xfrm>
          <a:prstGeom prst="ellipse">
            <a:avLst/>
          </a:prstGeom>
          <a:solidFill>
            <a:srgbClr val="138A5E"/>
          </a:solidFill>
          <a:ln w="12700">
            <a:solidFill>
              <a:srgbClr val="138A5E"/>
            </a:solidFill>
            <a:prstDash val="solid"/>
          </a:ln>
        </p:spPr>
      </p:sp>
      <p:pic>
        <p:nvPicPr>
          <p:cNvPr id="16" name="Image 3" descr="preencoded.png">    </p:cNvPr>
          <p:cNvPicPr>
            <a:picLocks noChangeAspect="1"/>
          </p:cNvPicPr>
          <p:nvPr/>
        </p:nvPicPr>
        <p:blipFill>
          <a:blip r:embed="rId4"/>
          <a:stretch>
            <a:fillRect/>
          </a:stretch>
        </p:blipFill>
        <p:spPr>
          <a:xfrm>
            <a:off x="793699" y="4469587"/>
            <a:ext cx="332842" cy="332842"/>
          </a:xfrm>
          <a:prstGeom prst="rect">
            <a:avLst/>
          </a:prstGeom>
        </p:spPr>
      </p:pic>
      <p:sp>
        <p:nvSpPr>
          <p:cNvPr id="17" name="Text 11"/>
          <p:cNvSpPr txBox="1"/>
          <p:nvPr/>
        </p:nvSpPr>
        <p:spPr>
          <a:xfrm>
            <a:off x="1508760" y="4242816"/>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Measurement noise</a:t>
            </a:r>
            <a:endParaRPr lang="en-US" sz="1800" dirty="0"/>
          </a:p>
        </p:txBody>
      </p:sp>
      <p:sp>
        <p:nvSpPr>
          <p:cNvPr id="18" name="Text 12"/>
          <p:cNvSpPr txBox="1"/>
          <p:nvPr/>
        </p:nvSpPr>
        <p:spPr>
          <a:xfrm>
            <a:off x="5029200" y="4242816"/>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Graceful loss of direction, steep loss of magnitude (rel. error 0.55 → 2.06).</a:t>
            </a:r>
            <a:endParaRPr lang="en-US" sz="1500" dirty="0"/>
          </a:p>
        </p:txBody>
      </p:sp>
      <p:sp>
        <p:nvSpPr>
          <p:cNvPr id="19" name="Shape 13"/>
          <p:cNvSpPr/>
          <p:nvPr/>
        </p:nvSpPr>
        <p:spPr>
          <a:xfrm>
            <a:off x="640080" y="5303520"/>
            <a:ext cx="640080" cy="640080"/>
          </a:xfrm>
          <a:prstGeom prst="ellipse">
            <a:avLst/>
          </a:prstGeom>
          <a:solidFill>
            <a:srgbClr val="138A5E"/>
          </a:solidFill>
          <a:ln w="12700">
            <a:solidFill>
              <a:srgbClr val="138A5E"/>
            </a:solidFill>
            <a:prstDash val="solid"/>
          </a:ln>
        </p:spPr>
      </p:sp>
      <p:pic>
        <p:nvPicPr>
          <p:cNvPr id="20" name="Image 4" descr="preencoded.png">    </p:cNvPr>
          <p:cNvPicPr>
            <a:picLocks noChangeAspect="1"/>
          </p:cNvPicPr>
          <p:nvPr/>
        </p:nvPicPr>
        <p:blipFill>
          <a:blip r:embed="rId5"/>
          <a:stretch>
            <a:fillRect/>
          </a:stretch>
        </p:blipFill>
        <p:spPr>
          <a:xfrm>
            <a:off x="793699" y="5457139"/>
            <a:ext cx="332842" cy="332842"/>
          </a:xfrm>
          <a:prstGeom prst="rect">
            <a:avLst/>
          </a:prstGeom>
        </p:spPr>
      </p:pic>
      <p:sp>
        <p:nvSpPr>
          <p:cNvPr id="21" name="Text 14"/>
          <p:cNvSpPr txBox="1"/>
          <p:nvPr/>
        </p:nvSpPr>
        <p:spPr>
          <a:xfrm>
            <a:off x="1508760" y="5230368"/>
            <a:ext cx="3474720" cy="777240"/>
          </a:xfrm>
          <a:prstGeom prst="rect">
            <a:avLst/>
          </a:prstGeom>
          <a:noFill/>
          <a:ln/>
        </p:spPr>
        <p:txBody>
          <a:bodyPr wrap="square" lIns="0" tIns="0" rIns="0" bIns="0" rtlCol="0" anchor="ctr"/>
          <a:lstStyle/>
          <a:p>
            <a:pPr indent="0" marL="0">
              <a:buNone/>
            </a:pPr>
            <a:r>
              <a:rPr lang="en-US" sz="1800" b="1" dirty="0">
                <a:solidFill>
                  <a:srgbClr val="13243B"/>
                </a:solidFill>
                <a:latin typeface="Cambria" pitchFamily="34" charset="0"/>
                <a:ea typeface="Cambria" pitchFamily="34" charset="-122"/>
                <a:cs typeface="Cambria" pitchFamily="34" charset="-120"/>
              </a:rPr>
              <a:t>Where you look</a:t>
            </a:r>
            <a:endParaRPr lang="en-US" sz="1800" dirty="0"/>
          </a:p>
        </p:txBody>
      </p:sp>
      <p:sp>
        <p:nvSpPr>
          <p:cNvPr id="22" name="Text 15"/>
          <p:cNvSpPr txBox="1"/>
          <p:nvPr/>
        </p:nvSpPr>
        <p:spPr>
          <a:xfrm>
            <a:off x="5029200" y="5230368"/>
            <a:ext cx="6675120" cy="777240"/>
          </a:xfrm>
          <a:prstGeom prst="rect">
            <a:avLst/>
          </a:prstGeom>
          <a:noFill/>
          <a:ln/>
        </p:spPr>
        <p:txBody>
          <a:bodyPr wrap="square" lIns="0" tIns="0" rIns="0" bIns="0" rtlCol="0" anchor="ctr"/>
          <a:lstStyle/>
          <a:p>
            <a:pPr indent="0" marL="0">
              <a:buNone/>
            </a:pPr>
            <a:r>
              <a:rPr lang="en-US" sz="1500" dirty="0">
                <a:solidFill>
                  <a:srgbClr val="0B0B0B"/>
                </a:solidFill>
                <a:latin typeface="Calibri" pitchFamily="34" charset="0"/>
                <a:ea typeface="Calibri" pitchFamily="34" charset="-122"/>
                <a:cs typeface="Calibri" pitchFamily="34" charset="-120"/>
              </a:rPr>
              <a:t>Strong responses are not the best evidence: visual cortex decodes worst, somatomotor best (−0.125 / +0.102 vs matched).</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Tabulation of all results</a:t>
            </a:r>
            <a:endParaRPr lang="en-US" sz="30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743200"/>
                <a:gridCol w="3108960"/>
                <a:gridCol w="3566160"/>
                <a:gridCol w="1828800"/>
              </a:tblGrid>
              <a:tr h="41148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Claim</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Evidence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Key number</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Status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Encoding ≠ decoding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8 independent budgets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28.4× vs +0.015</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Inverse is non-convex</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Fit-matched init control, 4 truths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min pairwise 0.8165 ± 0.0068</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No null space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Perturbation along 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0.6× at full separation</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Errors in weak directions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200 random directions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6/6 below random minimum</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Gain identifiable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Forward rescaling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±10% → 7–9× floor</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Stable under noise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7 noise levels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0.836 → 0.298 monotone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≈10% cortex suffices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6 extents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0.777 at 2 000 vertices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Beats linear decoding</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Ridge baseline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0.918 vs 0.060</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Indicative</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Anatomical topography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Sensitivity maps, 6 networks</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z +27 to +41 in matching modality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Regional recoverability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ROI vs matched random</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Visual −0.125, somatomotor +0.102 vs matched</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Established (1 truth)</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411480">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Real-data decodability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LeBel 2023, held-out story</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4/5 segments (chance 2.2%), cosine 0.02</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50" dirty="0">
                          <a:solidFill>
                            <a:srgbClr val="0B0B0B"/>
                          </a:solidFill>
                          <a:latin typeface="Calibri" pitchFamily="34" charset="0"/>
                          <a:ea typeface="Calibri" pitchFamily="34" charset="-122"/>
                          <a:cs typeface="Calibri" pitchFamily="34" charset="-120"/>
                        </a:rPr>
                        <a:t>First result</a:t>
                      </a:r>
                      <a:endParaRPr lang="en-US" sz="135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Standards, ethics and SDG justification</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Where the work sits against data, reporting and neuro-ethics frameworks</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Alignment with relevant standards</a:t>
            </a:r>
            <a:endParaRPr lang="en-US" sz="3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200400"/>
                <a:gridCol w="3200400"/>
                <a:gridCol w="4846320"/>
              </a:tblGrid>
              <a:tr h="6858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Standard / framework</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Scope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How this project aligns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BIDS (Gorgolewski et al., 2016)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Neuroimaging data organisation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Real-data phase uses OpenNeuro ds003020, a BIDS dataset; derivatives kept in BIDS layout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IEEE P2794 (draft, active PAR 2022)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Reporting standards for in vivo neural interface research</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Report adopts its minimum-reporting approach: model, data, preprocessing, metrics, failures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IEEE P2731 working group</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Unified BCI terminology (functional model)</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Block diagram uses its functional decomposition: acquisition → features → decoding → output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FAIR principles (Wilkinson et al., 2016)</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Findable, accessible, interoperable, reusable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Seeded scripts, results.json, open model and data; figures regenerated from logs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Licences: CC BY-NC 4.0; Llama 3.2 licence; CC0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TRIBE v2; text encoder; OpenNeuro data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Non-commercial academic use only; gated access obtained</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68580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Digital Personal Data Protection Act 2023 (India)</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Personal data processing</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No personal data processed: synthetic ground truth; de-identified public corpus</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Neuro-ethics: what our results imply</a:t>
            </a:r>
            <a:endParaRPr lang="en-US" sz="3000" dirty="0"/>
          </a:p>
        </p:txBody>
      </p:sp>
      <p:sp>
        <p:nvSpPr>
          <p:cNvPr id="3" name="card"/>
          <p:cNvSpPr/>
          <p:nvPr/>
        </p:nvSpPr>
        <p:spPr>
          <a:xfrm>
            <a:off x="548640" y="1280160"/>
            <a:ext cx="3520440" cy="4937760"/>
          </a:xfrm>
          <a:prstGeom prst="roundRect">
            <a:avLst>
              <a:gd name="adj" fmla="val 2078"/>
            </a:avLst>
          </a:prstGeom>
          <a:solidFill>
            <a:srgbClr val="EEF3F9"/>
          </a:solidFill>
          <a:ln w="12700">
            <a:solidFill>
              <a:srgbClr val="EEF3F9"/>
            </a:solidFill>
            <a:prstDash val="solid"/>
          </a:ln>
        </p:spPr>
      </p:sp>
      <p:sp>
        <p:nvSpPr>
          <p:cNvPr id="4" name="Shape 2"/>
          <p:cNvSpPr/>
          <p:nvPr/>
        </p:nvSpPr>
        <p:spPr>
          <a:xfrm>
            <a:off x="822960" y="1508760"/>
            <a:ext cx="731520" cy="731520"/>
          </a:xfrm>
          <a:prstGeom prst="ellipse">
            <a:avLst/>
          </a:prstGeom>
          <a:solidFill>
            <a:srgbClr val="2A78D6"/>
          </a:solidFill>
          <a:ln w="12700">
            <a:solidFill>
              <a:srgbClr val="2A78D6"/>
            </a:solidFill>
            <a:prstDash val="solid"/>
          </a:ln>
        </p:spPr>
      </p:sp>
      <p:pic>
        <p:nvPicPr>
          <p:cNvPr id="5" name="Image 0" descr="preencoded.png">    </p:cNvPr>
          <p:cNvPicPr>
            <a:picLocks noChangeAspect="1"/>
          </p:cNvPicPr>
          <p:nvPr/>
        </p:nvPicPr>
        <p:blipFill>
          <a:blip r:embed="rId1"/>
          <a:stretch>
            <a:fillRect/>
          </a:stretch>
        </p:blipFill>
        <p:spPr>
          <a:xfrm>
            <a:off x="998525" y="1684325"/>
            <a:ext cx="380390" cy="380390"/>
          </a:xfrm>
          <a:prstGeom prst="rect">
            <a:avLst/>
          </a:prstGeom>
        </p:spPr>
      </p:pic>
      <p:sp>
        <p:nvSpPr>
          <p:cNvPr id="6" name="Text 3"/>
          <p:cNvSpPr txBox="1"/>
          <p:nvPr/>
        </p:nvSpPr>
        <p:spPr>
          <a:xfrm>
            <a:off x="82296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OECD Recommendation on Responsible Innovation in Neurotechnology (2019)</a:t>
            </a:r>
            <a:endParaRPr lang="en-US" sz="1550" dirty="0"/>
          </a:p>
        </p:txBody>
      </p:sp>
      <p:sp>
        <p:nvSpPr>
          <p:cNvPr id="7" name="Text 4"/>
          <p:cNvSpPr txBox="1"/>
          <p:nvPr/>
        </p:nvSpPr>
        <p:spPr>
          <a:xfrm>
            <a:off x="82296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Calls for safety assessment and protection of personal brain data. Our limits are a form of safety assessment: they quantify how much a decoder on fMRI can actually recover.</a:t>
            </a:r>
            <a:endParaRPr lang="en-US" sz="1400" dirty="0"/>
          </a:p>
        </p:txBody>
      </p:sp>
      <p:sp>
        <p:nvSpPr>
          <p:cNvPr id="8" name="card"/>
          <p:cNvSpPr/>
          <p:nvPr/>
        </p:nvSpPr>
        <p:spPr>
          <a:xfrm>
            <a:off x="4343400" y="1280160"/>
            <a:ext cx="3520440" cy="4937760"/>
          </a:xfrm>
          <a:prstGeom prst="roundRect">
            <a:avLst>
              <a:gd name="adj" fmla="val 2078"/>
            </a:avLst>
          </a:prstGeom>
          <a:solidFill>
            <a:srgbClr val="EEF3F9"/>
          </a:solidFill>
          <a:ln w="12700">
            <a:solidFill>
              <a:srgbClr val="EEF3F9"/>
            </a:solidFill>
            <a:prstDash val="solid"/>
          </a:ln>
        </p:spPr>
      </p:sp>
      <p:sp>
        <p:nvSpPr>
          <p:cNvPr id="9" name="Shape 6"/>
          <p:cNvSpPr/>
          <p:nvPr/>
        </p:nvSpPr>
        <p:spPr>
          <a:xfrm>
            <a:off x="4617720" y="1508760"/>
            <a:ext cx="731520" cy="731520"/>
          </a:xfrm>
          <a:prstGeom prst="ellipse">
            <a:avLst/>
          </a:prstGeom>
          <a:solidFill>
            <a:srgbClr val="4A3AA7"/>
          </a:solidFill>
          <a:ln w="12700">
            <a:solidFill>
              <a:srgbClr val="4A3AA7"/>
            </a:solidFill>
            <a:prstDash val="solid"/>
          </a:ln>
        </p:spPr>
      </p:sp>
      <p:pic>
        <p:nvPicPr>
          <p:cNvPr id="10" name="Image 1" descr="preencoded.png">    </p:cNvPr>
          <p:cNvPicPr>
            <a:picLocks noChangeAspect="1"/>
          </p:cNvPicPr>
          <p:nvPr/>
        </p:nvPicPr>
        <p:blipFill>
          <a:blip r:embed="rId2"/>
          <a:stretch>
            <a:fillRect/>
          </a:stretch>
        </p:blipFill>
        <p:spPr>
          <a:xfrm>
            <a:off x="4793285" y="1684325"/>
            <a:ext cx="380390" cy="380390"/>
          </a:xfrm>
          <a:prstGeom prst="rect">
            <a:avLst/>
          </a:prstGeom>
        </p:spPr>
      </p:pic>
      <p:sp>
        <p:nvSpPr>
          <p:cNvPr id="11" name="Text 7"/>
          <p:cNvSpPr txBox="1"/>
          <p:nvPr/>
        </p:nvSpPr>
        <p:spPr>
          <a:xfrm>
            <a:off x="461772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UNESCO Recommendation on the Ethics of Neurotechnology (adopted 12 Nov 2025)</a:t>
            </a:r>
            <a:endParaRPr lang="en-US" sz="1550" dirty="0"/>
          </a:p>
        </p:txBody>
      </p:sp>
      <p:sp>
        <p:nvSpPr>
          <p:cNvPr id="12" name="Text 8"/>
          <p:cNvSpPr txBox="1"/>
          <p:nvPr/>
        </p:nvSpPr>
        <p:spPr>
          <a:xfrm>
            <a:off x="461772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Treats neural data as uniquely sensitive and requires informed consent and protection against misuse. No new neural data was collected in this project.</a:t>
            </a:r>
            <a:endParaRPr lang="en-US" sz="1400" dirty="0"/>
          </a:p>
        </p:txBody>
      </p:sp>
      <p:sp>
        <p:nvSpPr>
          <p:cNvPr id="13" name="card"/>
          <p:cNvSpPr/>
          <p:nvPr/>
        </p:nvSpPr>
        <p:spPr>
          <a:xfrm>
            <a:off x="8138160" y="1280160"/>
            <a:ext cx="3520440" cy="4937760"/>
          </a:xfrm>
          <a:prstGeom prst="roundRect">
            <a:avLst>
              <a:gd name="adj" fmla="val 2078"/>
            </a:avLst>
          </a:prstGeom>
          <a:solidFill>
            <a:srgbClr val="EEF3F9"/>
          </a:solidFill>
          <a:ln w="12700">
            <a:solidFill>
              <a:srgbClr val="EEF3F9"/>
            </a:solidFill>
            <a:prstDash val="solid"/>
          </a:ln>
        </p:spPr>
      </p:sp>
      <p:sp>
        <p:nvSpPr>
          <p:cNvPr id="14" name="Shape 10"/>
          <p:cNvSpPr/>
          <p:nvPr/>
        </p:nvSpPr>
        <p:spPr>
          <a:xfrm>
            <a:off x="8412480" y="1508760"/>
            <a:ext cx="731520" cy="731520"/>
          </a:xfrm>
          <a:prstGeom prst="ellipse">
            <a:avLst/>
          </a:prstGeom>
          <a:solidFill>
            <a:srgbClr val="EB6834"/>
          </a:solidFill>
          <a:ln w="12700">
            <a:solidFill>
              <a:srgbClr val="EB6834"/>
            </a:solidFill>
            <a:prstDash val="solid"/>
          </a:ln>
        </p:spPr>
      </p:sp>
      <p:pic>
        <p:nvPicPr>
          <p:cNvPr id="15" name="Image 2" descr="preencoded.png">    </p:cNvPr>
          <p:cNvPicPr>
            <a:picLocks noChangeAspect="1"/>
          </p:cNvPicPr>
          <p:nvPr/>
        </p:nvPicPr>
        <p:blipFill>
          <a:blip r:embed="rId3"/>
          <a:stretch>
            <a:fillRect/>
          </a:stretch>
        </p:blipFill>
        <p:spPr>
          <a:xfrm>
            <a:off x="8588045" y="1684325"/>
            <a:ext cx="380390" cy="380390"/>
          </a:xfrm>
          <a:prstGeom prst="rect">
            <a:avLst/>
          </a:prstGeom>
        </p:spPr>
      </p:pic>
      <p:sp>
        <p:nvSpPr>
          <p:cNvPr id="16" name="Text 11"/>
          <p:cNvSpPr txBox="1"/>
          <p:nvPr/>
        </p:nvSpPr>
        <p:spPr>
          <a:xfrm>
            <a:off x="8412480" y="2377440"/>
            <a:ext cx="3017520" cy="1097280"/>
          </a:xfrm>
          <a:prstGeom prst="rect">
            <a:avLst/>
          </a:prstGeom>
          <a:noFill/>
          <a:ln/>
        </p:spPr>
        <p:txBody>
          <a:bodyPr wrap="square" lIns="0" tIns="0" rIns="0" bIns="0" rtlCol="0" anchor="t"/>
          <a:lstStyle/>
          <a:p>
            <a:pPr indent="0" marL="0">
              <a:buNone/>
            </a:pPr>
            <a:r>
              <a:rPr lang="en-US" sz="1550" b="1" dirty="0">
                <a:solidFill>
                  <a:srgbClr val="13243B"/>
                </a:solidFill>
                <a:latin typeface="Calibri" pitchFamily="34" charset="0"/>
                <a:ea typeface="Calibri" pitchFamily="34" charset="-122"/>
                <a:cs typeface="Calibri" pitchFamily="34" charset="-120"/>
              </a:rPr>
              <a:t>Implication of our findings</a:t>
            </a:r>
            <a:endParaRPr lang="en-US" sz="1550" dirty="0"/>
          </a:p>
        </p:txBody>
      </p:sp>
      <p:sp>
        <p:nvSpPr>
          <p:cNvPr id="17" name="Text 12"/>
          <p:cNvSpPr txBox="1"/>
          <p:nvPr/>
        </p:nvSpPr>
        <p:spPr>
          <a:xfrm>
            <a:off x="8412480" y="3520440"/>
            <a:ext cx="3017520" cy="2560320"/>
          </a:xfrm>
          <a:prstGeom prst="rect">
            <a:avLst/>
          </a:prstGeom>
          <a:noFill/>
          <a:ln/>
        </p:spPr>
        <p:txBody>
          <a:bodyPr wrap="square" lIns="0" tIns="0" rIns="0" bIns="0" rtlCol="0" anchor="t"/>
          <a:lstStyle/>
          <a:p>
            <a:pPr indent="0" marL="0">
              <a:buNone/>
            </a:pPr>
            <a:r>
              <a:rPr lang="en-US" sz="1400" dirty="0">
                <a:solidFill>
                  <a:srgbClr val="0B0B0B"/>
                </a:solidFill>
                <a:latin typeface="Calibri" pitchFamily="34" charset="0"/>
                <a:ea typeface="Calibri" pitchFamily="34" charset="-122"/>
                <a:cs typeface="Calibri" pitchFamily="34" charset="-120"/>
              </a:rPr>
              <a:t>Even with a near-perfect forward model, recovery is incomplete, depends on initialisation, and degrades with noise. Claims of fMRI 'mind reading' should be read against these limits.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SDG justification, target by target</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017520"/>
                <a:gridCol w="3291840"/>
                <a:gridCol w="4937760"/>
              </a:tblGrid>
              <a:tr h="804672">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SDG target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Link</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Evidence from this project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3.4  promote mental health and well-being</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Assistive communication for cognitively intact, motor-impaired patients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Limits tell clinicians what non-invasive fMRI decoding can and cannot deliver; non-convexity points to better search, not bigger encoders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9.5  enhance scientific research and technological capability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Method for characterising neural-interface models</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Reusable, open pipeline: differentiable entry into a 177 M-parameter encoder; runs on free compute</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804672">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10.2  inclusion irrespective of disability</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Communication access as a precondition for inclusion</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500" dirty="0">
                          <a:solidFill>
                            <a:srgbClr val="0B0B0B"/>
                          </a:solidFill>
                          <a:latin typeface="Calibri" pitchFamily="34" charset="0"/>
                          <a:ea typeface="Calibri" pitchFamily="34" charset="-122"/>
                          <a:cs typeface="Calibri" pitchFamily="34" charset="-120"/>
                        </a:rPr>
                        <a:t>Regional result guides which cortex a future low-cost or partial-coverage system should target</a:t>
                      </a:r>
                      <a:endParaRPr lang="en-US" sz="15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4846320"/>
            <a:ext cx="11247120" cy="1371600"/>
          </a:xfrm>
          <a:prstGeom prst="roundRect">
            <a:avLst>
              <a:gd name="adj" fmla="val 5333"/>
            </a:avLst>
          </a:prstGeom>
          <a:solidFill>
            <a:srgbClr val="FCE4D9"/>
          </a:solidFill>
          <a:ln w="12700">
            <a:solidFill>
              <a:srgbClr val="FCE4D9"/>
            </a:solidFill>
            <a:prstDash val="solid"/>
          </a:ln>
        </p:spPr>
      </p:sp>
      <p:sp>
        <p:nvSpPr>
          <p:cNvPr id="5" name="Text 2"/>
          <p:cNvSpPr txBox="1"/>
          <p:nvPr/>
        </p:nvSpPr>
        <p:spPr>
          <a:xfrm>
            <a:off x="685800" y="4937760"/>
            <a:ext cx="10789920" cy="1188720"/>
          </a:xfrm>
          <a:prstGeom prst="rect">
            <a:avLst/>
          </a:prstGeom>
          <a:noFill/>
          <a:ln/>
        </p:spPr>
        <p:txBody>
          <a:bodyPr wrap="square" lIns="0" tIns="0" rIns="0" bIns="0" rtlCol="0" anchor="ctr"/>
          <a:lstStyle/>
          <a:p>
            <a:pPr indent="0" marL="0">
              <a:buNone/>
            </a:pPr>
            <a:r>
              <a:rPr lang="en-US" sz="1600" dirty="0">
                <a:solidFill>
                  <a:srgbClr val="0B0B0B"/>
                </a:solidFill>
                <a:latin typeface="Calibri" pitchFamily="34" charset="0"/>
                <a:ea typeface="Calibri" pitchFamily="34" charset="-122"/>
                <a:cs typeface="Calibri" pitchFamily="34" charset="-120"/>
              </a:rPr>
              <a:t>Honest scope: this is enabling research. The SDG contribution is evidence about what is achievable, not a deployed assistive device.</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Limitations and remaining work</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Validation on real naturalistic fMRI and the final write-up</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Limitations</a:t>
            </a:r>
            <a:endParaRPr lang="en-US" sz="3000" dirty="0"/>
          </a:p>
        </p:txBody>
      </p:sp>
      <p:sp>
        <p:nvSpPr>
          <p:cNvPr id="3" name="Text 1"/>
          <p:cNvSpPr txBox="1"/>
          <p:nvPr/>
        </p:nvSpPr>
        <p:spPr>
          <a:xfrm>
            <a:off x="548640" y="1280160"/>
            <a:ext cx="11064240" cy="493776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Synthetic ground truth lives in a random low-dimensional subspace, not real language embeddings; qualitative findings are expected to transfer, absolute values may not.</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Inversion targets the aggregated representation x, one stage after raw LLaMA embeddings.</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All solutions from Adam; the SGD / L-BFGS control did not converge under the settings tried.</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No haemodynamic operator in the released model, so temporal bandwidth limits cannot be measured.</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Release ships only the shared 'average subject' layer, so per-subject analysis is not possible with public weights.</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Regional z-scores use a random-vertex null that ignores spatial autocorrelation; a spin test is stricter.</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Regional inversion uses one ground truth and one budget (8 000 steps, CPU); comparisons are internal to that run, and faster convergence cannot yet be separated from a better optimum.</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Real-data test: one subject (UTS03), one held-out story, 5 inversion queries; per-network inversion on real data not yet run.</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Real-data validation in progress: first results (LeBel 2023)</a:t>
            </a:r>
            <a:endParaRPr lang="en-US" sz="3000" dirty="0"/>
          </a:p>
        </p:txBody>
      </p:sp>
      <p:sp>
        <p:nvSpPr>
          <p:cNvPr id="3" name="Shape 1"/>
          <p:cNvSpPr/>
          <p:nvPr/>
        </p:nvSpPr>
        <p:spPr>
          <a:xfrm>
            <a:off x="457200" y="1188720"/>
            <a:ext cx="2057400" cy="960120"/>
          </a:xfrm>
          <a:prstGeom prst="roundRect">
            <a:avLst>
              <a:gd name="adj" fmla="val 7619"/>
            </a:avLst>
          </a:prstGeom>
          <a:solidFill>
            <a:srgbClr val="13243B"/>
          </a:solidFill>
          <a:ln w="12700">
            <a:solidFill>
              <a:srgbClr val="13243B"/>
            </a:solidFill>
            <a:prstDash val="solid"/>
          </a:ln>
        </p:spPr>
      </p:sp>
      <p:sp>
        <p:nvSpPr>
          <p:cNvPr id="4" name="Text 2"/>
          <p:cNvSpPr txBox="1"/>
          <p:nvPr/>
        </p:nvSpPr>
        <p:spPr>
          <a:xfrm>
            <a:off x="530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OpenNeuro ds003020</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UTS03 · 6 stories · TR 2 s</a:t>
            </a:r>
            <a:endParaRPr lang="en-US" sz="1300" dirty="0"/>
          </a:p>
        </p:txBody>
      </p:sp>
      <p:sp>
        <p:nvSpPr>
          <p:cNvPr id="5" name="Shape 3"/>
          <p:cNvSpPr/>
          <p:nvPr/>
        </p:nvSpPr>
        <p:spPr>
          <a:xfrm>
            <a:off x="2514600" y="1664208"/>
            <a:ext cx="228600" cy="914"/>
          </a:xfrm>
          <a:prstGeom prst="line">
            <a:avLst/>
          </a:prstGeom>
          <a:noFill/>
          <a:ln w="22225">
            <a:solidFill>
              <a:srgbClr val="8A8984"/>
            </a:solidFill>
            <a:prstDash val="solid"/>
            <a:tailEnd type="triangle"/>
          </a:ln>
        </p:spPr>
      </p:sp>
      <p:sp>
        <p:nvSpPr>
          <p:cNvPr id="6" name="Shape 4"/>
          <p:cNvSpPr/>
          <p:nvPr/>
        </p:nvSpPr>
        <p:spPr>
          <a:xfrm>
            <a:off x="2743200" y="1188720"/>
            <a:ext cx="2057400" cy="960120"/>
          </a:xfrm>
          <a:prstGeom prst="roundRect">
            <a:avLst>
              <a:gd name="adj" fmla="val 7619"/>
            </a:avLst>
          </a:prstGeom>
          <a:solidFill>
            <a:srgbClr val="13243B"/>
          </a:solidFill>
          <a:ln w="12700">
            <a:solidFill>
              <a:srgbClr val="13243B"/>
            </a:solidFill>
            <a:prstDash val="solid"/>
          </a:ln>
        </p:spPr>
      </p:sp>
      <p:sp>
        <p:nvSpPr>
          <p:cNvPr id="7" name="Text 5"/>
          <p:cNvSpPr txBox="1"/>
          <p:nvPr/>
        </p:nvSpPr>
        <p:spPr>
          <a:xfrm>
            <a:off x="2816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Surface projection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validated sampler → fsaverage5</a:t>
            </a:r>
            <a:endParaRPr lang="en-US" sz="1300" dirty="0"/>
          </a:p>
        </p:txBody>
      </p:sp>
      <p:sp>
        <p:nvSpPr>
          <p:cNvPr id="8" name="Shape 6"/>
          <p:cNvSpPr/>
          <p:nvPr/>
        </p:nvSpPr>
        <p:spPr>
          <a:xfrm>
            <a:off x="4800600" y="1664208"/>
            <a:ext cx="228600" cy="914"/>
          </a:xfrm>
          <a:prstGeom prst="line">
            <a:avLst/>
          </a:prstGeom>
          <a:noFill/>
          <a:ln w="22225">
            <a:solidFill>
              <a:srgbClr val="8A8984"/>
            </a:solidFill>
            <a:prstDash val="solid"/>
            <a:tailEnd type="triangle"/>
          </a:ln>
        </p:spPr>
      </p:sp>
      <p:sp>
        <p:nvSpPr>
          <p:cNvPr id="9" name="Shape 7"/>
          <p:cNvSpPr/>
          <p:nvPr/>
        </p:nvSpPr>
        <p:spPr>
          <a:xfrm>
            <a:off x="5029200" y="1188720"/>
            <a:ext cx="2057400" cy="960120"/>
          </a:xfrm>
          <a:prstGeom prst="roundRect">
            <a:avLst>
              <a:gd name="adj" fmla="val 7619"/>
            </a:avLst>
          </a:prstGeom>
          <a:solidFill>
            <a:srgbClr val="13243B"/>
          </a:solidFill>
          <a:ln w="12700">
            <a:solidFill>
              <a:srgbClr val="13243B"/>
            </a:solidFill>
            <a:prstDash val="solid"/>
          </a:ln>
        </p:spPr>
      </p:sp>
      <p:sp>
        <p:nvSpPr>
          <p:cNvPr id="10" name="Text 8"/>
          <p:cNvSpPr txBox="1"/>
          <p:nvPr/>
        </p:nvSpPr>
        <p:spPr>
          <a:xfrm>
            <a:off x="5102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Stimulus features</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LLaMA-3.2-3B text + w2v-BERT audio</a:t>
            </a:r>
            <a:endParaRPr lang="en-US" sz="1300" dirty="0"/>
          </a:p>
        </p:txBody>
      </p:sp>
      <p:sp>
        <p:nvSpPr>
          <p:cNvPr id="11" name="Shape 9"/>
          <p:cNvSpPr/>
          <p:nvPr/>
        </p:nvSpPr>
        <p:spPr>
          <a:xfrm>
            <a:off x="7086600" y="1664208"/>
            <a:ext cx="228600" cy="914"/>
          </a:xfrm>
          <a:prstGeom prst="line">
            <a:avLst/>
          </a:prstGeom>
          <a:noFill/>
          <a:ln w="22225">
            <a:solidFill>
              <a:srgbClr val="8A8984"/>
            </a:solidFill>
            <a:prstDash val="solid"/>
            <a:tailEnd type="triangle"/>
          </a:ln>
        </p:spPr>
      </p:sp>
      <p:sp>
        <p:nvSpPr>
          <p:cNvPr id="12" name="Shape 10"/>
          <p:cNvSpPr/>
          <p:nvPr/>
        </p:nvSpPr>
        <p:spPr>
          <a:xfrm>
            <a:off x="7315200" y="1188720"/>
            <a:ext cx="2057400" cy="960120"/>
          </a:xfrm>
          <a:prstGeom prst="roundRect">
            <a:avLst>
              <a:gd name="adj" fmla="val 7619"/>
            </a:avLst>
          </a:prstGeom>
          <a:solidFill>
            <a:srgbClr val="EB6834"/>
          </a:solidFill>
          <a:ln w="12700">
            <a:solidFill>
              <a:srgbClr val="EB6834"/>
            </a:solidFill>
            <a:prstDash val="solid"/>
          </a:ln>
        </p:spPr>
      </p:sp>
      <p:sp>
        <p:nvSpPr>
          <p:cNvPr id="13" name="Text 11"/>
          <p:cNvSpPr txBox="1"/>
          <p:nvPr/>
        </p:nvSpPr>
        <p:spPr>
          <a:xfrm>
            <a:off x="7388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Inversion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held-out BOLD → x̂ through frozen f</a:t>
            </a:r>
            <a:endParaRPr lang="en-US" sz="1300" dirty="0"/>
          </a:p>
        </p:txBody>
      </p:sp>
      <p:sp>
        <p:nvSpPr>
          <p:cNvPr id="14" name="Shape 12"/>
          <p:cNvSpPr/>
          <p:nvPr/>
        </p:nvSpPr>
        <p:spPr>
          <a:xfrm>
            <a:off x="9372600" y="1664208"/>
            <a:ext cx="228600" cy="914"/>
          </a:xfrm>
          <a:prstGeom prst="line">
            <a:avLst/>
          </a:prstGeom>
          <a:noFill/>
          <a:ln w="22225">
            <a:solidFill>
              <a:srgbClr val="8A8984"/>
            </a:solidFill>
            <a:prstDash val="solid"/>
            <a:tailEnd type="triangle"/>
          </a:ln>
        </p:spPr>
      </p:sp>
      <p:sp>
        <p:nvSpPr>
          <p:cNvPr id="15" name="Shape 13"/>
          <p:cNvSpPr/>
          <p:nvPr/>
        </p:nvSpPr>
        <p:spPr>
          <a:xfrm>
            <a:off x="9601200" y="1188720"/>
            <a:ext cx="2057400" cy="960120"/>
          </a:xfrm>
          <a:prstGeom prst="roundRect">
            <a:avLst>
              <a:gd name="adj" fmla="val 7619"/>
            </a:avLst>
          </a:prstGeom>
          <a:solidFill>
            <a:srgbClr val="13243B"/>
          </a:solidFill>
          <a:ln w="12700">
            <a:solidFill>
              <a:srgbClr val="13243B"/>
            </a:solidFill>
            <a:prstDash val="solid"/>
          </a:ln>
        </p:spPr>
      </p:sp>
      <p:sp>
        <p:nvSpPr>
          <p:cNvPr id="16" name="Text 14"/>
          <p:cNvSpPr txBox="1"/>
          <p:nvPr/>
        </p:nvSpPr>
        <p:spPr>
          <a:xfrm>
            <a:off x="9674352" y="1188720"/>
            <a:ext cx="1911096" cy="96012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Identification</a:t>
            </a:r>
            <a:endParaRPr lang="en-US" sz="1300" dirty="0"/>
          </a:p>
          <a:p>
            <a:pPr algn="ctr" indent="0" marL="0">
              <a:buNone/>
            </a:pPr>
            <a:r>
              <a:rPr lang="en-US" sz="1000" dirty="0">
                <a:solidFill>
                  <a:srgbClr val="FFFFFF"/>
                </a:solidFill>
                <a:latin typeface="Calibri" pitchFamily="34" charset="0"/>
                <a:ea typeface="Calibri" pitchFamily="34" charset="-122"/>
                <a:cs typeface="Calibri" pitchFamily="34" charset="-120"/>
              </a:rPr>
              <a:t>rank the true moment among all stories</a:t>
            </a:r>
            <a:endParaRPr lang="en-US" sz="1300" dirty="0"/>
          </a:p>
        </p:txBody>
      </p:sp>
      <p:pic>
        <p:nvPicPr>
          <p:cNvPr id="17" name="Image 0" descr="/home/claude/work/deck/assets_deck/fig_realdata_audio_text.png">    </p:cNvPr>
          <p:cNvPicPr>
            <a:picLocks noChangeAspect="1"/>
          </p:cNvPicPr>
          <p:nvPr/>
        </p:nvPicPr>
        <p:blipFill>
          <a:blip r:embed="rId1"/>
          <a:stretch>
            <a:fillRect/>
          </a:stretch>
        </p:blipFill>
        <p:spPr>
          <a:xfrm>
            <a:off x="1303972" y="2286000"/>
            <a:ext cx="9553575" cy="2697480"/>
          </a:xfrm>
          <a:prstGeom prst="rect">
            <a:avLst/>
          </a:prstGeom>
        </p:spPr>
      </p:pic>
      <p:sp>
        <p:nvSpPr>
          <p:cNvPr id="18" name="Text 15"/>
          <p:cNvSpPr txBox="1"/>
          <p:nvPr/>
        </p:nvSpPr>
        <p:spPr>
          <a:xfrm>
            <a:off x="457200" y="4937760"/>
            <a:ext cx="2697480" cy="731520"/>
          </a:xfrm>
          <a:prstGeom prst="rect">
            <a:avLst/>
          </a:prstGeom>
          <a:noFill/>
          <a:ln/>
        </p:spPr>
        <p:txBody>
          <a:bodyPr wrap="square" lIns="0" tIns="0" rIns="0" bIns="0" rtlCol="0" anchor="b"/>
          <a:lstStyle/>
          <a:p>
            <a:pPr indent="0" marL="0">
              <a:buNone/>
            </a:pPr>
            <a:r>
              <a:rPr lang="en-US" sz="2600" b="1" dirty="0">
                <a:solidFill>
                  <a:srgbClr val="2A78D6"/>
                </a:solidFill>
                <a:latin typeface="Cambria" pitchFamily="34" charset="0"/>
                <a:ea typeface="Cambria" pitchFamily="34" charset="-122"/>
                <a:cs typeface="Cambria" pitchFamily="34" charset="-120"/>
              </a:rPr>
              <a:t>0.48</a:t>
            </a:r>
            <a:endParaRPr lang="en-US" sz="2600" dirty="0"/>
          </a:p>
        </p:txBody>
      </p:sp>
      <p:sp>
        <p:nvSpPr>
          <p:cNvPr id="19" name="Text 16"/>
          <p:cNvSpPr txBox="1"/>
          <p:nvPr/>
        </p:nvSpPr>
        <p:spPr>
          <a:xfrm>
            <a:off x="45720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encoding r, top 2 000 vertices (56% of noise ceiling)</a:t>
            </a:r>
            <a:endParaRPr lang="en-US" sz="1300" dirty="0"/>
          </a:p>
        </p:txBody>
      </p:sp>
      <p:sp>
        <p:nvSpPr>
          <p:cNvPr id="20" name="Text 17"/>
          <p:cNvSpPr txBox="1"/>
          <p:nvPr/>
        </p:nvSpPr>
        <p:spPr>
          <a:xfrm>
            <a:off x="3291840" y="4937760"/>
            <a:ext cx="2697480" cy="731520"/>
          </a:xfrm>
          <a:prstGeom prst="rect">
            <a:avLst/>
          </a:prstGeom>
          <a:noFill/>
          <a:ln/>
        </p:spPr>
        <p:txBody>
          <a:bodyPr wrap="square" lIns="0" tIns="0" rIns="0" bIns="0" rtlCol="0" anchor="b"/>
          <a:lstStyle/>
          <a:p>
            <a:pPr indent="0" marL="0">
              <a:buNone/>
            </a:pPr>
            <a:r>
              <a:rPr lang="en-US" sz="2600" b="1" dirty="0">
                <a:solidFill>
                  <a:srgbClr val="2A78D6"/>
                </a:solidFill>
                <a:latin typeface="Cambria" pitchFamily="34" charset="0"/>
                <a:ea typeface="Cambria" pitchFamily="34" charset="-122"/>
                <a:cs typeface="Cambria" pitchFamily="34" charset="-120"/>
              </a:rPr>
              <a:t>59%</a:t>
            </a:r>
            <a:endParaRPr lang="en-US" sz="2600" dirty="0"/>
          </a:p>
        </p:txBody>
      </p:sp>
      <p:sp>
        <p:nvSpPr>
          <p:cNvPr id="21" name="Text 18"/>
          <p:cNvSpPr txBox="1"/>
          <p:nvPr/>
        </p:nvSpPr>
        <p:spPr>
          <a:xfrm>
            <a:off x="329184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forward identification of 20-s windows, chance 0.5% (194 windows)</a:t>
            </a:r>
            <a:endParaRPr lang="en-US" sz="1300" dirty="0"/>
          </a:p>
        </p:txBody>
      </p:sp>
      <p:sp>
        <p:nvSpPr>
          <p:cNvPr id="22" name="Text 19"/>
          <p:cNvSpPr txBox="1"/>
          <p:nvPr/>
        </p:nvSpPr>
        <p:spPr>
          <a:xfrm>
            <a:off x="6126480" y="4937760"/>
            <a:ext cx="2697480" cy="731520"/>
          </a:xfrm>
          <a:prstGeom prst="rect">
            <a:avLst/>
          </a:prstGeom>
          <a:noFill/>
          <a:ln/>
        </p:spPr>
        <p:txBody>
          <a:bodyPr wrap="square" lIns="0" tIns="0" rIns="0" bIns="0" rtlCol="0" anchor="b"/>
          <a:lstStyle/>
          <a:p>
            <a:pPr indent="0" marL="0">
              <a:buNone/>
            </a:pPr>
            <a:r>
              <a:rPr lang="en-US" sz="2600" b="1" dirty="0">
                <a:solidFill>
                  <a:srgbClr val="EB6834"/>
                </a:solidFill>
                <a:latin typeface="Cambria" pitchFamily="34" charset="0"/>
                <a:ea typeface="Cambria" pitchFamily="34" charset="-122"/>
                <a:cs typeface="Cambria" pitchFamily="34" charset="-120"/>
              </a:rPr>
              <a:t>4/5</a:t>
            </a:r>
            <a:endParaRPr lang="en-US" sz="2600" dirty="0"/>
          </a:p>
        </p:txBody>
      </p:sp>
      <p:sp>
        <p:nvSpPr>
          <p:cNvPr id="23" name="Text 20"/>
          <p:cNvSpPr txBox="1"/>
          <p:nvPr/>
        </p:nvSpPr>
        <p:spPr>
          <a:xfrm>
            <a:off x="612648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held-out segments identified by inverting real BOLD, chance 2.2%</a:t>
            </a:r>
            <a:endParaRPr lang="en-US" sz="1300" dirty="0"/>
          </a:p>
        </p:txBody>
      </p:sp>
      <p:sp>
        <p:nvSpPr>
          <p:cNvPr id="24" name="Text 21"/>
          <p:cNvSpPr txBox="1"/>
          <p:nvPr/>
        </p:nvSpPr>
        <p:spPr>
          <a:xfrm>
            <a:off x="8961120" y="4937760"/>
            <a:ext cx="2697480" cy="731520"/>
          </a:xfrm>
          <a:prstGeom prst="rect">
            <a:avLst/>
          </a:prstGeom>
          <a:noFill/>
          <a:ln/>
        </p:spPr>
        <p:txBody>
          <a:bodyPr wrap="square" lIns="0" tIns="0" rIns="0" bIns="0" rtlCol="0" anchor="b"/>
          <a:lstStyle/>
          <a:p>
            <a:pPr indent="0" marL="0">
              <a:buNone/>
            </a:pPr>
            <a:r>
              <a:rPr lang="en-US" sz="2600" b="1" dirty="0">
                <a:solidFill>
                  <a:srgbClr val="4A3AA7"/>
                </a:solidFill>
                <a:latin typeface="Cambria" pitchFamily="34" charset="0"/>
                <a:ea typeface="Cambria" pitchFamily="34" charset="-122"/>
                <a:cs typeface="Cambria" pitchFamily="34" charset="-120"/>
              </a:rPr>
              <a:t>0.02</a:t>
            </a:r>
            <a:endParaRPr lang="en-US" sz="2600" dirty="0"/>
          </a:p>
        </p:txBody>
      </p:sp>
      <p:sp>
        <p:nvSpPr>
          <p:cNvPr id="25" name="Text 22"/>
          <p:cNvSpPr txBox="1"/>
          <p:nvPr/>
        </p:nvSpPr>
        <p:spPr>
          <a:xfrm>
            <a:off x="8961120" y="5715000"/>
            <a:ext cx="2697480" cy="685800"/>
          </a:xfrm>
          <a:prstGeom prst="rect">
            <a:avLst/>
          </a:prstGeom>
          <a:noFill/>
          <a:ln/>
        </p:spPr>
        <p:txBody>
          <a:bodyPr wrap="square" lIns="0" tIns="0" rIns="0" bIns="0" rtlCol="0" anchor="t"/>
          <a:lstStyle/>
          <a:p>
            <a:pPr indent="0" marL="0">
              <a:buNone/>
            </a:pPr>
            <a:r>
              <a:rPr lang="en-US" sz="1300" dirty="0">
                <a:solidFill>
                  <a:srgbClr val="52514E"/>
                </a:solidFill>
                <a:latin typeface="Calibri" pitchFamily="34" charset="0"/>
                <a:ea typeface="Calibri" pitchFamily="34" charset="-122"/>
                <a:cs typeface="Calibri" pitchFamily="34" charset="-120"/>
              </a:rPr>
              <a:t>cosine of x̂ to the true x: the moment is identifiable, the representation is not recovered</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prediction accuracy by story and network</a:t>
            </a:r>
            <a:endParaRPr lang="en-US" sz="30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11247120" cy="914400"/>
        </p:xfrm>
        <a:graphic>
          <a:graphicData uri="http://schemas.openxmlformats.org/drawingml/2006/table">
            <a:tbl>
              <a:tblPr/>
              <a:tblGrid>
                <a:gridCol w="2743200"/>
                <a:gridCol w="1097280"/>
                <a:gridCol w="1051560"/>
                <a:gridCol w="1051560"/>
                <a:gridCol w="1051560"/>
                <a:gridCol w="1051560"/>
                <a:gridCol w="1051560"/>
                <a:gridCol w="1051560"/>
                <a:gridCol w="1097280"/>
              </a:tblGrid>
              <a:tr h="384048">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Story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Top 2 000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Aud.</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Lang. 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Lang. 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DMN</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SomMot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Visual</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Whole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384048">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wheretheressmoke (held out)</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0.41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adollshouse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avatar</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0.21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legacy</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0.12</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souls</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0.29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0.13</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0.19</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0.08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0.10</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undertheinfluence</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b="1" dirty="0">
                          <a:solidFill>
                            <a:srgbClr val="0B0B0B"/>
                          </a:solidFill>
                          <a:latin typeface="Calibri" pitchFamily="34" charset="0"/>
                          <a:ea typeface="Calibri" pitchFamily="34" charset="-122"/>
                          <a:cs typeface="Calibri" pitchFamily="34" charset="-120"/>
                        </a:rPr>
                        <a:t>0.41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0.27</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0.24</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0.15</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0.26</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300" dirty="0">
                          <a:solidFill>
                            <a:srgbClr val="0B0B0B"/>
                          </a:solidFill>
                          <a:latin typeface="Calibri" pitchFamily="34" charset="0"/>
                          <a:ea typeface="Calibri" pitchFamily="34" charset="-122"/>
                          <a:cs typeface="Calibri" pitchFamily="34" charset="-120"/>
                        </a:rPr>
                        <a:t>0.18</a:t>
                      </a:r>
                      <a:endParaRPr lang="en-US" sz="13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bl>
          </a:graphicData>
        </a:graphic>
      </p:graphicFrame>
      <p:sp>
        <p:nvSpPr>
          <p:cNvPr id="4" name="card"/>
          <p:cNvSpPr/>
          <p:nvPr/>
        </p:nvSpPr>
        <p:spPr>
          <a:xfrm>
            <a:off x="457200" y="4114800"/>
            <a:ext cx="5486400" cy="2103120"/>
          </a:xfrm>
          <a:prstGeom prst="roundRect">
            <a:avLst>
              <a:gd name="adj" fmla="val 3478"/>
            </a:avLst>
          </a:prstGeom>
          <a:solidFill>
            <a:srgbClr val="EEF3F9"/>
          </a:solidFill>
          <a:ln w="12700">
            <a:solidFill>
              <a:srgbClr val="EEF3F9"/>
            </a:solidFill>
            <a:prstDash val="solid"/>
          </a:ln>
        </p:spPr>
      </p:sp>
      <p:sp>
        <p:nvSpPr>
          <p:cNvPr id="5" name="Text 2"/>
          <p:cNvSpPr txBox="1"/>
          <p:nvPr/>
        </p:nvSpPr>
        <p:spPr>
          <a:xfrm>
            <a:off x="640080" y="4206240"/>
            <a:ext cx="5120640" cy="19202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Held out and in-distribution alike. </a:t>
            </a:r>
            <a:pPr indent="0" marL="0">
              <a:buNone/>
            </a:pPr>
            <a:r>
              <a:rPr lang="en-US" sz="1350" dirty="0">
                <a:solidFill>
                  <a:srgbClr val="0B0B0B"/>
                </a:solidFill>
                <a:latin typeface="Calibri" pitchFamily="34" charset="0"/>
                <a:ea typeface="Calibri" pitchFamily="34" charset="-122"/>
                <a:cs typeface="Calibri" pitchFamily="34" charset="-120"/>
              </a:rPr>
              <a:t>On the held-out story the encoder reaches r = 0.48 on the 2 000 vertices chosen from the other stories, 56% of the split-half noise ceiling (0.86). Auditory, language and default-mode networks lead; visual and somatomotor trail, as expected for spoken stories.</a:t>
            </a:r>
            <a:endParaRPr lang="en-US" sz="1350" dirty="0"/>
          </a:p>
        </p:txBody>
      </p:sp>
      <p:sp>
        <p:nvSpPr>
          <p:cNvPr id="6" name="card"/>
          <p:cNvSpPr/>
          <p:nvPr/>
        </p:nvSpPr>
        <p:spPr>
          <a:xfrm>
            <a:off x="6217920" y="4114800"/>
            <a:ext cx="5486400" cy="2103120"/>
          </a:xfrm>
          <a:prstGeom prst="roundRect">
            <a:avLst>
              <a:gd name="adj" fmla="val 3478"/>
            </a:avLst>
          </a:prstGeom>
          <a:solidFill>
            <a:srgbClr val="FCE4D9"/>
          </a:solidFill>
          <a:ln w="12700">
            <a:solidFill>
              <a:srgbClr val="FCE4D9"/>
            </a:solidFill>
            <a:prstDash val="solid"/>
          </a:ln>
        </p:spPr>
      </p:sp>
      <p:sp>
        <p:nvSpPr>
          <p:cNvPr id="7" name="Text 4"/>
          <p:cNvSpPr txBox="1"/>
          <p:nvPr/>
        </p:nvSpPr>
        <p:spPr>
          <a:xfrm>
            <a:off x="6400800" y="4206240"/>
            <a:ext cx="5120640" cy="1920240"/>
          </a:xfrm>
          <a:prstGeom prst="rect">
            <a:avLst/>
          </a:prstGeom>
          <a:noFill/>
          <a:ln/>
        </p:spPr>
        <p:txBody>
          <a:bodyPr wrap="square" lIns="0" tIns="0" rIns="0" bIns="0" rtlCol="0" anchor="ctr"/>
          <a:lstStyle/>
          <a:p>
            <a:pPr indent="0" marL="0">
              <a:buNone/>
            </a:pPr>
            <a:r>
              <a:rPr lang="en-US" sz="1350" b="1" dirty="0">
                <a:solidFill>
                  <a:srgbClr val="13243B"/>
                </a:solidFill>
                <a:latin typeface="Calibri" pitchFamily="34" charset="0"/>
                <a:ea typeface="Calibri" pitchFamily="34" charset="-122"/>
                <a:cs typeface="Calibri" pitchFamily="34" charset="-120"/>
              </a:rPr>
              <a:t>Adding language features. </a:t>
            </a:r>
            <a:pPr indent="0" marL="0">
              <a:buNone/>
            </a:pPr>
            <a:r>
              <a:rPr lang="en-US" sz="1350" dirty="0">
                <a:solidFill>
                  <a:srgbClr val="0B0B0B"/>
                </a:solidFill>
                <a:latin typeface="Calibri" pitchFamily="34" charset="0"/>
                <a:ea typeface="Calibri" pitchFamily="34" charset="-122"/>
                <a:cs typeface="Calibri" pitchFamily="34" charset="-120"/>
              </a:rPr>
              <a:t>Text + audio vs audio only on the held-out story: top-2 000 r 0.48 vs 0.27; default mode 0.35 vs 0.10. One story (avatar) shows no clear alignment peak and is kept only as a distractor, which makes identification harder, not easier.</a:t>
            </a:r>
            <a:endParaRPr lang="en-US" sz="13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Real fMRI: the inverse identifies, but does not reconstruct</a:t>
            </a:r>
            <a:endParaRPr lang="en-US" sz="30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11247120" cy="914400"/>
        </p:xfrm>
        <a:graphic>
          <a:graphicData uri="http://schemas.openxmlformats.org/drawingml/2006/table">
            <a:tbl>
              <a:tblPr/>
              <a:tblGrid>
                <a:gridCol w="3108960"/>
                <a:gridCol w="2103120"/>
                <a:gridCol w="2377440"/>
                <a:gridCol w="2011680"/>
                <a:gridCol w="1645920"/>
              </a:tblGrid>
              <a:tr h="50292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Inversion target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Top-1 identification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Ranks of the true segment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Cosine of x̂ to true x</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Fit (1 − r)</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13243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Measured BOLD, held-out story</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4 / 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0, 0, 6, 0, 0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0.14</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Oracle: model's own prediction</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5 / 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0, 0, 0, 0, 0</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0.22</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0.0008</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6F8FB"/>
                    </a:solidFill>
                  </a:tcPr>
                </a:tc>
              </a:tr>
              <a:tr h="502920">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Chance</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2.2% (1 of 45)</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c>
                  <a:txBody>
                    <a:bodyPr/>
                    <a:lstStyle/>
                    <a:p>
                      <a:pPr indent="0" marL="0">
                        <a:buNone/>
                      </a:pPr>
                      <a:r>
                        <a:rPr lang="en-US" sz="1400" dirty="0">
                          <a:solidFill>
                            <a:srgbClr val="0B0B0B"/>
                          </a:solidFill>
                          <a:latin typeface="Calibri" pitchFamily="34" charset="0"/>
                          <a:ea typeface="Calibri" pitchFamily="34" charset="-122"/>
                          <a:cs typeface="Calibri" pitchFamily="34" charset="-120"/>
                        </a:rPr>
                        <a:t>—</a:t>
                      </a:r>
                      <a:endParaRPr lang="en-US" sz="1400" dirty="0">
                        <a:latin typeface="Calibri" charset="0"/>
                        <a:ea typeface="Calibri" charset="0"/>
                        <a:cs typeface="Calibri" charset="0"/>
                      </a:endParaRPr>
                    </a:p>
                  </a:txBody>
                  <a:tcPr marL="63500" marR="63500" marT="38100" marB="38100" anchor="ctr">
                    <a:lnL w="6350" cap="flat" cmpd="sng" algn="ctr">
                      <a:solidFill>
                        <a:srgbClr val="D5DCE6"/>
                      </a:solidFill>
                      <a:prstDash val="solid"/>
                      <a:round/>
                      <a:headEnd type="none" w="med" len="med"/>
                      <a:tailEnd type="none" w="med" len="med"/>
                    </a:lnL>
                    <a:lnR w="6350" cap="flat" cmpd="sng" algn="ctr">
                      <a:solidFill>
                        <a:srgbClr val="D5DCE6"/>
                      </a:solidFill>
                      <a:prstDash val="solid"/>
                      <a:round/>
                      <a:headEnd type="none" w="med" len="med"/>
                      <a:tailEnd type="none" w="med" len="med"/>
                    </a:lnR>
                    <a:lnT w="6350" cap="flat" cmpd="sng" algn="ctr">
                      <a:solidFill>
                        <a:srgbClr val="D5DCE6"/>
                      </a:solidFill>
                      <a:prstDash val="solid"/>
                      <a:round/>
                      <a:headEnd type="none" w="med" len="med"/>
                      <a:tailEnd type="none" w="med" len="med"/>
                    </a:lnT>
                    <a:lnB w="6350" cap="flat" cmpd="sng" algn="ctr">
                      <a:solidFill>
                        <a:srgbClr val="D5DCE6"/>
                      </a:solidFill>
                      <a:prstDash val="solid"/>
                      <a:round/>
                      <a:headEnd type="none" w="med" len="med"/>
                      <a:tailEnd type="none" w="med" len="med"/>
                    </a:lnB>
                    <a:solidFill>
                      <a:srgbClr val="FFFFFF"/>
                    </a:solidFill>
                  </a:tcPr>
                </a:tc>
              </a:tr>
            </a:tbl>
          </a:graphicData>
        </a:graphic>
      </p:graphicFrame>
      <p:sp>
        <p:nvSpPr>
          <p:cNvPr id="4" name="card"/>
          <p:cNvSpPr/>
          <p:nvPr/>
        </p:nvSpPr>
        <p:spPr>
          <a:xfrm>
            <a:off x="457200" y="3429000"/>
            <a:ext cx="11247120" cy="2788920"/>
          </a:xfrm>
          <a:prstGeom prst="roundRect">
            <a:avLst>
              <a:gd name="adj" fmla="val 2623"/>
            </a:avLst>
          </a:prstGeom>
          <a:solidFill>
            <a:srgbClr val="EEF3F9"/>
          </a:solidFill>
          <a:ln w="12700">
            <a:solidFill>
              <a:srgbClr val="EEF3F9"/>
            </a:solidFill>
            <a:prstDash val="solid"/>
          </a:ln>
        </p:spPr>
      </p:sp>
      <p:sp>
        <p:nvSpPr>
          <p:cNvPr id="5" name="Text 2"/>
          <p:cNvSpPr txBox="1"/>
          <p:nvPr/>
        </p:nvSpPr>
        <p:spPr>
          <a:xfrm>
            <a:off x="685800" y="3520440"/>
            <a:ext cx="10789920" cy="2606040"/>
          </a:xfrm>
          <a:prstGeom prst="rect">
            <a:avLst/>
          </a:prstGeom>
          <a:noFill/>
          <a:ln/>
        </p:spPr>
        <p:txBody>
          <a:bodyPr wrap="square" lIns="0" tIns="0" rIns="0" bIns="0" rtlCol="0" anchor="t"/>
          <a:lstStyle/>
          <a:p>
            <a:pPr indent="0" marL="0">
              <a:buNone/>
            </a:pPr>
            <a:r>
              <a:rPr lang="en-US" sz="1500" b="1" dirty="0">
                <a:solidFill>
                  <a:srgbClr val="13243B"/>
                </a:solidFill>
                <a:latin typeface="Calibri" pitchFamily="34" charset="0"/>
                <a:ea typeface="Calibri" pitchFamily="34" charset="-122"/>
                <a:cs typeface="Calibri" pitchFamily="34" charset="-120"/>
              </a:rPr>
              <a:t>Two limits, separated.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Without noise (oracle), inversion identifies every segment yet recovers only 0.22 of the representation: most of the loss is the operator's conditioning, not measurement noise. With real BOLD, recovery drops further to 0.02 while identification survives (4/5, ranked against all 45 segments of six stories, including the other six of the same story).</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 </a:t>
            </a:r>
            <a:endParaRPr lang="en-US" sz="1500" dirty="0"/>
          </a:p>
          <a:p>
            <a:pPr indent="0" marL="0">
              <a:buNone/>
            </a:pPr>
            <a:r>
              <a:rPr lang="en-US" sz="1500" dirty="0">
                <a:solidFill>
                  <a:srgbClr val="0B0B0B"/>
                </a:solidFill>
                <a:latin typeface="Calibri" pitchFamily="34" charset="0"/>
                <a:ea typeface="Calibri" pitchFamily="34" charset="-122"/>
                <a:cs typeface="Calibri" pitchFamily="34" charset="-120"/>
              </a:rPr>
              <a:t>This is the synthetic result, reproduced on a real brain: under noise, retrieval stayed near 0.99 while cosine fell. Identification needs only the directions the operator transmits well.</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Timeline to completion</a:t>
            </a:r>
            <a:endParaRPr lang="en-US" sz="3000" dirty="0"/>
          </a:p>
        </p:txBody>
      </p:sp>
      <p:sp>
        <p:nvSpPr>
          <p:cNvPr id="3" name="Text 1"/>
          <p:cNvSpPr txBox="1"/>
          <p:nvPr/>
        </p:nvSpPr>
        <p:spPr>
          <a:xfrm>
            <a:off x="4206240"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Aug</a:t>
            </a:r>
            <a:endParaRPr lang="en-US" sz="1400" dirty="0"/>
          </a:p>
        </p:txBody>
      </p:sp>
      <p:sp>
        <p:nvSpPr>
          <p:cNvPr id="4" name="Text 2"/>
          <p:cNvSpPr txBox="1"/>
          <p:nvPr/>
        </p:nvSpPr>
        <p:spPr>
          <a:xfrm>
            <a:off x="5687568"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Sep</a:t>
            </a:r>
            <a:endParaRPr lang="en-US" sz="1400" dirty="0"/>
          </a:p>
        </p:txBody>
      </p:sp>
      <p:sp>
        <p:nvSpPr>
          <p:cNvPr id="5" name="Text 3"/>
          <p:cNvSpPr txBox="1"/>
          <p:nvPr/>
        </p:nvSpPr>
        <p:spPr>
          <a:xfrm>
            <a:off x="7168896"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Oct</a:t>
            </a:r>
            <a:endParaRPr lang="en-US" sz="1400" dirty="0"/>
          </a:p>
        </p:txBody>
      </p:sp>
      <p:sp>
        <p:nvSpPr>
          <p:cNvPr id="6" name="Text 4"/>
          <p:cNvSpPr txBox="1"/>
          <p:nvPr/>
        </p:nvSpPr>
        <p:spPr>
          <a:xfrm>
            <a:off x="8650224"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Nov</a:t>
            </a:r>
            <a:endParaRPr lang="en-US" sz="1400" dirty="0"/>
          </a:p>
        </p:txBody>
      </p:sp>
      <p:sp>
        <p:nvSpPr>
          <p:cNvPr id="7" name="Text 5"/>
          <p:cNvSpPr txBox="1"/>
          <p:nvPr/>
        </p:nvSpPr>
        <p:spPr>
          <a:xfrm>
            <a:off x="10131552" y="1234440"/>
            <a:ext cx="1481328" cy="320040"/>
          </a:xfrm>
          <a:prstGeom prst="rect">
            <a:avLst/>
          </a:prstGeom>
          <a:noFill/>
          <a:ln/>
        </p:spPr>
        <p:txBody>
          <a:bodyPr wrap="square" lIns="0" tIns="0" rIns="0" bIns="0" rtlCol="0" anchor="t"/>
          <a:lstStyle/>
          <a:p>
            <a:pPr algn="ctr" indent="0" marL="0">
              <a:buNone/>
            </a:pPr>
            <a:r>
              <a:rPr lang="en-US" sz="1400" b="1" dirty="0">
                <a:solidFill>
                  <a:srgbClr val="13243B"/>
                </a:solidFill>
                <a:latin typeface="Calibri" pitchFamily="34" charset="0"/>
                <a:ea typeface="Calibri" pitchFamily="34" charset="-122"/>
                <a:cs typeface="Calibri" pitchFamily="34" charset="-120"/>
              </a:rPr>
              <a:t>Dec</a:t>
            </a:r>
            <a:endParaRPr lang="en-US" sz="1400" dirty="0"/>
          </a:p>
        </p:txBody>
      </p:sp>
      <p:sp>
        <p:nvSpPr>
          <p:cNvPr id="8" name="Text 6"/>
          <p:cNvSpPr txBox="1"/>
          <p:nvPr/>
        </p:nvSpPr>
        <p:spPr>
          <a:xfrm>
            <a:off x="457200" y="169164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S1 Literature, formulation</a:t>
            </a:r>
            <a:endParaRPr lang="en-US" sz="1350" dirty="0"/>
          </a:p>
        </p:txBody>
      </p:sp>
      <p:sp>
        <p:nvSpPr>
          <p:cNvPr id="9" name="Shape 7"/>
          <p:cNvSpPr/>
          <p:nvPr/>
        </p:nvSpPr>
        <p:spPr>
          <a:xfrm>
            <a:off x="4206240" y="1728216"/>
            <a:ext cx="7406640" cy="347472"/>
          </a:xfrm>
          <a:prstGeom prst="rect">
            <a:avLst/>
          </a:prstGeom>
          <a:solidFill>
            <a:srgbClr val="F3F5F8"/>
          </a:solidFill>
          <a:ln w="12700">
            <a:solidFill>
              <a:srgbClr val="F3F5F8"/>
            </a:solidFill>
            <a:prstDash val="solid"/>
          </a:ln>
        </p:spPr>
      </p:sp>
      <p:sp>
        <p:nvSpPr>
          <p:cNvPr id="10" name="Shape 8"/>
          <p:cNvSpPr/>
          <p:nvPr/>
        </p:nvSpPr>
        <p:spPr>
          <a:xfrm>
            <a:off x="4206240" y="1728216"/>
            <a:ext cx="1333195" cy="347472"/>
          </a:xfrm>
          <a:prstGeom prst="roundRect">
            <a:avLst>
              <a:gd name="adj" fmla="val 26316"/>
            </a:avLst>
          </a:prstGeom>
          <a:solidFill>
            <a:srgbClr val="1BAF7A"/>
          </a:solidFill>
          <a:ln w="12700">
            <a:solidFill>
              <a:srgbClr val="1BAF7A"/>
            </a:solidFill>
            <a:prstDash val="solid"/>
          </a:ln>
        </p:spPr>
      </p:sp>
      <p:sp>
        <p:nvSpPr>
          <p:cNvPr id="11" name="Text 9"/>
          <p:cNvSpPr txBox="1"/>
          <p:nvPr/>
        </p:nvSpPr>
        <p:spPr>
          <a:xfrm>
            <a:off x="457200" y="225856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S2 Instrumentation</a:t>
            </a:r>
            <a:endParaRPr lang="en-US" sz="1350" dirty="0"/>
          </a:p>
        </p:txBody>
      </p:sp>
      <p:sp>
        <p:nvSpPr>
          <p:cNvPr id="12" name="Shape 10"/>
          <p:cNvSpPr/>
          <p:nvPr/>
        </p:nvSpPr>
        <p:spPr>
          <a:xfrm>
            <a:off x="4206240" y="2295144"/>
            <a:ext cx="7406640" cy="347472"/>
          </a:xfrm>
          <a:prstGeom prst="rect">
            <a:avLst/>
          </a:prstGeom>
          <a:solidFill>
            <a:srgbClr val="F3F5F8"/>
          </a:solidFill>
          <a:ln w="12700">
            <a:solidFill>
              <a:srgbClr val="F3F5F8"/>
            </a:solidFill>
            <a:prstDash val="solid"/>
          </a:ln>
        </p:spPr>
      </p:sp>
      <p:sp>
        <p:nvSpPr>
          <p:cNvPr id="13" name="Shape 11"/>
          <p:cNvSpPr/>
          <p:nvPr/>
        </p:nvSpPr>
        <p:spPr>
          <a:xfrm>
            <a:off x="4798771" y="2295144"/>
            <a:ext cx="1333195" cy="347472"/>
          </a:xfrm>
          <a:prstGeom prst="roundRect">
            <a:avLst>
              <a:gd name="adj" fmla="val 26316"/>
            </a:avLst>
          </a:prstGeom>
          <a:solidFill>
            <a:srgbClr val="1BAF7A"/>
          </a:solidFill>
          <a:ln w="12700">
            <a:solidFill>
              <a:srgbClr val="1BAF7A"/>
            </a:solidFill>
            <a:prstDash val="solid"/>
          </a:ln>
        </p:spPr>
      </p:sp>
      <p:sp>
        <p:nvSpPr>
          <p:cNvPr id="14" name="Text 12"/>
          <p:cNvSpPr txBox="1"/>
          <p:nvPr/>
        </p:nvSpPr>
        <p:spPr>
          <a:xfrm>
            <a:off x="457200" y="2825496"/>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S3 Core characterisation</a:t>
            </a:r>
            <a:endParaRPr lang="en-US" sz="1350" dirty="0"/>
          </a:p>
        </p:txBody>
      </p:sp>
      <p:sp>
        <p:nvSpPr>
          <p:cNvPr id="15" name="Shape 13"/>
          <p:cNvSpPr/>
          <p:nvPr/>
        </p:nvSpPr>
        <p:spPr>
          <a:xfrm>
            <a:off x="4206240" y="2862072"/>
            <a:ext cx="7406640" cy="347472"/>
          </a:xfrm>
          <a:prstGeom prst="rect">
            <a:avLst/>
          </a:prstGeom>
          <a:solidFill>
            <a:srgbClr val="F3F5F8"/>
          </a:solidFill>
          <a:ln w="12700">
            <a:solidFill>
              <a:srgbClr val="F3F5F8"/>
            </a:solidFill>
            <a:prstDash val="solid"/>
          </a:ln>
        </p:spPr>
      </p:sp>
      <p:sp>
        <p:nvSpPr>
          <p:cNvPr id="16" name="Shape 14"/>
          <p:cNvSpPr/>
          <p:nvPr/>
        </p:nvSpPr>
        <p:spPr>
          <a:xfrm>
            <a:off x="5539435" y="2862072"/>
            <a:ext cx="2073859" cy="347472"/>
          </a:xfrm>
          <a:prstGeom prst="roundRect">
            <a:avLst>
              <a:gd name="adj" fmla="val 26316"/>
            </a:avLst>
          </a:prstGeom>
          <a:solidFill>
            <a:srgbClr val="1BAF7A"/>
          </a:solidFill>
          <a:ln w="12700">
            <a:solidFill>
              <a:srgbClr val="1BAF7A"/>
            </a:solidFill>
            <a:prstDash val="solid"/>
          </a:ln>
        </p:spPr>
      </p:sp>
      <p:sp>
        <p:nvSpPr>
          <p:cNvPr id="17" name="Text 15"/>
          <p:cNvSpPr txBox="1"/>
          <p:nvPr/>
        </p:nvSpPr>
        <p:spPr>
          <a:xfrm>
            <a:off x="457200" y="3392424"/>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S4 Controls and hypothesis tests</a:t>
            </a:r>
            <a:endParaRPr lang="en-US" sz="1350" dirty="0"/>
          </a:p>
        </p:txBody>
      </p:sp>
      <p:sp>
        <p:nvSpPr>
          <p:cNvPr id="18" name="Shape 16"/>
          <p:cNvSpPr/>
          <p:nvPr/>
        </p:nvSpPr>
        <p:spPr>
          <a:xfrm>
            <a:off x="4206240" y="3429000"/>
            <a:ext cx="7406640" cy="347472"/>
          </a:xfrm>
          <a:prstGeom prst="rect">
            <a:avLst/>
          </a:prstGeom>
          <a:solidFill>
            <a:srgbClr val="F3F5F8"/>
          </a:solidFill>
          <a:ln w="12700">
            <a:solidFill>
              <a:srgbClr val="F3F5F8"/>
            </a:solidFill>
            <a:prstDash val="solid"/>
          </a:ln>
        </p:spPr>
      </p:sp>
      <p:sp>
        <p:nvSpPr>
          <p:cNvPr id="19" name="Shape 17"/>
          <p:cNvSpPr/>
          <p:nvPr/>
        </p:nvSpPr>
        <p:spPr>
          <a:xfrm>
            <a:off x="6872630" y="3429000"/>
            <a:ext cx="1036930" cy="347472"/>
          </a:xfrm>
          <a:prstGeom prst="roundRect">
            <a:avLst>
              <a:gd name="adj" fmla="val 26316"/>
            </a:avLst>
          </a:prstGeom>
          <a:solidFill>
            <a:srgbClr val="1BAF7A"/>
          </a:solidFill>
          <a:ln w="12700">
            <a:solidFill>
              <a:srgbClr val="1BAF7A"/>
            </a:solidFill>
            <a:prstDash val="solid"/>
          </a:ln>
        </p:spPr>
      </p:sp>
      <p:sp>
        <p:nvSpPr>
          <p:cNvPr id="20" name="Text 18"/>
          <p:cNvSpPr txBox="1"/>
          <p:nvPr/>
        </p:nvSpPr>
        <p:spPr>
          <a:xfrm>
            <a:off x="457200" y="3959352"/>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S5 Regional analysis</a:t>
            </a:r>
            <a:endParaRPr lang="en-US" sz="1350" dirty="0"/>
          </a:p>
        </p:txBody>
      </p:sp>
      <p:sp>
        <p:nvSpPr>
          <p:cNvPr id="21" name="Shape 19"/>
          <p:cNvSpPr/>
          <p:nvPr/>
        </p:nvSpPr>
        <p:spPr>
          <a:xfrm>
            <a:off x="4206240" y="3995928"/>
            <a:ext cx="7406640" cy="347472"/>
          </a:xfrm>
          <a:prstGeom prst="rect">
            <a:avLst/>
          </a:prstGeom>
          <a:solidFill>
            <a:srgbClr val="F3F5F8"/>
          </a:solidFill>
          <a:ln w="12700">
            <a:solidFill>
              <a:srgbClr val="F3F5F8"/>
            </a:solidFill>
            <a:prstDash val="solid"/>
          </a:ln>
        </p:spPr>
      </p:sp>
      <p:sp>
        <p:nvSpPr>
          <p:cNvPr id="22" name="Shape 20"/>
          <p:cNvSpPr/>
          <p:nvPr/>
        </p:nvSpPr>
        <p:spPr>
          <a:xfrm>
            <a:off x="7465162" y="3995928"/>
            <a:ext cx="592531" cy="347472"/>
          </a:xfrm>
          <a:prstGeom prst="roundRect">
            <a:avLst>
              <a:gd name="adj" fmla="val 26316"/>
            </a:avLst>
          </a:prstGeom>
          <a:solidFill>
            <a:srgbClr val="1BAF7A"/>
          </a:solidFill>
          <a:ln w="12700">
            <a:solidFill>
              <a:srgbClr val="1BAF7A"/>
            </a:solidFill>
            <a:prstDash val="solid"/>
          </a:ln>
        </p:spPr>
      </p:sp>
      <p:sp>
        <p:nvSpPr>
          <p:cNvPr id="23" name="Text 21"/>
          <p:cNvSpPr txBox="1"/>
          <p:nvPr/>
        </p:nvSpPr>
        <p:spPr>
          <a:xfrm>
            <a:off x="457200" y="4526280"/>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S6 Real-data study</a:t>
            </a:r>
            <a:endParaRPr lang="en-US" sz="1350" dirty="0"/>
          </a:p>
        </p:txBody>
      </p:sp>
      <p:sp>
        <p:nvSpPr>
          <p:cNvPr id="24" name="Shape 22"/>
          <p:cNvSpPr/>
          <p:nvPr/>
        </p:nvSpPr>
        <p:spPr>
          <a:xfrm>
            <a:off x="4206240" y="4562856"/>
            <a:ext cx="7406640" cy="347472"/>
          </a:xfrm>
          <a:prstGeom prst="rect">
            <a:avLst/>
          </a:prstGeom>
          <a:solidFill>
            <a:srgbClr val="F3F5F8"/>
          </a:solidFill>
          <a:ln w="12700">
            <a:solidFill>
              <a:srgbClr val="F3F5F8"/>
            </a:solidFill>
            <a:prstDash val="solid"/>
          </a:ln>
        </p:spPr>
      </p:sp>
      <p:sp>
        <p:nvSpPr>
          <p:cNvPr id="25" name="Shape 23"/>
          <p:cNvSpPr/>
          <p:nvPr/>
        </p:nvSpPr>
        <p:spPr>
          <a:xfrm>
            <a:off x="8057693" y="4562856"/>
            <a:ext cx="2073859" cy="347472"/>
          </a:xfrm>
          <a:prstGeom prst="roundRect">
            <a:avLst>
              <a:gd name="adj" fmla="val 26316"/>
            </a:avLst>
          </a:prstGeom>
          <a:solidFill>
            <a:srgbClr val="EDA100"/>
          </a:solidFill>
          <a:ln w="12700">
            <a:solidFill>
              <a:srgbClr val="EDA100"/>
            </a:solidFill>
            <a:prstDash val="solid"/>
          </a:ln>
        </p:spPr>
      </p:sp>
      <p:sp>
        <p:nvSpPr>
          <p:cNvPr id="26" name="Text 24"/>
          <p:cNvSpPr txBox="1"/>
          <p:nvPr/>
        </p:nvSpPr>
        <p:spPr>
          <a:xfrm>
            <a:off x="457200" y="5093208"/>
            <a:ext cx="3657600" cy="411480"/>
          </a:xfrm>
          <a:prstGeom prst="rect">
            <a:avLst/>
          </a:prstGeom>
          <a:noFill/>
          <a:ln/>
        </p:spPr>
        <p:txBody>
          <a:bodyPr wrap="square" lIns="0" tIns="0" rIns="0" bIns="0" rtlCol="0" anchor="ctr"/>
          <a:lstStyle/>
          <a:p>
            <a:pPr indent="0" marL="0">
              <a:buNone/>
            </a:pPr>
            <a:r>
              <a:rPr lang="en-US" sz="1350" dirty="0">
                <a:solidFill>
                  <a:srgbClr val="0B0B0B"/>
                </a:solidFill>
                <a:latin typeface="Calibri" pitchFamily="34" charset="0"/>
                <a:ea typeface="Calibri" pitchFamily="34" charset="-122"/>
                <a:cs typeface="Calibri" pitchFamily="34" charset="-120"/>
              </a:rPr>
              <a:t>S7 Paper and final report</a:t>
            </a:r>
            <a:endParaRPr lang="en-US" sz="1350" dirty="0"/>
          </a:p>
        </p:txBody>
      </p:sp>
      <p:sp>
        <p:nvSpPr>
          <p:cNvPr id="27" name="Shape 25"/>
          <p:cNvSpPr/>
          <p:nvPr/>
        </p:nvSpPr>
        <p:spPr>
          <a:xfrm>
            <a:off x="4206240" y="5129784"/>
            <a:ext cx="7406640" cy="347472"/>
          </a:xfrm>
          <a:prstGeom prst="rect">
            <a:avLst/>
          </a:prstGeom>
          <a:solidFill>
            <a:srgbClr val="F3F5F8"/>
          </a:solidFill>
          <a:ln w="12700">
            <a:solidFill>
              <a:srgbClr val="F3F5F8"/>
            </a:solidFill>
            <a:prstDash val="solid"/>
          </a:ln>
        </p:spPr>
      </p:sp>
      <p:sp>
        <p:nvSpPr>
          <p:cNvPr id="28" name="Shape 26"/>
          <p:cNvSpPr/>
          <p:nvPr/>
        </p:nvSpPr>
        <p:spPr>
          <a:xfrm>
            <a:off x="9094622" y="5129784"/>
            <a:ext cx="2518258" cy="347472"/>
          </a:xfrm>
          <a:prstGeom prst="roundRect">
            <a:avLst>
              <a:gd name="adj" fmla="val 26316"/>
            </a:avLst>
          </a:prstGeom>
          <a:solidFill>
            <a:srgbClr val="EDA100"/>
          </a:solidFill>
          <a:ln w="12700">
            <a:solidFill>
              <a:srgbClr val="EDA100"/>
            </a:solidFill>
            <a:prstDash val="solid"/>
          </a:ln>
        </p:spPr>
      </p:sp>
      <p:sp>
        <p:nvSpPr>
          <p:cNvPr id="29" name="Shape 27"/>
          <p:cNvSpPr/>
          <p:nvPr/>
        </p:nvSpPr>
        <p:spPr>
          <a:xfrm>
            <a:off x="7835494" y="1600200"/>
            <a:ext cx="914" cy="4069080"/>
          </a:xfrm>
          <a:prstGeom prst="line">
            <a:avLst/>
          </a:prstGeom>
          <a:noFill/>
          <a:ln w="19050">
            <a:solidFill>
              <a:srgbClr val="EB6834"/>
            </a:solidFill>
            <a:prstDash val="dash"/>
          </a:ln>
        </p:spPr>
      </p:sp>
      <p:sp>
        <p:nvSpPr>
          <p:cNvPr id="30" name="Text 28"/>
          <p:cNvSpPr txBox="1"/>
          <p:nvPr/>
        </p:nvSpPr>
        <p:spPr>
          <a:xfrm>
            <a:off x="7103974" y="5715000"/>
            <a:ext cx="1463040" cy="320040"/>
          </a:xfrm>
          <a:prstGeom prst="rect">
            <a:avLst/>
          </a:prstGeom>
          <a:noFill/>
          <a:ln/>
        </p:spPr>
        <p:txBody>
          <a:bodyPr wrap="square" lIns="0" tIns="0" rIns="0" bIns="0" rtlCol="0" anchor="t"/>
          <a:lstStyle/>
          <a:p>
            <a:pPr algn="ctr" indent="0" marL="0">
              <a:buNone/>
            </a:pPr>
            <a:r>
              <a:rPr lang="en-US" sz="1200" b="1" dirty="0">
                <a:solidFill>
                  <a:srgbClr val="EB6834"/>
                </a:solidFill>
                <a:latin typeface="Calibri" pitchFamily="34" charset="0"/>
                <a:ea typeface="Calibri" pitchFamily="34" charset="-122"/>
                <a:cs typeface="Calibri" pitchFamily="34" charset="-120"/>
              </a:rPr>
              <a:t>Review II</a:t>
            </a:r>
            <a:endParaRPr lang="en-US" sz="1200" dirty="0"/>
          </a:p>
        </p:txBody>
      </p:sp>
      <p:sp>
        <p:nvSpPr>
          <p:cNvPr id="31" name="Shape 29"/>
          <p:cNvSpPr/>
          <p:nvPr/>
        </p:nvSpPr>
        <p:spPr>
          <a:xfrm>
            <a:off x="9390888" y="1600200"/>
            <a:ext cx="914" cy="4069080"/>
          </a:xfrm>
          <a:prstGeom prst="line">
            <a:avLst/>
          </a:prstGeom>
          <a:noFill/>
          <a:ln w="19050">
            <a:solidFill>
              <a:srgbClr val="4A3AA7"/>
            </a:solidFill>
            <a:prstDash val="dash"/>
          </a:ln>
        </p:spPr>
      </p:sp>
      <p:sp>
        <p:nvSpPr>
          <p:cNvPr id="32" name="Text 30"/>
          <p:cNvSpPr txBox="1"/>
          <p:nvPr/>
        </p:nvSpPr>
        <p:spPr>
          <a:xfrm>
            <a:off x="8659368" y="5715000"/>
            <a:ext cx="1463040" cy="320040"/>
          </a:xfrm>
          <a:prstGeom prst="rect">
            <a:avLst/>
          </a:prstGeom>
          <a:noFill/>
          <a:ln/>
        </p:spPr>
        <p:txBody>
          <a:bodyPr wrap="square" lIns="0" tIns="0" rIns="0" bIns="0" rtlCol="0" anchor="t"/>
          <a:lstStyle/>
          <a:p>
            <a:pPr algn="ctr" indent="0" marL="0">
              <a:buNone/>
            </a:pPr>
            <a:r>
              <a:rPr lang="en-US" sz="1200" b="1" dirty="0">
                <a:solidFill>
                  <a:srgbClr val="4A3AA7"/>
                </a:solidFill>
                <a:latin typeface="Calibri" pitchFamily="34" charset="0"/>
                <a:ea typeface="Calibri" pitchFamily="34" charset="-122"/>
                <a:cs typeface="Calibri" pitchFamily="34" charset="-120"/>
              </a:rPr>
              <a:t>Review III</a:t>
            </a:r>
            <a:endParaRPr lang="en-US" sz="12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Conclusion</a:t>
            </a:r>
            <a:endParaRPr lang="en-US" sz="3000" dirty="0"/>
          </a:p>
        </p:txBody>
      </p:sp>
      <p:sp>
        <p:nvSpPr>
          <p:cNvPr id="3" name="card"/>
          <p:cNvSpPr/>
          <p:nvPr/>
        </p:nvSpPr>
        <p:spPr>
          <a:xfrm>
            <a:off x="548640" y="1234440"/>
            <a:ext cx="11064240" cy="1371600"/>
          </a:xfrm>
          <a:prstGeom prst="roundRect">
            <a:avLst>
              <a:gd name="adj" fmla="val 5333"/>
            </a:avLst>
          </a:prstGeom>
          <a:solidFill>
            <a:srgbClr val="13243B"/>
          </a:solidFill>
          <a:ln w="12700">
            <a:solidFill>
              <a:srgbClr val="13243B"/>
            </a:solidFill>
            <a:prstDash val="solid"/>
          </a:ln>
        </p:spPr>
      </p:sp>
      <p:sp>
        <p:nvSpPr>
          <p:cNvPr id="4" name="Text 2"/>
          <p:cNvSpPr txBox="1"/>
          <p:nvPr/>
        </p:nvSpPr>
        <p:spPr>
          <a:xfrm>
            <a:off x="777240" y="1325880"/>
            <a:ext cx="10607040" cy="1188720"/>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A better brain encoder does not, by itself, make meaning more decodable. The limit is the geometry of the inverse, not lost information.</a:t>
            </a:r>
            <a:endParaRPr lang="en-US" sz="2000" dirty="0"/>
          </a:p>
        </p:txBody>
      </p:sp>
      <p:sp>
        <p:nvSpPr>
          <p:cNvPr id="5" name="Text 3"/>
          <p:cNvSpPr txBox="1"/>
          <p:nvPr/>
        </p:nvSpPr>
        <p:spPr>
          <a:xfrm>
            <a:off x="777240" y="2880360"/>
            <a:ext cx="10607040" cy="3291840"/>
          </a:xfrm>
          <a:prstGeom prst="rect">
            <a:avLst/>
          </a:prstGeom>
          <a:noFill/>
          <a:ln/>
        </p:spPr>
        <p:txBody>
          <a:bodyPr wrap="square" lIns="0" tIns="0" rIns="0" bIns="0" rtlCol="0" anchor="t"/>
          <a:lstStyle/>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Encoding error falls 28× while recovery saturates (0.944)</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Inverse is non-convex: equal fits disagree at 0.82 cosine, reproducibly; no null space</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Disagreement lies in the operator's least-sensitive directions</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The operator's topography matches anatomy; regional recoverability measured against matched controls</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First real-fMRI result: inverting held-out BOLD identifies the heard moment, yet recovers little of x, as the synthetic analysis predicts</a:t>
            </a:r>
            <a:endParaRPr lang="en-US" sz="1600" dirty="0"/>
          </a:p>
          <a:p>
            <a:pPr marL="228600" indent="-228600">
              <a:spcAft>
                <a:spcPts val="600"/>
              </a:spcAft>
              <a:buSzPct val="100000"/>
              <a:buChar char="•"/>
            </a:pPr>
            <a:r>
              <a:rPr lang="en-US" sz="1600" dirty="0">
                <a:solidFill>
                  <a:srgbClr val="0B0B0B"/>
                </a:solidFill>
                <a:latin typeface="Calibri" pitchFamily="34" charset="0"/>
                <a:ea typeface="Calibri" pitchFamily="34" charset="-122"/>
                <a:cs typeface="Calibri" pitchFamily="34" charset="-120"/>
              </a:rPr>
              <a:t>Next: complete the real-data study, then the final report and paper</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640080" y="2468880"/>
            <a:ext cx="10881360" cy="1097280"/>
          </a:xfrm>
          <a:prstGeom prst="rect">
            <a:avLst/>
          </a:prstGeom>
          <a:noFill/>
          <a:ln/>
        </p:spPr>
        <p:txBody>
          <a:bodyPr wrap="square" rtlCol="0" anchor="b"/>
          <a:lstStyle/>
          <a:p>
            <a:pPr algn="l" indent="0" marL="0">
              <a:buNone/>
            </a:pPr>
            <a:r>
              <a:rPr lang="en-US" sz="4000" b="1" dirty="0">
                <a:solidFill>
                  <a:srgbClr val="FFFFFF"/>
                </a:solidFill>
                <a:latin typeface="Cambria" pitchFamily="34" charset="0"/>
                <a:ea typeface="Cambria" pitchFamily="34" charset="-122"/>
                <a:cs typeface="Cambria" pitchFamily="34" charset="-120"/>
              </a:rPr>
              <a:t>Backup  ·  Anticipated questions</a:t>
            </a:r>
            <a:endParaRPr lang="en-US" sz="4000" dirty="0"/>
          </a:p>
        </p:txBody>
      </p:sp>
      <p:sp>
        <p:nvSpPr>
          <p:cNvPr id="3" name="Text 0"/>
          <p:cNvSpPr/>
          <p:nvPr>
            <p:ph idx="101" type="body" hasCustomPrompt="1"/>
          </p:nvPr>
        </p:nvSpPr>
        <p:spPr>
          <a:xfrm>
            <a:off x="640080" y="3703320"/>
            <a:ext cx="10881360" cy="1280160"/>
          </a:xfrm>
          <a:prstGeom prst="rect">
            <a:avLst/>
          </a:prstGeom>
          <a:noFill/>
          <a:ln/>
        </p:spPr>
        <p:txBody>
          <a:bodyPr wrap="square" rtlCol="0" anchor="t"/>
          <a:lstStyle/>
          <a:p>
            <a:pPr indent="0" marL="0">
              <a:buNone/>
            </a:pPr>
            <a:r>
              <a:rPr lang="en-US" sz="1800" dirty="0">
                <a:solidFill>
                  <a:srgbClr val="CADCF2"/>
                </a:solidFill>
                <a:latin typeface="Calibri" pitchFamily="34" charset="0"/>
                <a:ea typeface="Calibri" pitchFamily="34" charset="-122"/>
                <a:cs typeface="Calibri" pitchFamily="34" charset="-120"/>
              </a:rPr>
              <a:t>Slides held in reserve for the viva</a:t>
            </a:r>
            <a:endParaRPr lang="en-US" sz="18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FA6C4"/>
                </a:solidFill>
                <a:latin typeface="Calibri"/>
                <a:ea typeface="Calibri"/>
                <a:cs typeface="Calibri"/>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Is the non-convexity just Adam?</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Couldn't Adam's implicit bias create the different answers?</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barrier between minima is shown with forward passes only (perturbation test), and the weak-direction result is a Jacobian probe; neither involves an optimiser. Different initialisation distributions reach different minima reproducibly across four ground truths.</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Then why did SGD and L-BFGS give different answers?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They never reached comparable fit (1.4e-4 and 2.8e-5 vs 3.5e-7), so they are not valid comparisons. We report the control as failed rather than interpret it.</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What would settle it?</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A tuned second-order method reaching ~1e-7 fit from the same initialisations. Listed as future work.</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Regional analysis details</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Destrieux and not Glasser or Schaefer?</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Destrieux ships with Nilearn on the same fsaverage5 mesh TRIBE predicts on, with standard anatomical names. Network membership comes from the language (Fedorenko) and default-mode (Buckner) literature. HCP-MMP (Glasser) is a natural robustness check.</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Are the regional differences just ROI size?</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No: every ROI is compared with a random vertex set of exactly the same size, and two networks have a second random seed to bound control variability.</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 left-lateralisation of language?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release is an average-subject model; TRIBE v2's own paper finds lateralisation in contrasts (sentences vs word lists), not in raw sensitivity. Our homologue result is consistent with bilateral responses to natural speech.</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The surprising regional result</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How can 1 487 somatomotor vertices beat the whole cortex (0.851 vs 0.836)?</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With a uniform MSE, the whole-cortex loss is dominated by high-gain, low-diversity regions such as visual cortex, which steer the search badly. Observing only diverse, low-gain vertices removes that pull. It suggests re-weighting the objective, a testable next step.</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Isn't the visual result an artefact of the synthetic video dimensions?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Visual cortex is worse than its matched control on text- and audio-derived dimensions too (−0.12 and −0.14), so it is not specific to the video third of x.</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Would it hold at convergence?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Unknown: all regional runs use one 8 000-step budget and one ground truth. Faster convergence and a better optimum cannot yet be separated; we claim relative differences within the run.</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What does 0.82 cosine mean? Is any of this real?</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Is 0.82 good or bad?</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It is the agreement between two equally good answers, so it bounds how reproducible a single decoded answer is. It is a property of the inverse, not a score to maximise.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Your results are all synthetic. Are they real findings?</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They are exact measurements of a real, published operator. Real fMRI adds subject and measurement noise on top; the noise sweep shows how much that costs. Real-data identification is the final phase.</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should a clinician care?</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Because the bottleneck is search, not encoder size: better decoders will come from restarts, ensembling over minima and language-derived priors.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Q: Why fMRI, not EEG? Why TRIBE v2?</a:t>
            </a:r>
            <a:endParaRPr lang="en-US" sz="3000" dirty="0"/>
          </a:p>
        </p:txBody>
      </p:sp>
      <p:sp>
        <p:nvSpPr>
          <p:cNvPr id="3" name="card"/>
          <p:cNvSpPr/>
          <p:nvPr/>
        </p:nvSpPr>
        <p:spPr>
          <a:xfrm>
            <a:off x="457200" y="1234440"/>
            <a:ext cx="11247120" cy="1554480"/>
          </a:xfrm>
          <a:prstGeom prst="roundRect">
            <a:avLst>
              <a:gd name="adj" fmla="val 4706"/>
            </a:avLst>
          </a:prstGeom>
          <a:solidFill>
            <a:srgbClr val="EEF3F9"/>
          </a:solidFill>
          <a:ln w="12700">
            <a:solidFill>
              <a:srgbClr val="EEF3F9"/>
            </a:solidFill>
            <a:prstDash val="solid"/>
          </a:ln>
        </p:spPr>
      </p:sp>
      <p:sp>
        <p:nvSpPr>
          <p:cNvPr id="4" name="Text 2"/>
          <p:cNvSpPr txBox="1"/>
          <p:nvPr/>
        </p:nvSpPr>
        <p:spPr>
          <a:xfrm>
            <a:off x="685800" y="132588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EEG?</a:t>
            </a:r>
            <a:endParaRPr lang="en-US" sz="1600" dirty="0"/>
          </a:p>
        </p:txBody>
      </p:sp>
      <p:sp>
        <p:nvSpPr>
          <p:cNvPr id="5" name="Text 3"/>
          <p:cNvSpPr txBox="1"/>
          <p:nvPr/>
        </p:nvSpPr>
        <p:spPr>
          <a:xfrm>
            <a:off x="685800" y="173736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Brain2Qwerty (Nat. Neurosci. 2026): 29% character error with MEG vs 65% with EEG on the same architecture.</a:t>
            </a:r>
            <a:endParaRPr lang="en-US" sz="1500" dirty="0"/>
          </a:p>
        </p:txBody>
      </p:sp>
      <p:sp>
        <p:nvSpPr>
          <p:cNvPr id="6" name="card"/>
          <p:cNvSpPr/>
          <p:nvPr/>
        </p:nvSpPr>
        <p:spPr>
          <a:xfrm>
            <a:off x="457200" y="2971800"/>
            <a:ext cx="11247120" cy="1554480"/>
          </a:xfrm>
          <a:prstGeom prst="roundRect">
            <a:avLst>
              <a:gd name="adj" fmla="val 4706"/>
            </a:avLst>
          </a:prstGeom>
          <a:solidFill>
            <a:srgbClr val="F6F8FB"/>
          </a:solidFill>
          <a:ln w="12700">
            <a:solidFill>
              <a:srgbClr val="F6F8FB"/>
            </a:solidFill>
            <a:prstDash val="solid"/>
          </a:ln>
        </p:spPr>
      </p:sp>
      <p:sp>
        <p:nvSpPr>
          <p:cNvPr id="7" name="Text 5"/>
          <p:cNvSpPr txBox="1"/>
          <p:nvPr/>
        </p:nvSpPr>
        <p:spPr>
          <a:xfrm>
            <a:off x="685800" y="306324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not simultaneous EEG–fMRI?</a:t>
            </a:r>
            <a:endParaRPr lang="en-US" sz="1600" dirty="0"/>
          </a:p>
        </p:txBody>
      </p:sp>
      <p:sp>
        <p:nvSpPr>
          <p:cNvPr id="8" name="Text 6"/>
          <p:cNvSpPr txBox="1"/>
          <p:nvPr/>
        </p:nvSpPr>
        <p:spPr>
          <a:xfrm>
            <a:off x="685800" y="347472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The best open simultaneous dataset (NKI, 22 adults) has rest, Inscapes and short movie clips, no sustained language: data-limited, not method-limited.</a:t>
            </a:r>
            <a:endParaRPr lang="en-US" sz="1500" dirty="0"/>
          </a:p>
        </p:txBody>
      </p:sp>
      <p:sp>
        <p:nvSpPr>
          <p:cNvPr id="9" name="card"/>
          <p:cNvSpPr/>
          <p:nvPr/>
        </p:nvSpPr>
        <p:spPr>
          <a:xfrm>
            <a:off x="457200" y="4709160"/>
            <a:ext cx="11247120" cy="1554480"/>
          </a:xfrm>
          <a:prstGeom prst="roundRect">
            <a:avLst>
              <a:gd name="adj" fmla="val 4706"/>
            </a:avLst>
          </a:prstGeom>
          <a:solidFill>
            <a:srgbClr val="EEF3F9"/>
          </a:solidFill>
          <a:ln w="12700">
            <a:solidFill>
              <a:srgbClr val="EEF3F9"/>
            </a:solidFill>
            <a:prstDash val="solid"/>
          </a:ln>
        </p:spPr>
      </p:sp>
      <p:sp>
        <p:nvSpPr>
          <p:cNvPr id="10" name="Text 8"/>
          <p:cNvSpPr txBox="1"/>
          <p:nvPr/>
        </p:nvSpPr>
        <p:spPr>
          <a:xfrm>
            <a:off x="685800" y="4800600"/>
            <a:ext cx="10789920" cy="411480"/>
          </a:xfrm>
          <a:prstGeom prst="rect">
            <a:avLst/>
          </a:prstGeom>
          <a:noFill/>
          <a:ln/>
        </p:spPr>
        <p:txBody>
          <a:bodyPr wrap="square" lIns="0" tIns="0" rIns="0" bIns="0" rtlCol="0" anchor="t"/>
          <a:lstStyle/>
          <a:p>
            <a:pPr indent="0" marL="0">
              <a:buNone/>
            </a:pPr>
            <a:r>
              <a:rPr lang="en-US" sz="1600" b="1" dirty="0">
                <a:solidFill>
                  <a:srgbClr val="13243B"/>
                </a:solidFill>
                <a:latin typeface="Calibri" pitchFamily="34" charset="0"/>
                <a:ea typeface="Calibri" pitchFamily="34" charset="-122"/>
                <a:cs typeface="Calibri" pitchFamily="34" charset="-120"/>
              </a:rPr>
              <a:t>Why TRIBE v2?</a:t>
            </a:r>
            <a:endParaRPr lang="en-US" sz="1600" dirty="0"/>
          </a:p>
        </p:txBody>
      </p:sp>
      <p:sp>
        <p:nvSpPr>
          <p:cNvPr id="11" name="Text 9"/>
          <p:cNvSpPr txBox="1"/>
          <p:nvPr/>
        </p:nvSpPr>
        <p:spPr>
          <a:xfrm>
            <a:off x="685800" y="5212080"/>
            <a:ext cx="10789920" cy="1005840"/>
          </a:xfrm>
          <a:prstGeom prst="rect">
            <a:avLst/>
          </a:prstGeom>
          <a:noFill/>
          <a:ln/>
        </p:spPr>
        <p:txBody>
          <a:bodyPr wrap="square" lIns="0" tIns="0" rIns="0" bIns="0" rtlCol="0" anchor="t"/>
          <a:lstStyle/>
          <a:p>
            <a:pPr indent="0" marL="0">
              <a:buNone/>
            </a:pPr>
            <a:r>
              <a:rPr lang="en-US" sz="1500" dirty="0">
                <a:solidFill>
                  <a:srgbClr val="0B0B0B"/>
                </a:solidFill>
                <a:latin typeface="Calibri" pitchFamily="34" charset="0"/>
                <a:ea typeface="Calibri" pitchFamily="34" charset="-122"/>
                <a:cs typeface="Calibri" pitchFamily="34" charset="-120"/>
              </a:rPr>
              <a:t>Largest open-weight encoder: 451.6 h training, 1 117.7 h evaluation across 720 subjects, all 20 484 cortical vertices, first at Algonauts 2025.</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3243B"/>
                </a:solidFill>
                <a:latin typeface="Cambria" pitchFamily="34" charset="0"/>
                <a:ea typeface="Cambria" pitchFamily="34" charset="-122"/>
                <a:cs typeface="Cambria" pitchFamily="34" charset="-120"/>
              </a:rPr>
              <a:t>References</a:t>
            </a:r>
            <a:endParaRPr lang="en-US" sz="3000" dirty="0"/>
          </a:p>
        </p:txBody>
      </p:sp>
      <p:sp>
        <p:nvSpPr>
          <p:cNvPr id="3" name="Text 1"/>
          <p:cNvSpPr txBox="1"/>
          <p:nvPr/>
        </p:nvSpPr>
        <p:spPr>
          <a:xfrm>
            <a:off x="457200" y="1188720"/>
            <a:ext cx="11247120" cy="5120640"/>
          </a:xfrm>
          <a:prstGeom prst="rect">
            <a:avLst/>
          </a:prstGeom>
          <a:noFill/>
          <a:ln/>
        </p:spPr>
        <p:txBody>
          <a:bodyPr wrap="square" lIns="0" tIns="0" rIns="0" bIns="0" rtlCol="0" anchor="t"/>
          <a:lstStyle/>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[1] T. Naselaris, K. N. Kay, S. Nishimoto, J. L. Gallant, “Encoding and decoding in fMRI,” NeuroImage, vol. 56, no. 2, pp. 400–410, 2011.</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[2] A. G. Huth et al., “Natural speech reveals the semantic maps that tile human cerebral cortex,” Nature, vol. 532, pp. 453–458, 2016.</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[3] R. Antonello, A. Vaidya, A. G. Huth, “Scaling laws for language encoding models in fMRI,” in Proc. NeurIPS, vol. 36, 2023.</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[4] J. Tang, A. LeBel, S. Jain, A. G. Huth, “Semantic reconstruction of continuous language from non-invasive brain recordings,” Nat. Neurosci., vol. 26, pp. 858–866, 2023.</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[5] A. LeBel et al., “A natural language fMRI dataset for voxelwise encoding models,” Sci. Data, vol. 10, art. 555, 2023.</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[6] J. Lévy et al., “Noninvasive decoding of typed sentences from human brain activity,” Nat. Neurosci., 2026.</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[7] S. d’Ascoli et al., “A foundation model of vision, audition, and language for in-silico neuroscience,” arXiv:2605.04326, 2026.</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[8] P. C. Hansen, Discrete Inverse Problems: Insight and Algorithms. Philadelphia, PA: SIAM, 2010.</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[9] C. Destrieux, B. Fischl, A. Dale, E. Halgren, “Automatic parcellation of human cortical gyri and sulci using standard anatomical nomenclature,” NeuroImage, vol. 53, no. 1, pp. 1–15, 2010.</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[10] E. Fedorenko, A. A. Ivanova, T. I. Regev, “The language network as a natural kind within the broader landscape of the human brain,” Nat. Rev. Neurosci., vol. 25, pp. 289–312, 2024.</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[11] R. L. Buckner, J. R. Andrews-Hanna, D. L. Schacter, “The brain’s default network,” Ann. N.Y. Acad. Sci., vol. 1124, pp. 1–38, 2008.</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[12] K. J. Gorgolewski et al., “The brain imaging data structure,” Sci. Data, vol. 3, art. 160044, 2016.</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[13] M. D. Wilkinson et al., “The FAIR Guiding Principles for scientific data management and stewardship,” Sci. Data, vol. 3, art. 160018, 2016.</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[14] IEEE P2731 Working Group, “A functional model for unifying brain computer interface terminology,” IEEE Open J. Eng. Med. Biol., vol. 2, 2021.</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[15] OECD, Recommendation of the Council on Responsible Innovation in Neurotechnology, OECD/LEGAL/0457, 2019.</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[16] UNESCO, Recommendation on the Ethics of Neurotechnology, adopted 12 Nov. 2025.</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[17] D. P. Kingma, J. Ba, “Adam: A method for stochastic optimization,” in Proc. ICLR, 2015.</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[18] J. L. Gardner, T. Liu, “Inverted encoding models reconstruct an arbitrary model response, not the stimulus,” eNeuro, vol. 6, no. 2, ENEURO.0363-18.2019, 2019.</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[19] Bladon, Bent, “Feature visualization recovers known cortical selectivity from TRIBE v2,” arXiv:2605.13904, 2026.</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[20] Y. Benchetrit et al., “Boosting brain-to-image decoding with TRIBE v2 data augmentation,” arXiv:2606.06345, 2026.</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[21] K. N. Kay, T. Naselaris, R. J. Prenger, J. L. Gallant, “Identifying natural images from human brain activity,” Nature, vol. 452, pp. 352–355, 2008.</a:t>
            </a:r>
            <a:endParaRPr lang="en-US" sz="1150" dirty="0"/>
          </a:p>
          <a:p>
            <a:pPr indent="0" marL="0">
              <a:spcAft>
                <a:spcPts val="200"/>
              </a:spcAft>
              <a:buNone/>
            </a:pPr>
            <a:r>
              <a:rPr lang="en-US" sz="1150" dirty="0">
                <a:solidFill>
                  <a:srgbClr val="0B0B0B"/>
                </a:solidFill>
                <a:latin typeface="Calibri" pitchFamily="34" charset="0"/>
                <a:ea typeface="Calibri" pitchFamily="34" charset="-122"/>
                <a:cs typeface="Calibri" pitchFamily="34" charset="-120"/>
              </a:rPr>
              <a:t>[22] A. Défossez, C. Caucheteux, J. Rapin, O. Kabeli, J.-R. King, “Decoding speech perception from non-invasive brain recordings,” Nat. Mach. Intell., vol. 5, pp. 1097–1107, 2023.</a:t>
            </a:r>
            <a:endParaRPr lang="en-US" sz="11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8984"/>
                </a:solidFill>
                <a:latin typeface="Calibri"/>
                <a:ea typeface="Calibri"/>
                <a:cs typeface="Calibri"/>
              </a:defRPr>
            </a:lvl1pPr>
          </a:lstStyle>
          <a:p>
            <a:pPr algn="r"/>
            <a:fld id="{F7021451-1387-4CA6-816F-3879F97B5CBC}" type="slidenum">
              <a:rPr b="0" lang="en-US"/>
              <a:t>46</a:t>
            </a:fld>
            <a:endParaRPr lang="en-US"/>
          </a:p>
        </p:txBody>
      </p:sp>
    </p:spTree>
  </p:cSld>
  <p:clrMapOvr>
    <a:masterClrMapping/>
  </p:clrMapOvr>
</p:sld>
</file>

<file path=ppt/theme/theme1.xml><?xml version="1.0" encoding="utf-8"?>
<a:theme xmlns:a="http://schemas.openxmlformats.org/drawingml/2006/main" name="Semantic Decoding">
  <a:themeElements>
    <a:clrScheme name="Semantic Decoding">
      <a:dk1>
        <a:srgbClr val="0B0B0B"/>
      </a:dk1>
      <a:lt1>
        <a:srgbClr val="FFFFFF"/>
      </a:lt1>
      <a:dk2>
        <a:srgbClr val="13243B"/>
      </a:dk2>
      <a:lt2>
        <a:srgbClr val="EEF3F9"/>
      </a:lt2>
      <a:accent1>
        <a:srgbClr val="2A78D6"/>
      </a:accent1>
      <a:accent2>
        <a:srgbClr val="EB6834"/>
      </a:accent2>
      <a:accent3>
        <a:srgbClr val="1BAF7A"/>
      </a:accent3>
      <a:accent4>
        <a:srgbClr val="4A3AA7"/>
      </a:accent4>
      <a:accent5>
        <a:srgbClr val="EDA100"/>
      </a:accent5>
      <a:accent6>
        <a:srgbClr val="52514E"/>
      </a:accent6>
      <a:hlink>
        <a:srgbClr val="2A78D6"/>
      </a:hlink>
      <a:folHlink>
        <a:srgbClr val="4A3AA7"/>
      </a:folHlink>
    </a:clrScheme>
    <a:fontScheme name="Semantic Decod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Review III: Conditioning and Non-Convexity of Semantic Decoding</dc:title>
  <dc:subject>PptxGenJS Presentation</dc:subject>
  <dc:creator>Abhranil Sarkar, Tanisha Choudhuri</dc:creator>
  <cp:lastModifiedBy>Abhranil Sarkar, Tanisha Choudhuri</cp:lastModifiedBy>
  <cp:revision>1</cp:revision>
  <dcterms:created xsi:type="dcterms:W3CDTF">2026-10-13T14:10:34Z</dcterms:created>
  <dcterms:modified xsi:type="dcterms:W3CDTF">2026-10-13T14:10:34Z</dcterms:modified>
</cp:coreProperties>
</file>