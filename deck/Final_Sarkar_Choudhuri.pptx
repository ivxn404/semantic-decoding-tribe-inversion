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64a497-133f-5b15-f8b3-de8c87665922}">
          <p14:sldIdLst>
            <p14:sldId id="256"/>
            <p14:sldId id="257"/>
            <p14:sldId id="258"/>
            <p14:sldId id="259"/>
            <p14:sldId id="260"/>
            <p14:sldId id="261"/>
            <p14:sldId id="262"/>
            <p14:sldId id="263"/>
            <p14:sldId id="264"/>
            <p14:sldId id="265"/>
          </p14:sldIdLst>
        </p14:section>
        <p14:section name="Method and validation" id="{491aa0d1-1365-93d1-b918-72775667e632}">
          <p14:sldIdLst>
            <p14:sldId id="266"/>
            <p14:sldId id="267"/>
            <p14:sldId id="268"/>
            <p14:sldId id="269"/>
            <p14:sldId id="270"/>
            <p14:sldId id="271"/>
            <p14:sldId id="272"/>
            <p14:sldId id="273"/>
            <p14:sldId id="274"/>
            <p14:sldId id="275"/>
          </p14:sldIdLst>
        </p14:section>
        <p14:section name="Results" id="{6a4469fc-3abe-34ff-4cab-05017d0b990b}">
          <p14:sldIdLst>
            <p14:sldId id="276"/>
            <p14:sldId id="277"/>
            <p14:sldId id="278"/>
            <p14:sldId id="279"/>
            <p14:sldId id="280"/>
            <p14:sldId id="281"/>
            <p14:sldId id="282"/>
            <p14:sldId id="283"/>
            <p14:sldId id="284"/>
            <p14:sldId id="285"/>
          </p14:sldIdLst>
        </p14:section>
        <p14:section name="Regional analysis" id="{7537e5a7-f788-957d-23f0-78ee03139f0a}">
          <p14:sldIdLst>
            <p14:sldId id="286"/>
            <p14:sldId id="287"/>
            <p14:sldId id="288"/>
            <p14:sldId id="289"/>
            <p14:sldId id="290"/>
            <p14:sldId id="291"/>
            <p14:sldId id="292"/>
            <p14:sldId id="293"/>
            <p14:sldId id="294"/>
          </p14:sldIdLst>
        </p14:section>
        <p14:section name="Real fMRI" id="{30ae9dd5-476d-8fd0-3c21-5a5b70be519a}">
          <p14:sldIdLst>
            <p14:sldId id="295"/>
            <p14:sldId id="296"/>
            <p14:sldId id="297"/>
            <p14:sldId id="298"/>
            <p14:sldId id="299"/>
            <p14:sldId id="300"/>
          </p14:sldIdLst>
        </p14:section>
        <p14:section name="Standards and SDGs" id="{18bf5187-f90c-8333-0297-832b4ae0e4db}">
          <p14:sldIdLst>
            <p14:sldId id="301"/>
            <p14:sldId id="302"/>
            <p14:sldId id="303"/>
            <p14:sldId id="304"/>
          </p14:sldIdLst>
        </p14:section>
        <p14:section name="Outcomes" id="{04ffee7d-0a2f-c82c-0fea-6d9e7d12f0ad}">
          <p14:sldIdLst>
            <p14:sldId id="305"/>
            <p14:sldId id="306"/>
            <p14:sldId id="307"/>
            <p14:sldId id="308"/>
            <p14:sldId id="309"/>
            <p14:sldId id="310"/>
            <p14:sldId id="311"/>
            <p14:sldId id="312"/>
            <p14:sldId id="313"/>
            <p14:sldId id="314"/>
            <p14:sldId id="315"/>
            <p14:sldId id="316"/>
          </p14:sldIdLst>
        </p14:section>
        <p14:section name="Backup: anticipated questions" id="{7c402094-4098-bfb7-7e43-e7cb2c94c4f8}">
          <p14:sldIdLst>
            <p14:sldId id="317"/>
            <p14:sldId id="318"/>
            <p14:sldId id="319"/>
            <p14:sldId id="320"/>
            <p14:sldId id="321"/>
            <p14:sldId id="322"/>
            <p14:sldId id="323"/>
          </p14:sldIdLst>
        </p14:section>
        <p14:section name="References" id="{bf7ae2d5-26ac-4c0b-10e8-f2c1042e8794}">
          <p14:sldIdLst>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project in one deck: problem, data, method, every result on synthetic and real fMRI, the verification re-run of 19 October, deliverables, mappings and future work. Backup slides at the end answer the questions we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Backup slides with anticipated questions and the full reference list follow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 privacy is the other side of the same question: the limits of what can be decoded matter as much as the successes.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planned in Report I is done: 580 person-hours across seven stages. The four headline numbers each come from a different part of the project: synthetic dissociation, the corrected barrier test, the regional analysis and real fMRI.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objectives complete. O6, the real-data validation, came last on purpose: synthetic ground truth is the instrument,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encoders went from linear maps on hand-built features to deep foundation models; decoding was always evaluated by proxies (rank, retrieval, word error) because the true representation behind real fMRI is unknown. Inverse analysis existed only for linear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the core loop. Middle: the neurobiology track (anatomical masks, sensitivity maps) and the hypothesis tests. Bottom: controls, evaluation and the results store from which every figure is regenerated.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public inference path runs speech synthesis, transcription and frozen extractors under inference mode, so it is not differentiable end to end. The input batch is consumed at one point only, the aggregation of extractor features into x; everything after is tensor arithmetic. We re-enter there: f(x) = pool(predictor(head(encoder(x)))).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 is a finite-difference probe of the Jacobian along a unit direction v, used for the sensitivity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Table 1 of d'Ascoli et al. 2026 (arXiv 2605.04326) and the study definitions shipped with the TRIBE v2 code (subject IDs and TRs: Algonauts2025 sub-01/02/03/05, BOLD Moments 10 subjects, LeBel UTS01-08, Wen subject1-3). All participants were healthy adults scanned at 3T (HCP at 7T) while passively watching or listening; no task, no button presses. Consent and ethics are those of the original studies; all four training sets are public. Modalities: CNeuroMod has video, audio and text; BOLD Moments video and audio; LeBel audio and text; Wen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in one breath: EEG would add a second ill-posed inverse problem (source localisation) on top of the one we study, and no EEG foundation encoder exists to invert. We considered simultaneous EEG-fMRI (Report I, Solution 3): the open NKI simultaneous dataset has rest, Inscapes and short movie clips but no sustained language. Brain2Qwerty numbers are from the arXiv preprint (Lévy et al. 2025). Be honest about the two rows in red: fMRI is slow and expensive, which is why a clinical device would eventually need EEG or MEG; our contribution is to measure the limits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engineering decisions a reviewer will ask about; each constraint maps to one concrete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hardware was built: the project is computational. Total compute spend was zero rupees.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14 000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notebook, four ground truths, 14 000 steps, eight starts inverted together. Ground truth 0 per pair: Blind fit-matched starts: Gaussian 0.01, 0.1, 1.0, uniform, zeros (3.57-3.90e-7). Error measured against the target at 21 points on each straight line. The rise grows as the pair becomes less similar (cosine 0.999 gives 1.5x, 0.890 gives 4.6x). If asked about the old test: once both endpoints fit the target, moving along d barely changes the prediction compared with a random direction (2.6x, 6.0x, 13x, 258x), so that comparison cannot detect a barrier; the path profile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results/verification/testA.json (Colab T4, 19 Oct 2026). The near-truth starts are controls only: they tell us a deeper minimum exists, which a blind decoder cannot reach by local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inverse degrades gracefully with noise: direction is kept, magnitude is lost (relative error 0.55 to 2.06). About 10% of cortex carries most of the recoverable signal. Generic priors do not help; priors matched to the operator's weak directions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2 000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tuning choice (lag, the 2 000 analysis vertices) was fitted on the five training stories only. The audio-only CPU run gave the same pattern (5/5 identified, cosine 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4-s alignment offset, the 2 000 vertices) was fitted on the five training stories; wheretheressmoke is held out and is not in TRIBE v2's training set. Text + audio features (LLaMA-3.2-3B and w2v-BERT, TRIBE v2's own pipeline) on a Colab T4, 2 000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2 000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(2 000 Adam steps, correlation loss on the 2 000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starts (Gaussian 0.01, Gaussian 1.0, uniform) inverted together through frozen TRIBE v2 on CPU, every value logged; cortical maps every 120 steps feed the 'Real run' scene of the live demo. The fit becomes near-perfect across cortex while recovery and agreement stay low, the dissociation and non-convexity seen live on the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except the VIT templates and the gated model weights, which are downloaded from their original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Run-sheet: demo/DEMO_SCRIPT.md. Before the panel arrives: open the offline demo page and run Steps 1-3 of the Colab notebook so the weights are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seven stages complete. Manpower: 580 planned person-hours (330 Abhranil, 250 Tanisha).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or re-verified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2 000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we found and fixed our own error before submission, and the corrected test is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Final Review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4.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slideLayout" Target="../slideLayouts/slideLayout4.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Final Review, Poster and Demonstration  ·  29 October 2026</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640080" y="1280160"/>
            <a:ext cx="530352" cy="530352"/>
          </a:xfrm>
          <a:prstGeom prst="ellipse">
            <a:avLst/>
          </a:prstGeom>
          <a:solidFill>
            <a:srgbClr val="13243B"/>
          </a:solidFill>
          <a:ln w="12700">
            <a:solidFill>
              <a:srgbClr val="13243B"/>
            </a:solidFill>
            <a:prstDash val="solid"/>
          </a:ln>
        </p:spPr>
      </p:sp>
      <p:sp>
        <p:nvSpPr>
          <p:cNvPr id="4" name="Text 2"/>
          <p:cNvSpPr txBox="1"/>
          <p:nvPr/>
        </p:nvSpPr>
        <p:spPr>
          <a:xfrm>
            <a:off x="640080" y="128016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17320" y="123444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Problem, motivation and objectives</a:t>
            </a:r>
            <a:endParaRPr lang="en-US" sz="1700" dirty="0"/>
          </a:p>
        </p:txBody>
      </p:sp>
      <p:sp>
        <p:nvSpPr>
          <p:cNvPr id="6" name="Text 4"/>
          <p:cNvSpPr txBox="1"/>
          <p:nvPr/>
        </p:nvSpPr>
        <p:spPr>
          <a:xfrm>
            <a:off x="5486400" y="123444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why decoding by inversion, the gap, six objectives, literature, novelty</a:t>
            </a:r>
            <a:endParaRPr lang="en-US" sz="1350" dirty="0"/>
          </a:p>
        </p:txBody>
      </p:sp>
      <p:sp>
        <p:nvSpPr>
          <p:cNvPr id="7" name="Shape 5"/>
          <p:cNvSpPr/>
          <p:nvPr/>
        </p:nvSpPr>
        <p:spPr>
          <a:xfrm>
            <a:off x="640080" y="2002536"/>
            <a:ext cx="530352" cy="530352"/>
          </a:xfrm>
          <a:prstGeom prst="ellipse">
            <a:avLst/>
          </a:prstGeom>
          <a:solidFill>
            <a:srgbClr val="2A78D6"/>
          </a:solidFill>
          <a:ln w="12700">
            <a:solidFill>
              <a:srgbClr val="2A78D6"/>
            </a:solidFill>
            <a:prstDash val="solid"/>
          </a:ln>
        </p:spPr>
      </p:sp>
      <p:sp>
        <p:nvSpPr>
          <p:cNvPr id="8" name="Text 6"/>
          <p:cNvSpPr txBox="1"/>
          <p:nvPr/>
        </p:nvSpPr>
        <p:spPr>
          <a:xfrm>
            <a:off x="640080" y="200253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17320" y="195681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Method and validation</a:t>
            </a:r>
            <a:endParaRPr lang="en-US" sz="1700" dirty="0"/>
          </a:p>
        </p:txBody>
      </p:sp>
      <p:sp>
        <p:nvSpPr>
          <p:cNvPr id="10" name="Text 8"/>
          <p:cNvSpPr txBox="1"/>
          <p:nvPr/>
        </p:nvSpPr>
        <p:spPr>
          <a:xfrm>
            <a:off x="5486400" y="195681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TRIBE v2 and its data, why fMRI, the re-entry point, inversion, synthetic protocol, hypotheses, constraints, tools</a:t>
            </a:r>
            <a:endParaRPr lang="en-US" sz="1350" dirty="0"/>
          </a:p>
        </p:txBody>
      </p:sp>
      <p:sp>
        <p:nvSpPr>
          <p:cNvPr id="11" name="Shape 9"/>
          <p:cNvSpPr/>
          <p:nvPr/>
        </p:nvSpPr>
        <p:spPr>
          <a:xfrm>
            <a:off x="640080" y="2724912"/>
            <a:ext cx="530352" cy="530352"/>
          </a:xfrm>
          <a:prstGeom prst="ellipse">
            <a:avLst/>
          </a:prstGeom>
          <a:solidFill>
            <a:srgbClr val="13243B"/>
          </a:solidFill>
          <a:ln w="12700">
            <a:solidFill>
              <a:srgbClr val="13243B"/>
            </a:solidFill>
            <a:prstDash val="solid"/>
          </a:ln>
        </p:spPr>
      </p:sp>
      <p:sp>
        <p:nvSpPr>
          <p:cNvPr id="12" name="Text 10"/>
          <p:cNvSpPr txBox="1"/>
          <p:nvPr/>
        </p:nvSpPr>
        <p:spPr>
          <a:xfrm>
            <a:off x="640080" y="2724912"/>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17320" y="2679192"/>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Results on exact ground truth</a:t>
            </a:r>
            <a:endParaRPr lang="en-US" sz="1700" dirty="0"/>
          </a:p>
        </p:txBody>
      </p:sp>
      <p:sp>
        <p:nvSpPr>
          <p:cNvPr id="14" name="Text 12"/>
          <p:cNvSpPr txBox="1"/>
          <p:nvPr/>
        </p:nvSpPr>
        <p:spPr>
          <a:xfrm>
            <a:off x="5486400" y="2679192"/>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dissociation, non-convexity, verified barriers, weak directions, gain, robustness, linear baseline</a:t>
            </a:r>
            <a:endParaRPr lang="en-US" sz="1350" dirty="0"/>
          </a:p>
        </p:txBody>
      </p:sp>
      <p:sp>
        <p:nvSpPr>
          <p:cNvPr id="15" name="Shape 13"/>
          <p:cNvSpPr/>
          <p:nvPr/>
        </p:nvSpPr>
        <p:spPr>
          <a:xfrm>
            <a:off x="640080" y="3447288"/>
            <a:ext cx="530352" cy="530352"/>
          </a:xfrm>
          <a:prstGeom prst="ellipse">
            <a:avLst/>
          </a:prstGeom>
          <a:solidFill>
            <a:srgbClr val="2A78D6"/>
          </a:solidFill>
          <a:ln w="12700">
            <a:solidFill>
              <a:srgbClr val="2A78D6"/>
            </a:solidFill>
            <a:prstDash val="solid"/>
          </a:ln>
        </p:spPr>
      </p:sp>
      <p:sp>
        <p:nvSpPr>
          <p:cNvPr id="16" name="Text 14"/>
          <p:cNvSpPr txBox="1"/>
          <p:nvPr/>
        </p:nvSpPr>
        <p:spPr>
          <a:xfrm>
            <a:off x="640080" y="3447288"/>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17320" y="3401568"/>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Regional analysis</a:t>
            </a:r>
            <a:endParaRPr lang="en-US" sz="1700" dirty="0"/>
          </a:p>
        </p:txBody>
      </p:sp>
      <p:sp>
        <p:nvSpPr>
          <p:cNvPr id="18" name="Text 16"/>
          <p:cNvSpPr txBox="1"/>
          <p:nvPr/>
        </p:nvSpPr>
        <p:spPr>
          <a:xfrm>
            <a:off x="5486400" y="3401568"/>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six anatomical networks, topography, predictable vs recoverable, response diversity</a:t>
            </a:r>
            <a:endParaRPr lang="en-US" sz="1350" dirty="0"/>
          </a:p>
        </p:txBody>
      </p:sp>
      <p:sp>
        <p:nvSpPr>
          <p:cNvPr id="19" name="Shape 17"/>
          <p:cNvSpPr/>
          <p:nvPr/>
        </p:nvSpPr>
        <p:spPr>
          <a:xfrm>
            <a:off x="640080" y="4169664"/>
            <a:ext cx="530352" cy="530352"/>
          </a:xfrm>
          <a:prstGeom prst="ellipse">
            <a:avLst/>
          </a:prstGeom>
          <a:solidFill>
            <a:srgbClr val="13243B"/>
          </a:solidFill>
          <a:ln w="12700">
            <a:solidFill>
              <a:srgbClr val="13243B"/>
            </a:solidFill>
            <a:prstDash val="solid"/>
          </a:ln>
        </p:spPr>
      </p:sp>
      <p:sp>
        <p:nvSpPr>
          <p:cNvPr id="20" name="Text 18"/>
          <p:cNvSpPr txBox="1"/>
          <p:nvPr/>
        </p:nvSpPr>
        <p:spPr>
          <a:xfrm>
            <a:off x="640080" y="4169664"/>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17320" y="4123944"/>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fMRI</a:t>
            </a:r>
            <a:endParaRPr lang="en-US" sz="1700" dirty="0"/>
          </a:p>
        </p:txBody>
      </p:sp>
      <p:sp>
        <p:nvSpPr>
          <p:cNvPr id="22" name="Text 20"/>
          <p:cNvSpPr txBox="1"/>
          <p:nvPr/>
        </p:nvSpPr>
        <p:spPr>
          <a:xfrm>
            <a:off x="5486400" y="4123944"/>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LeBel 2023 pipeline, encoding, identification vs reconstruction, multi-start run on the real model</a:t>
            </a:r>
            <a:endParaRPr lang="en-US" sz="1350" dirty="0"/>
          </a:p>
        </p:txBody>
      </p:sp>
      <p:sp>
        <p:nvSpPr>
          <p:cNvPr id="23" name="Shape 21"/>
          <p:cNvSpPr/>
          <p:nvPr/>
        </p:nvSpPr>
        <p:spPr>
          <a:xfrm>
            <a:off x="640080" y="4892040"/>
            <a:ext cx="530352" cy="530352"/>
          </a:xfrm>
          <a:prstGeom prst="ellipse">
            <a:avLst/>
          </a:prstGeom>
          <a:solidFill>
            <a:srgbClr val="2A78D6"/>
          </a:solidFill>
          <a:ln w="12700">
            <a:solidFill>
              <a:srgbClr val="2A78D6"/>
            </a:solidFill>
            <a:prstDash val="solid"/>
          </a:ln>
        </p:spPr>
      </p:sp>
      <p:sp>
        <p:nvSpPr>
          <p:cNvPr id="24" name="Text 22"/>
          <p:cNvSpPr txBox="1"/>
          <p:nvPr/>
        </p:nvSpPr>
        <p:spPr>
          <a:xfrm>
            <a:off x="640080" y="4892040"/>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25" name="Text 23"/>
          <p:cNvSpPr txBox="1"/>
          <p:nvPr/>
        </p:nvSpPr>
        <p:spPr>
          <a:xfrm>
            <a:off x="1417320" y="4846320"/>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Standards, ethics and SDGs</a:t>
            </a:r>
            <a:endParaRPr lang="en-US" sz="1700" dirty="0"/>
          </a:p>
        </p:txBody>
      </p:sp>
      <p:sp>
        <p:nvSpPr>
          <p:cNvPr id="26" name="Text 24"/>
          <p:cNvSpPr txBox="1"/>
          <p:nvPr/>
        </p:nvSpPr>
        <p:spPr>
          <a:xfrm>
            <a:off x="5486400" y="4846320"/>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BIDS, IEEE P2731 / P2794, FAIR, licences, neuro-ethics, SDG 3.4 / 9.5 / 10.2</a:t>
            </a:r>
            <a:endParaRPr lang="en-US" sz="1350" dirty="0"/>
          </a:p>
        </p:txBody>
      </p:sp>
      <p:sp>
        <p:nvSpPr>
          <p:cNvPr id="27" name="Shape 25"/>
          <p:cNvSpPr/>
          <p:nvPr/>
        </p:nvSpPr>
        <p:spPr>
          <a:xfrm>
            <a:off x="640080" y="5614416"/>
            <a:ext cx="530352" cy="530352"/>
          </a:xfrm>
          <a:prstGeom prst="ellipse">
            <a:avLst/>
          </a:prstGeom>
          <a:solidFill>
            <a:srgbClr val="13243B"/>
          </a:solidFill>
          <a:ln w="12700">
            <a:solidFill>
              <a:srgbClr val="13243B"/>
            </a:solidFill>
            <a:prstDash val="solid"/>
          </a:ln>
        </p:spPr>
      </p:sp>
      <p:sp>
        <p:nvSpPr>
          <p:cNvPr id="28" name="Text 26"/>
          <p:cNvSpPr txBox="1"/>
          <p:nvPr/>
        </p:nvSpPr>
        <p:spPr>
          <a:xfrm>
            <a:off x="640080" y="5614416"/>
            <a:ext cx="530352"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29" name="Text 27"/>
          <p:cNvSpPr txBox="1"/>
          <p:nvPr/>
        </p:nvSpPr>
        <p:spPr>
          <a:xfrm>
            <a:off x="1417320" y="5568696"/>
            <a:ext cx="4023360" cy="621792"/>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Outcomes</a:t>
            </a:r>
            <a:endParaRPr lang="en-US" sz="1700" dirty="0"/>
          </a:p>
        </p:txBody>
      </p:sp>
      <p:sp>
        <p:nvSpPr>
          <p:cNvPr id="30" name="Text 28"/>
          <p:cNvSpPr txBox="1"/>
          <p:nvPr/>
        </p:nvSpPr>
        <p:spPr>
          <a:xfrm>
            <a:off x="5486400" y="5568696"/>
            <a:ext cx="6217920" cy="621792"/>
          </a:xfrm>
          <a:prstGeom prst="rect">
            <a:avLst/>
          </a:prstGeom>
          <a:noFill/>
          <a:ln/>
        </p:spPr>
        <p:txBody>
          <a:bodyPr wrap="square" lIns="0" tIns="0" rIns="0" bIns="0" rtlCol="0" anchor="ctr"/>
          <a:lstStyle/>
          <a:p>
            <a:pPr indent="0" marL="0">
              <a:buNone/>
            </a:pPr>
            <a:r>
              <a:rPr lang="en-US" sz="1350" dirty="0">
                <a:solidFill>
                  <a:srgbClr val="52514E"/>
                </a:solidFill>
                <a:latin typeface="Calibri" pitchFamily="34" charset="0"/>
                <a:ea typeface="Calibri" pitchFamily="34" charset="-122"/>
                <a:cs typeface="Calibri" pitchFamily="34" charset="-120"/>
              </a:rPr>
              <a:t>deliverables, live demo, schedule, cost, contributions, PO / PSO / WP mapping, impact, limitations, future work</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Motivation: reading meaning back out of the brain</a:t>
            </a:r>
            <a:endParaRPr lang="en-US" sz="3000" dirty="0"/>
          </a:p>
        </p:txBody>
      </p:sp>
      <p:sp>
        <p:nvSpPr>
          <p:cNvPr id="3" name="card"/>
          <p:cNvSpPr/>
          <p:nvPr/>
        </p:nvSpPr>
        <p:spPr>
          <a:xfrm>
            <a:off x="457200" y="1234440"/>
            <a:ext cx="3657600" cy="3931920"/>
          </a:xfrm>
          <a:prstGeom prst="roundRect">
            <a:avLst>
              <a:gd name="adj" fmla="val 2000"/>
            </a:avLst>
          </a:prstGeom>
          <a:solidFill>
            <a:srgbClr val="EEF3F9"/>
          </a:solidFill>
          <a:ln w="12700">
            <a:solidFill>
              <a:srgbClr val="EEF3F9"/>
            </a:solidFill>
            <a:prstDash val="solid"/>
          </a:ln>
        </p:spPr>
      </p:sp>
      <p:sp>
        <p:nvSpPr>
          <p:cNvPr id="4" name="Shape 2"/>
          <p:cNvSpPr/>
          <p:nvPr/>
        </p:nvSpPr>
        <p:spPr>
          <a:xfrm>
            <a:off x="731520" y="1463040"/>
            <a:ext cx="731520" cy="731520"/>
          </a:xfrm>
          <a:prstGeom prst="ellipse">
            <a:avLst/>
          </a:prstGeom>
          <a:solidFill>
            <a:srgbClr val="EB6834"/>
          </a:solidFill>
          <a:ln w="12700">
            <a:solidFill>
              <a:srgbClr val="EB6834"/>
            </a:solidFill>
            <a:prstDash val="solid"/>
          </a:ln>
        </p:spPr>
      </p:sp>
      <p:pic>
        <p:nvPicPr>
          <p:cNvPr id="5" name="Image 0" descr="preencoded.png">    </p:cNvPr>
          <p:cNvPicPr>
            <a:picLocks noChangeAspect="1"/>
          </p:cNvPicPr>
          <p:nvPr/>
        </p:nvPicPr>
        <p:blipFill>
          <a:blip r:embed="rId1"/>
          <a:stretch>
            <a:fillRect/>
          </a:stretch>
        </p:blipFill>
        <p:spPr>
          <a:xfrm>
            <a:off x="907085" y="1638605"/>
            <a:ext cx="380390" cy="380390"/>
          </a:xfrm>
          <a:prstGeom prst="rect">
            <a:avLst/>
          </a:prstGeom>
        </p:spPr>
      </p:pic>
      <p:sp>
        <p:nvSpPr>
          <p:cNvPr id="6" name="Text 3"/>
          <p:cNvSpPr txBox="1"/>
          <p:nvPr/>
        </p:nvSpPr>
        <p:spPr>
          <a:xfrm>
            <a:off x="73152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Clinical need</a:t>
            </a:r>
            <a:endParaRPr lang="en-US" sz="1800" dirty="0"/>
          </a:p>
        </p:txBody>
      </p:sp>
      <p:sp>
        <p:nvSpPr>
          <p:cNvPr id="7" name="Text 4"/>
          <p:cNvSpPr txBox="1"/>
          <p:nvPr/>
        </p:nvSpPr>
        <p:spPr>
          <a:xfrm>
            <a:off x="73152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ALS, brainstem stroke, locked-in syndrome and severe aphasia can leave comprehension intact while removing speech and writing. A non-invasive decoder would restore a channel without neurosurgery.</a:t>
            </a:r>
            <a:endParaRPr lang="en-US" sz="1400" dirty="0"/>
          </a:p>
        </p:txBody>
      </p:sp>
      <p:sp>
        <p:nvSpPr>
          <p:cNvPr id="8" name="card"/>
          <p:cNvSpPr/>
          <p:nvPr/>
        </p:nvSpPr>
        <p:spPr>
          <a:xfrm>
            <a:off x="4251960" y="1234440"/>
            <a:ext cx="3657600" cy="3931920"/>
          </a:xfrm>
          <a:prstGeom prst="roundRect">
            <a:avLst>
              <a:gd name="adj" fmla="val 2000"/>
            </a:avLst>
          </a:prstGeom>
          <a:solidFill>
            <a:srgbClr val="EEF3F9"/>
          </a:solidFill>
          <a:ln w="12700">
            <a:solidFill>
              <a:srgbClr val="EEF3F9"/>
            </a:solidFill>
            <a:prstDash val="solid"/>
          </a:ln>
        </p:spPr>
      </p:sp>
      <p:sp>
        <p:nvSpPr>
          <p:cNvPr id="9" name="Shape 6"/>
          <p:cNvSpPr/>
          <p:nvPr/>
        </p:nvSpPr>
        <p:spPr>
          <a:xfrm>
            <a:off x="4526280" y="146304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4701845" y="1638605"/>
            <a:ext cx="380390" cy="380390"/>
          </a:xfrm>
          <a:prstGeom prst="rect">
            <a:avLst/>
          </a:prstGeom>
        </p:spPr>
      </p:pic>
      <p:sp>
        <p:nvSpPr>
          <p:cNvPr id="11" name="Text 7"/>
          <p:cNvSpPr txBox="1"/>
          <p:nvPr/>
        </p:nvSpPr>
        <p:spPr>
          <a:xfrm>
            <a:off x="452628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Encoders are now very good</a:t>
            </a:r>
            <a:endParaRPr lang="en-US" sz="1800" dirty="0"/>
          </a:p>
        </p:txBody>
      </p:sp>
      <p:sp>
        <p:nvSpPr>
          <p:cNvPr id="12" name="Text 8"/>
          <p:cNvSpPr txBox="1"/>
          <p:nvPr/>
        </p:nvSpPr>
        <p:spPr>
          <a:xfrm>
            <a:off x="452628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Deep encoding models predict whole-cortex fMRI from video, audio and language, and accuracy keeps rising with model size and data [3, 7]. Decoding is usually assumed to follow.</a:t>
            </a:r>
            <a:endParaRPr lang="en-US" sz="1400" dirty="0"/>
          </a:p>
        </p:txBody>
      </p:sp>
      <p:sp>
        <p:nvSpPr>
          <p:cNvPr id="13" name="card"/>
          <p:cNvSpPr/>
          <p:nvPr/>
        </p:nvSpPr>
        <p:spPr>
          <a:xfrm>
            <a:off x="8046720" y="1234440"/>
            <a:ext cx="3657600" cy="3931920"/>
          </a:xfrm>
          <a:prstGeom prst="roundRect">
            <a:avLst>
              <a:gd name="adj" fmla="val 2000"/>
            </a:avLst>
          </a:prstGeom>
          <a:solidFill>
            <a:srgbClr val="EEF3F9"/>
          </a:solidFill>
          <a:ln w="12700">
            <a:solidFill>
              <a:srgbClr val="EEF3F9"/>
            </a:solidFill>
            <a:prstDash val="solid"/>
          </a:ln>
        </p:spPr>
      </p:sp>
      <p:sp>
        <p:nvSpPr>
          <p:cNvPr id="14" name="Shape 10"/>
          <p:cNvSpPr/>
          <p:nvPr/>
        </p:nvSpPr>
        <p:spPr>
          <a:xfrm>
            <a:off x="8321040" y="1463040"/>
            <a:ext cx="731520" cy="731520"/>
          </a:xfrm>
          <a:prstGeom prst="ellipse">
            <a:avLst/>
          </a:prstGeom>
          <a:solidFill>
            <a:srgbClr val="4A3AA7"/>
          </a:solidFill>
          <a:ln w="12700">
            <a:solidFill>
              <a:srgbClr val="4A3AA7"/>
            </a:solidFill>
            <a:prstDash val="solid"/>
          </a:ln>
        </p:spPr>
      </p:sp>
      <p:pic>
        <p:nvPicPr>
          <p:cNvPr id="15" name="Image 2" descr="preencoded.png">    </p:cNvPr>
          <p:cNvPicPr>
            <a:picLocks noChangeAspect="1"/>
          </p:cNvPicPr>
          <p:nvPr/>
        </p:nvPicPr>
        <p:blipFill>
          <a:blip r:embed="rId3"/>
          <a:stretch>
            <a:fillRect/>
          </a:stretch>
        </p:blipFill>
        <p:spPr>
          <a:xfrm>
            <a:off x="8496605" y="1638605"/>
            <a:ext cx="380390" cy="380390"/>
          </a:xfrm>
          <a:prstGeom prst="rect">
            <a:avLst/>
          </a:prstGeom>
        </p:spPr>
      </p:pic>
      <p:sp>
        <p:nvSpPr>
          <p:cNvPr id="16" name="Text 11"/>
          <p:cNvSpPr txBox="1"/>
          <p:nvPr/>
        </p:nvSpPr>
        <p:spPr>
          <a:xfrm>
            <a:off x="8321040" y="2331720"/>
            <a:ext cx="3108960" cy="548640"/>
          </a:xfrm>
          <a:prstGeom prst="rect">
            <a:avLst/>
          </a:prstGeom>
          <a:noFill/>
          <a:ln/>
        </p:spPr>
        <p:txBody>
          <a:bodyPr wrap="square" lIns="0" tIns="0" rIns="0" bIns="0" rtlCol="0" anchor="t"/>
          <a:lstStyle/>
          <a:p>
            <a:pPr indent="0" marL="0">
              <a:buNone/>
            </a:pPr>
            <a:r>
              <a:rPr lang="en-US" sz="1800" b="1" dirty="0">
                <a:solidFill>
                  <a:srgbClr val="13243B"/>
                </a:solidFill>
                <a:latin typeface="Cambria" pitchFamily="34" charset="0"/>
                <a:ea typeface="Cambria" pitchFamily="34" charset="-122"/>
                <a:cs typeface="Cambria" pitchFamily="34" charset="-120"/>
              </a:rPr>
              <a:t>The untested step</a:t>
            </a:r>
            <a:endParaRPr lang="en-US" sz="1800" dirty="0"/>
          </a:p>
        </p:txBody>
      </p:sp>
      <p:sp>
        <p:nvSpPr>
          <p:cNvPr id="17" name="Text 12"/>
          <p:cNvSpPr txBox="1"/>
          <p:nvPr/>
        </p:nvSpPr>
        <p:spPr>
          <a:xfrm>
            <a:off x="8321040" y="2880360"/>
            <a:ext cx="3108960" cy="219456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A forward model can be highly predictive and still have an inverse that is non-unique or unstable (Hadamard; Hansen [8]). Nobody had measured this for a deep foundation encoder.</a:t>
            </a:r>
            <a:endParaRPr lang="en-US" sz="1400" dirty="0"/>
          </a:p>
        </p:txBody>
      </p:sp>
      <p:sp>
        <p:nvSpPr>
          <p:cNvPr id="18" name="card"/>
          <p:cNvSpPr/>
          <p:nvPr/>
        </p:nvSpPr>
        <p:spPr>
          <a:xfrm>
            <a:off x="457200" y="5349240"/>
            <a:ext cx="11247120" cy="914400"/>
          </a:xfrm>
          <a:prstGeom prst="roundRect">
            <a:avLst>
              <a:gd name="adj" fmla="val 8000"/>
            </a:avLst>
          </a:prstGeom>
          <a:solidFill>
            <a:srgbClr val="13243B"/>
          </a:solidFill>
          <a:ln w="12700">
            <a:solidFill>
              <a:srgbClr val="13243B"/>
            </a:solidFill>
            <a:prstDash val="solid"/>
          </a:ln>
        </p:spPr>
      </p:sp>
      <p:sp>
        <p:nvSpPr>
          <p:cNvPr id="19" name="Text 14"/>
          <p:cNvSpPr txBox="1"/>
          <p:nvPr/>
        </p:nvSpPr>
        <p:spPr>
          <a:xfrm>
            <a:off x="685800" y="5394960"/>
            <a:ext cx="10789920" cy="822960"/>
          </a:xfrm>
          <a:prstGeom prst="rect">
            <a:avLst/>
          </a:prstGeom>
          <a:noFill/>
          <a:ln/>
        </p:spPr>
        <p:txBody>
          <a:bodyPr wrap="square" lIns="0" tIns="0" rIns="0" bIns="0" rtlCol="0" anchor="ctr"/>
          <a:lstStyle/>
          <a:p>
            <a:pPr indent="0" marL="0">
              <a:buNone/>
            </a:pPr>
            <a:r>
              <a:rPr lang="en-US" sz="1600" b="1" dirty="0">
                <a:solidFill>
                  <a:srgbClr val="FFC9A8"/>
                </a:solidFill>
                <a:latin typeface="Calibri" pitchFamily="34" charset="0"/>
                <a:ea typeface="Calibri" pitchFamily="34" charset="-122"/>
                <a:cs typeface="Calibri" pitchFamily="34" charset="-120"/>
              </a:rPr>
              <a:t>Question.  </a:t>
            </a:r>
            <a:pPr indent="0" marL="0">
              <a:buNone/>
            </a:pPr>
            <a:r>
              <a:rPr lang="en-US" sz="1600" dirty="0">
                <a:solidFill>
                  <a:srgbClr val="FFFFFF"/>
                </a:solidFill>
                <a:latin typeface="Calibri" pitchFamily="34" charset="0"/>
                <a:ea typeface="Calibri" pitchFamily="34" charset="-122"/>
                <a:cs typeface="Calibri" pitchFamily="34" charset="-120"/>
              </a:rPr>
              <a:t>When an encoder becomes very accurate, does it become invertible? We answer it for Meta's open 177 M-parameter TRIBE v2.</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Project at a glance: complete</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28.4×</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encoding error, while recovery saturates at 0.944</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barrier between distinct equally good blind solutions, 4 truths (8.1× to a deeper one)</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−0.125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visual cortex, most responsive, recovers worst vs random vertices</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4 / 5</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real-fMRI segments identified (chance 2.2%), cosine 0.02</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1525742" cy="384048"/>
          </a:xfrm>
          <a:prstGeom prst="rect">
            <a:avLst/>
          </a:prstGeom>
          <a:solidFill>
            <a:srgbClr val="1BAF7A"/>
          </a:solidFill>
          <a:ln w="12700">
            <a:solidFill>
              <a:srgbClr val="1BAF7A"/>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1525742" cy="384048"/>
          </a:xfrm>
          <a:prstGeom prst="rect">
            <a:avLst/>
          </a:prstGeom>
          <a:solidFill>
            <a:srgbClr val="1BAF7A"/>
          </a:solidFill>
          <a:ln w="12700">
            <a:solidFill>
              <a:srgbClr val="1BAF7A"/>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 and release</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100% complete. </a:t>
            </a:r>
            <a:pPr indent="0" marL="0">
              <a:buNone/>
            </a:pPr>
            <a:r>
              <a:rPr lang="en-US" sz="1600" dirty="0">
                <a:solidFill>
                  <a:srgbClr val="0B0B0B"/>
                </a:solidFill>
                <a:latin typeface="Calibri" pitchFamily="34" charset="0"/>
                <a:ea typeface="Calibri" pitchFamily="34" charset="-122"/>
                <a:cs typeface="Calibri" pitchFamily="34" charset="-120"/>
              </a:rPr>
              <a:t>All six objectives met. Delivered: IEEE-format manuscript, final report (VIT 2026 format), A3 poster, open GitHub repository with code, logged results, an interactive live demo and four Colab notebooks. Key claims re-verified on the real model on 19 October 2026.</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1BAF7A"/>
          </a:solidFill>
          <a:ln w="12700">
            <a:solidFill>
              <a:srgbClr val="1BAF7A"/>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Literature review</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4206240"/>
                <a:gridCol w="3749040"/>
              </a:tblGrid>
              <a:tr h="47548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Work</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Contribution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Limitation relevant here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Mitchell et al., 2008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 predicts fMRI for unseen nouns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Single words, hand-built features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Kay et al., 2008 [21]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Identifies viewed images via predicted responses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Identification, not recovery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Naselaris et al., 2011 [1]</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models as the route to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Assumes invertibility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Huth et al., 2016 [2]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Semantic maps across cortex from natural speech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no inverse analysis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Antonello et al., 2023 [3]</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accuracy scales with model size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Scaling shown for encoding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Tang et al., 2023 [4]</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Continuous language from fMRI via LM search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Per-subject decoder; search, not inversion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Gardner &amp; Liu, 2019 [18]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IEMs identifiable only up to a transform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Linear models only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Lévy et al., 2025 [6]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Typed sentences from MEG (CER 32%) and EEG (67%)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Shows EEG's limits for language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d'Ascoli et al., 2026, TRIBE v2 [7]</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Open foundation encoder, 720 subjects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Encoder only; inverse never studied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Bladon &amp; Bent; Benchetrit et al., 2026 [19, 20]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Feature visualisation; synthetic training data</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Neither tests uniqueness of the inverse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Equal fits disagree (min cosine 0.817 ± 0.007, 4 truths); straight paths between distinct ones rise 4.8× (2.4–8.2×), 8.1× to a deeper minimum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 difference 2.15 ± 0.17× below the random median over 4 truths (1.9× originally)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 real fMRI the inverse identifies but does not reconstruct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Held-out story: 4/5 segments among 45 (chance 2.2%), cosine 0.02; oracle 5/5, 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we cut into the network</a:t>
            </a:r>
            <a:endParaRPr lang="en-US" sz="3000" dirty="0"/>
          </a:p>
        </p:txBody>
      </p:sp>
      <p:pic>
        <p:nvPicPr>
          <p:cNvPr id="3" name="Image 0" descr="/home/claude/work/deck/assets_deck/pipeline.png">    </p:cNvPr>
          <p:cNvPicPr>
            <a:picLocks noChangeAspect="1"/>
          </p:cNvPicPr>
          <p:nvPr/>
        </p:nvPicPr>
        <p:blipFill>
          <a:blip r:embed="rId1"/>
          <a:stretch>
            <a:fillRect/>
          </a:stretch>
        </p:blipFill>
        <p:spPr>
          <a:xfrm>
            <a:off x="2472255" y="1188720"/>
            <a:ext cx="7217009" cy="320040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526280"/>
          <a:ext cx="11247120" cy="914400"/>
        </p:xfrm>
        <a:graphic>
          <a:graphicData uri="http://schemas.openxmlformats.org/drawingml/2006/table">
            <a:tbl>
              <a:tblPr/>
              <a:tblGrid>
                <a:gridCol w="2743200"/>
                <a:gridCol w="85039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Parameters (all frozen)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177.21 M: encoder 127.47 M, low-rank head 1 152 → 2 048, subject layer 41.97 M, temporal pooler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Input we optimise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x ∈ ℝ^(T × 1 152): text | audio | video slots of 384 each, 2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20 484 fsaverage5 vertices × 100 steps at 1 Hz</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Re-entry check</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reproduces the released predictions exactly (r = 1.0000); ‖∂f/∂x‖ = 7.97 × 10³, no zero entries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Inversion and the synthetic protocol</a:t>
            </a:r>
            <a:endParaRPr lang="en-US" sz="3000" dirty="0"/>
          </a:p>
        </p:txBody>
      </p:sp>
      <p:sp>
        <p:nvSpPr>
          <p:cNvPr id="3" name="card"/>
          <p:cNvSpPr/>
          <p:nvPr/>
        </p:nvSpPr>
        <p:spPr>
          <a:xfrm>
            <a:off x="457200" y="1234440"/>
            <a:ext cx="11247120" cy="914400"/>
          </a:xfrm>
          <a:prstGeom prst="roundRect">
            <a:avLst>
              <a:gd name="adj" fmla="val 8000"/>
            </a:avLst>
          </a:prstGeom>
          <a:solidFill>
            <a:srgbClr val="13243B"/>
          </a:solidFill>
          <a:ln w="12700">
            <a:solidFill>
              <a:srgbClr val="13243B"/>
            </a:solidFill>
            <a:prstDash val="solid"/>
          </a:ln>
        </p:spPr>
      </p:sp>
      <p:sp>
        <p:nvSpPr>
          <p:cNvPr id="4" name="Text 2"/>
          <p:cNvSpPr txBox="1"/>
          <p:nvPr/>
        </p:nvSpPr>
        <p:spPr>
          <a:xfrm>
            <a:off x="685800" y="1280160"/>
            <a:ext cx="10789920" cy="822960"/>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x̂ = argmin_x ‖f(x) − y‖² + λ R(x)        ·        s(v) = ‖f(x + εv) − f(x)‖ / ε</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11247120" cy="914400"/>
        </p:xfrm>
        <a:graphic>
          <a:graphicData uri="http://schemas.openxmlformats.org/drawingml/2006/table">
            <a:tbl>
              <a:tblPr/>
              <a:tblGrid>
                <a:gridCol w="2377440"/>
                <a:gridCol w="8869680"/>
              </a:tblGrid>
              <a:tr h="54864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Setting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Optimiser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Adam [17], lr 5 × 10⁻², cosine annealing over the budget; θ frozen, gradients by autograd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Initialisation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0.01·N(0, I), seed 999 (default); eight distributions for the uniqueness study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Ground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smooth trajectory in a random 8-D subspace of ℝ^1152, two cosine cycles, T = 32; white noise as off-manifold control</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Target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y = f(x), so recovery error is exact; real data: 1 − Pearson r over time (scale-free)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Metrics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per-step cosine to x, relative error, encoding error, retrieval rank among time steps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Priors tested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ℓ₂ and temporal smoothness, λ swept; none by default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TRIBE v2 learned from: its fMRI training data</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651760"/>
                <a:gridCol w="4572000"/>
                <a:gridCol w="914400"/>
                <a:gridCol w="1005840"/>
                <a:gridCol w="1005840"/>
                <a:gridCol w="10972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Dataset (train)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participants did in the scanner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Sessions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fMRI (h)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CNeuroMod / Algonauts 2025 [23]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TV (Friends, seasons 1–6) and 4 feature films: video + audio + dialogue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268.7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BOLD Moments [24]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1 102 three-second naturalistic video clips (1 000 train, 102 test ×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520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et al. 2023 [5]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Listened to spoken autobiographical stories (podcasts); 82 stories for 3 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432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Wen et al. 2018 [25]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natural movie clips (8-min segments, test segments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Training 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All 3T; passive viewing / listening, no task</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2 618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451.6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548640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4008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Evaluation (never trained on). </a:t>
            </a:r>
            <a:pPr indent="0" marL="0">
              <a:buNone/>
            </a:pPr>
            <a:r>
              <a:rPr lang="en-US" sz="1350" dirty="0">
                <a:solidFill>
                  <a:srgbClr val="0B0B0B"/>
                </a:solidFill>
                <a:latin typeface="Calibri" pitchFamily="34" charset="0"/>
                <a:ea typeface="Calibri" pitchFamily="34" charset="-122"/>
                <a:cs typeface="Calibri" pitchFamily="34" charset="-120"/>
              </a:rPr>
              <a:t>NNDb (86 subjects, films), Le Petit Prince (112, audiobook), Narratives (321, spoken stories), HCP 7T (176, movie clips): 695 subjects, 666.1 h. With training: 720 subjects, 5 094 sessions, 1 117.7 h of fMRI [7].</a:t>
            </a:r>
            <a:endParaRPr lang="en-US" sz="1350" dirty="0"/>
          </a:p>
        </p:txBody>
      </p:sp>
      <p:sp>
        <p:nvSpPr>
          <p:cNvPr id="6" name="card"/>
          <p:cNvSpPr/>
          <p:nvPr/>
        </p:nvSpPr>
        <p:spPr>
          <a:xfrm>
            <a:off x="6217920" y="4343400"/>
            <a:ext cx="5486400" cy="1874520"/>
          </a:xfrm>
          <a:prstGeom prst="roundRect">
            <a:avLst>
              <a:gd name="adj" fmla="val 3902"/>
            </a:avLst>
          </a:prstGeom>
          <a:solidFill>
            <a:srgbClr val="FCE4D9"/>
          </a:solidFill>
          <a:ln w="12700">
            <a:solidFill>
              <a:srgbClr val="FCE4D9"/>
            </a:solidFill>
            <a:prstDash val="solid"/>
          </a:ln>
        </p:spPr>
      </p:sp>
      <p:sp>
        <p:nvSpPr>
          <p:cNvPr id="7" name="Text 4"/>
          <p:cNvSpPr txBox="1"/>
          <p:nvPr/>
        </p:nvSpPr>
        <p:spPr>
          <a:xfrm>
            <a:off x="640080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What this means for us. </a:t>
            </a:r>
            <a:pPr indent="0" marL="0">
              <a:buNone/>
            </a:pPr>
            <a:r>
              <a:rPr lang="en-US" sz="1350" dirty="0">
                <a:solidFill>
                  <a:srgbClr val="0B0B0B"/>
                </a:solidFill>
                <a:latin typeface="Calibri" pitchFamily="34" charset="0"/>
                <a:ea typeface="Calibri" pitchFamily="34" charset="-122"/>
                <a:cs typeface="Calibri" pitchFamily="34" charset="-120"/>
              </a:rPr>
              <a:t>Our real-data subject UTS03 is one of the 8 LeBel training subjects, but our test story (wheretheressmoke) is TRIBE v2's own held-out test split, so the encoder never saw the responses we invert. The released weights use one averaged 'unseen subject' layer, so we invert the population model.</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Why fMRI, not EEG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560320"/>
                <a:gridCol w="4114800"/>
                <a:gridCol w="45720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fMRI (this 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EEG</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Spatial detail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 mm voxels; 20 484 cortical vertices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32–128 scalp channels, cm-scale, blurred</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Foundation encoder to invert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177 M parameters, 1 117.7 h, 720 subjects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whole-brain encoder of naturalistic EEG at this scale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Number of inverse problems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response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Two: scalp → cortical sources (itself ill-posed)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Measured language-decoding evidence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Continuous language reconstructed from fMRI [4]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 decoder: 67% character error with EEG vs 32% with MEG [6]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Open naturalistic language 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LeBel 2023: 8 subjects, 85.8 h of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simultaneous EEG–fMRI set with sustained speech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Temporal resolution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1.5–2 s samples, ≈5 s haemodynamic lag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Milliseconds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Cost and portability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Scanner-bound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Wearable, low cost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5349240"/>
            <a:ext cx="11247120" cy="960120"/>
          </a:xfrm>
          <a:prstGeom prst="roundRect">
            <a:avLst>
              <a:gd name="adj" fmla="val 7619"/>
            </a:avLst>
          </a:prstGeom>
          <a:solidFill>
            <a:srgbClr val="13243B"/>
          </a:solidFill>
          <a:ln w="12700">
            <a:solidFill>
              <a:srgbClr val="13243B"/>
            </a:solidFill>
            <a:prstDash val="solid"/>
          </a:ln>
        </p:spPr>
      </p:sp>
      <p:sp>
        <p:nvSpPr>
          <p:cNvPr id="5" name="Text 2"/>
          <p:cNvSpPr txBox="1"/>
          <p:nvPr/>
        </p:nvSpPr>
        <p:spPr>
          <a:xfrm>
            <a:off x="685800" y="5376672"/>
            <a:ext cx="10789920" cy="914400"/>
          </a:xfrm>
          <a:prstGeom prst="rect">
            <a:avLst/>
          </a:prstGeom>
          <a:noFill/>
          <a:ln/>
        </p:spPr>
        <p:txBody>
          <a:bodyPr wrap="square" lIns="0" tIns="0" rIns="0" bIns="0" rtlCol="0" anchor="ctr"/>
          <a:lstStyle/>
          <a:p>
            <a:pPr indent="0" marL="0">
              <a:buNone/>
            </a:pPr>
            <a:r>
              <a:rPr lang="en-US" sz="1250" b="1" dirty="0">
                <a:solidFill>
                  <a:srgbClr val="FFC9A8"/>
                </a:solidFill>
                <a:latin typeface="Calibri" pitchFamily="34" charset="0"/>
                <a:ea typeface="Calibri" pitchFamily="34" charset="-122"/>
                <a:cs typeface="Calibri" pitchFamily="34" charset="-120"/>
              </a:rPr>
              <a:t>Decision.  </a:t>
            </a:r>
            <a:pPr indent="0" marL="0">
              <a:buNone/>
            </a:pPr>
            <a:r>
              <a:rPr lang="en-US" sz="1250" dirty="0">
                <a:solidFill>
                  <a:srgbClr val="FFFFFF"/>
                </a:solidFill>
                <a:latin typeface="Calibri" pitchFamily="34" charset="0"/>
                <a:ea typeface="Calibri" pitchFamily="34" charset="-122"/>
                <a:cs typeface="Calibri" pitchFamily="34" charset="-120"/>
              </a:rPr>
              <a:t>fMRI is where the question can be answered today: it has the spatial detail, the data and the only deep encoder large enough to invert. EEG's real advantages (speed, cost) matter for a deployed device, not for measuring how invertible an encoder is. The method transfers to EEG once a comparable EEG encoder exists.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Error stays flat on the line between fit-matched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Straight-path error profile, forward passes only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 4); path rise; near-truth control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3035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Risk to validity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Safeguard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Measuring the optimiser, not the operator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Converge first; independent runs to schedule end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Plateau ≈ 0.94 by 32 000 steps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Under-converged runs posing as alternative solutions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Only blind solutions within 2× of the best blind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Gaussian s.d. 5 excluded (3.2× worse fit)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One trajectory being special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Replicate across 4 independent ground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min pairwise 0.8165 ± 0.0068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Inference instead of demonstration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Straight-path error between fit-matched solutions, 4 truths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Distinct pairs rise 2.4–8.2× (median 4.8×): H1 rejected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Solutions that were told the answer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Near-truth starts used only as a control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Deeper minimum, 4.2 ± 0.3× lower error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ROI size confound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 vertex sets of identical size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comparison per network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Random-seed luck in controls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Second random seed for two networks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Δ between seeds ≤ 0.013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Platform 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Whole-cortex anchor re-run on CPU vs earlier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0.836 vs 0.836 (GPU)</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Constraints, alternatives and trade-offs</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834640"/>
                <a:gridCol w="3566160"/>
                <a:gridCol w="484632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Constraint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Trade-off adopted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local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Large models cannot run on laptops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Free Colab T4 for GPU work; CPU for regional analysis; Llama in half precision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12 GB RAM / 15 GB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Llama-3.2-3B and w2v-BERT cannot load together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One story per process; audio and text in separate passes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Released pipeline not differentiable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Raw stimuli cannot be optimised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aggregated representation x</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ground truth in real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Recovery cannot be measured directly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Exact synthetic evaluation + identification at a known chance level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Only an averaged subject layer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No per-subject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Invert the population model; stated as a limitation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x in a random subspace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Absolute values may not transfer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Real-data validation confirms the qualitative pattern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754880"/>
            <a:ext cx="11247120" cy="1463040"/>
          </a:xfrm>
          <a:prstGeom prst="roundRect">
            <a:avLst>
              <a:gd name="adj" fmla="val 5000"/>
            </a:avLst>
          </a:prstGeom>
          <a:solidFill>
            <a:srgbClr val="EEF3F9"/>
          </a:solidFill>
          <a:ln w="12700">
            <a:solidFill>
              <a:srgbClr val="EEF3F9"/>
            </a:solidFill>
            <a:prstDash val="solid"/>
          </a:ln>
        </p:spPr>
      </p:sp>
      <p:sp>
        <p:nvSpPr>
          <p:cNvPr id="5" name="Text 2"/>
          <p:cNvSpPr txBox="1"/>
          <p:nvPr/>
        </p:nvSpPr>
        <p:spPr>
          <a:xfrm>
            <a:off x="685800" y="4846320"/>
            <a:ext cx="10789920" cy="12801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Alternatives from Report I.  </a:t>
            </a:r>
            <a:pPr indent="0" marL="0">
              <a:buNone/>
            </a:pPr>
            <a:r>
              <a:rPr lang="en-US" sz="1400" dirty="0">
                <a:solidFill>
                  <a:srgbClr val="0B0B0B"/>
                </a:solidFill>
                <a:latin typeface="Calibri" pitchFamily="34" charset="0"/>
                <a:ea typeface="Calibri" pitchFamily="34" charset="-122"/>
                <a:cs typeface="Calibri" pitchFamily="34" charset="-120"/>
              </a:rPr>
              <a:t>(1) End-to-end supervised decoder: needs large per-subject data and cannot explain failures. (2) Inversion of a pretrained encoder: selected. (3) Simultaneous EEG–fMRI fusion decoder: blocked, since no open simultaneous dataset contains sustained language.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Hardware and software tools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011680"/>
                <a:gridCol w="4389120"/>
                <a:gridCol w="4846320"/>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Tool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(GPU)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Google Colab, NVIDIA T4 (15 GB), 12 GB RAM</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Synthetic characterisation, real-data features and inversion, verification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Compute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Linux cloud CPU</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Regional analysis, surface projection, recorded multi-start run,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Deep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HuggingFace Transformers and Hub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Autograd through the frozen encoder; Llama-3.2-3B, w2v-BERT 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Encoder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TRIBE v2 code and weights (Meta FAIR, CC BY-NC 4.0)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Frozen forward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Neuroimaging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nilearn, nibabel, ANTsPy, pycortex transforms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Atlas, surfaces, registration,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Scientific Python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NumPy, SciPy, scikit-learn, h5py, Matplotlib</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ridge baseline, figures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OpenNeuro ds003020 (LeBel et al., 2023)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Real naturalistic fMRI</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Delivery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GitHub, Colab notebooks, WebGL demo page, PowerPoint, Word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Release, live demo, reviews and report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2 000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Barriers, not a null space (verified on the real model)</a:t>
            </a:r>
            <a:endParaRPr lang="en-US" sz="3000" dirty="0"/>
          </a:p>
        </p:txBody>
      </p:sp>
      <p:pic>
        <p:nvPicPr>
          <p:cNvPr id="3" name="Image 0" descr="/home/claude/work/deck/assets_deck/fig_barrier_verified.png">    </p:cNvPr>
          <p:cNvPicPr>
            <a:picLocks noChangeAspect="1"/>
          </p:cNvPicPr>
          <p:nvPr/>
        </p:nvPicPr>
        <p:blipFill>
          <a:blip r:embed="rId1"/>
          <a:stretch>
            <a:fillRect/>
          </a:stretch>
        </p:blipFill>
        <p:spPr>
          <a:xfrm>
            <a:off x="365760" y="1155309"/>
            <a:ext cx="11430000" cy="4044462"/>
          </a:xfrm>
          <a:prstGeom prst="rect">
            <a:avLst/>
          </a:prstGeom>
        </p:spPr>
      </p:pic>
      <p:sp>
        <p:nvSpPr>
          <p:cNvPr id="4" name="card"/>
          <p:cNvSpPr/>
          <p:nvPr/>
        </p:nvSpPr>
        <p:spPr>
          <a:xfrm>
            <a:off x="457200" y="5303520"/>
            <a:ext cx="5532120" cy="960120"/>
          </a:xfrm>
          <a:prstGeom prst="roundRect">
            <a:avLst>
              <a:gd name="adj" fmla="val 7619"/>
            </a:avLst>
          </a:prstGeom>
          <a:solidFill>
            <a:srgbClr val="EEF3F9"/>
          </a:solidFill>
          <a:ln w="12700">
            <a:solidFill>
              <a:srgbClr val="EEF3F9"/>
            </a:solidFill>
            <a:prstDash val="solid"/>
          </a:ln>
        </p:spPr>
      </p:sp>
      <p:sp>
        <p:nvSpPr>
          <p:cNvPr id="5" name="Text 2"/>
          <p:cNvSpPr txBox="1"/>
          <p:nvPr/>
        </p:nvSpPr>
        <p:spPr>
          <a:xfrm>
            <a:off x="640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Result. </a:t>
            </a:r>
            <a:pPr indent="0" marL="0">
              <a:buNone/>
            </a:pPr>
            <a:r>
              <a:rPr lang="en-US" sz="1250" dirty="0">
                <a:solidFill>
                  <a:srgbClr val="0B0B0B"/>
                </a:solidFill>
                <a:latin typeface="Calibri" pitchFamily="34" charset="0"/>
                <a:ea typeface="Calibri" pitchFamily="34" charset="-122"/>
                <a:cs typeface="Calibri" pitchFamily="34" charset="-120"/>
              </a:rPr>
              <a:t>Four ground truths, 40 pairs: between every pair of distinct blind fits the error rises 2.4–8.2× (median 4.8×); near-identical pairs share one minimum. A null space would stay level. Near-truth starts find a minimum with 4.2× lower error, 8.1 ± 3.2× barrier away.</a:t>
            </a:r>
            <a:endParaRPr lang="en-US" sz="1250" dirty="0"/>
          </a:p>
        </p:txBody>
      </p:sp>
      <p:sp>
        <p:nvSpPr>
          <p:cNvPr id="6" name="card"/>
          <p:cNvSpPr/>
          <p:nvPr/>
        </p:nvSpPr>
        <p:spPr>
          <a:xfrm>
            <a:off x="6172200" y="5303520"/>
            <a:ext cx="5532120" cy="960120"/>
          </a:xfrm>
          <a:prstGeom prst="roundRect">
            <a:avLst>
              <a:gd name="adj" fmla="val 7619"/>
            </a:avLst>
          </a:prstGeom>
          <a:solidFill>
            <a:srgbClr val="FCE4D9"/>
          </a:solidFill>
          <a:ln w="12700">
            <a:solidFill>
              <a:srgbClr val="FCE4D9"/>
            </a:solidFill>
            <a:prstDash val="solid"/>
          </a:ln>
        </p:spPr>
      </p:sp>
      <p:sp>
        <p:nvSpPr>
          <p:cNvPr id="7" name="Text 4"/>
          <p:cNvSpPr txBox="1"/>
          <p:nvPr/>
        </p:nvSpPr>
        <p:spPr>
          <a:xfrm>
            <a:off x="6355080" y="5349240"/>
            <a:ext cx="5212080" cy="868680"/>
          </a:xfrm>
          <a:prstGeom prst="rect">
            <a:avLst/>
          </a:prstGeom>
          <a:noFill/>
          <a:ln/>
        </p:spPr>
        <p:txBody>
          <a:bodyPr wrap="square" lIns="0" tIns="0" rIns="0" bIns="0" rtlCol="0" anchor="ctr"/>
          <a:lstStyle/>
          <a:p>
            <a:pPr indent="0" marL="0">
              <a:buNone/>
            </a:pPr>
            <a:r>
              <a:rPr lang="en-US" sz="1250" b="1" dirty="0">
                <a:solidFill>
                  <a:srgbClr val="13243B"/>
                </a:solidFill>
                <a:latin typeface="Calibri" pitchFamily="34" charset="0"/>
                <a:ea typeface="Calibri" pitchFamily="34" charset="-122"/>
                <a:cs typeface="Calibri" pitchFamily="34" charset="-120"/>
              </a:rPr>
              <a:t>Correction. </a:t>
            </a:r>
            <a:pPr indent="0" marL="0">
              <a:buNone/>
            </a:pPr>
            <a:r>
              <a:rPr lang="en-US" sz="1250" dirty="0">
                <a:solidFill>
                  <a:srgbClr val="0B0B0B"/>
                </a:solidFill>
                <a:latin typeface="Calibri" pitchFamily="34" charset="0"/>
                <a:ea typeface="Calibri" pitchFamily="34" charset="-122"/>
                <a:cs typeface="Calibri" pitchFamily="34" charset="-120"/>
              </a:rPr>
              <a:t>Our earlier perturbation test (2.6× → 0.6×) paired an unconverged solution (Gaussian s.d. 5). It is withdrawn; the selection rule is fixed and the test was re-run on a T4 on 19–20 Oct 2026 for four ground truths.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Blind starts settle in a worse minimum (ground truth 0)</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6949440" cy="914400"/>
        </p:xfrm>
        <a:graphic>
          <a:graphicData uri="http://schemas.openxmlformats.org/drawingml/2006/table">
            <a:tbl>
              <a:tblPr/>
              <a:tblGrid>
                <a:gridCol w="1920240"/>
                <a:gridCol w="1280160"/>
                <a:gridCol w="1463040"/>
                <a:gridCol w="1005840"/>
                <a:gridCol w="128016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Start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Told the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Final error (×10⁻⁷)</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 best blind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Recovery cosine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0.1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zeros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uniform on [−1, 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0.907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Gaussian, s.d.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0.894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Gaussian, s.d. 5.0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11.5 (not converged)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3.23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8A8984"/>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+ 1.0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0.951</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truth + 0.5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yes (control)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0.22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0.976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7680960" y="1188720"/>
            <a:ext cx="4023360" cy="5029200"/>
          </a:xfrm>
          <a:prstGeom prst="roundRect">
            <a:avLst>
              <a:gd name="adj" fmla="val 1818"/>
            </a:avLst>
          </a:prstGeom>
          <a:solidFill>
            <a:srgbClr val="EEF3F9"/>
          </a:solidFill>
          <a:ln w="12700">
            <a:solidFill>
              <a:srgbClr val="EEF3F9"/>
            </a:solidFill>
            <a:prstDash val="solid"/>
          </a:ln>
        </p:spPr>
      </p:sp>
      <p:sp>
        <p:nvSpPr>
          <p:cNvPr id="5" name="Text 2"/>
          <p:cNvSpPr txBox="1"/>
          <p:nvPr/>
        </p:nvSpPr>
        <p:spPr>
          <a:xfrm>
            <a:off x="7863840" y="1325880"/>
            <a:ext cx="3657600" cy="475488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What it means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Every start a real decoder could use (no knowledge of the answer) ends at almost the same error, 3.6–3.9 × 10⁻⁷, and agrees with the others only at 0.89–1.00.</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A deeper minimum exists: starting near the truth reaches 4.6× lower error and recovery 0.976 (4.2 ± 0.3× over four truths).</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0B0B0B"/>
                </a:solidFill>
                <a:latin typeface="Calibri" pitchFamily="34" charset="0"/>
                <a:ea typeface="Calibri" pitchFamily="34" charset="-122"/>
                <a:cs typeface="Calibri" pitchFamily="34" charset="-120"/>
              </a:rPr>
              <a:t>Between them the error rises 7.2× here (8.1 ± 3.2× over four truths), so gradient descent cannot slide from one to the other. Better search, not a better encoder, is what decoding needs.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2.15×</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 mean of 4 truths (± 0.17; 1.9× originally, shown)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1.68×</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along the actual error x̂ − x (± 0.17, 4 truths); d below all 200 random directions</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what the inverse fails to pin down is what the operator responds to least (corrected pair s = 0.081 vs random 0.122–0.239; actual error 1.8× below).</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Robustness: noise, observed cortex and priors</a:t>
            </a:r>
            <a:endParaRPr lang="en-US" sz="3000" dirty="0"/>
          </a:p>
        </p:txBody>
      </p:sp>
      <p:pic>
        <p:nvPicPr>
          <p:cNvPr id="3" name="Image 0" descr="/home/claude/work/deck/assets_deck/fig_noise.png">    </p:cNvPr>
          <p:cNvPicPr>
            <a:picLocks noChangeAspect="1"/>
          </p:cNvPicPr>
          <p:nvPr/>
        </p:nvPicPr>
        <p:blipFill>
          <a:blip r:embed="rId1"/>
          <a:stretch>
            <a:fillRect/>
          </a:stretch>
        </p:blipFill>
        <p:spPr>
          <a:xfrm>
            <a:off x="365760" y="1225296"/>
            <a:ext cx="5760720" cy="2304288"/>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831330" y="1188720"/>
            <a:ext cx="4259580" cy="2377440"/>
          </a:xfrm>
          <a:prstGeom prst="rect">
            <a:avLst/>
          </a:prstGeom>
        </p:spPr>
      </p:pic>
      <p:pic>
        <p:nvPicPr>
          <p:cNvPr id="5" name="Image 2" descr="/home/claude/work/deck/assets_deck/fig_priors.png">    </p:cNvPr>
          <p:cNvPicPr>
            <a:picLocks noChangeAspect="1"/>
          </p:cNvPicPr>
          <p:nvPr/>
        </p:nvPicPr>
        <p:blipFill>
          <a:blip r:embed="rId3"/>
          <a:stretch>
            <a:fillRect/>
          </a:stretch>
        </p:blipFill>
        <p:spPr>
          <a:xfrm>
            <a:off x="911542" y="3657600"/>
            <a:ext cx="4669155" cy="2606040"/>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309360" y="3703320"/>
          <a:ext cx="5394960" cy="914400"/>
        </p:xfrm>
        <a:graphic>
          <a:graphicData uri="http://schemas.openxmlformats.org/drawingml/2006/table">
            <a:tbl>
              <a:tblPr/>
              <a:tblGrid>
                <a:gridCol w="2194560"/>
                <a:gridCol w="32004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Noise 0 → 100% of BOLD s.d.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recovery 0.836 → 0.298, monotone; retrieval ≈ 0.99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Observed cortex 50 → 20 484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0.100 → 0.836; 2 000 random vertices reach 0.777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ℓ₂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best +0.032 at λ = 10⁻⁵, harmful above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Smoothness prior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0.527 → 0.0008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Stimulus manifold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white 0.947 vs smooth 0.942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Rate of change, 64×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0.836–0.858, no trend</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Experiment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we report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Optimiser control (SGD, L-BFGS)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Fits 1.4e-4 / 2.8e-5 vs Adam 3.5e-7</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Hyperparameters did not converge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Invalid control; limitation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Bandwidth sweep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Flat 0.838–0.858 over 64×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HRF operator in the release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Structural 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Stimulus manifold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0.947 vs 0.942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Operator indifferent to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Null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Smoothness prior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0.527 → 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Wrong prior for semantics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Negative result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Original barrier test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Paired an unconverged solution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Pair chosen among all 8 starts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Withdrawn; re-run correctly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1124712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85800" y="443484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straight-path barrier and sensitivity tests (forward passes only), the near-truth control and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_deck/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error rises 4.8× between distinct equal fits, 8.1× towards a deeper minimum (4 truths).</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37490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Claim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Evidence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Key number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Encoding ≠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independent budgets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28.4× vs +0.015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Inverse is non-convex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Fit-matched init control,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min pairwise 0.8165 ± 0.0068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 null space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Straight-path error, 40 pairs,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4.8× (2.4–8.2×); 8.1 ± 3.2× to deeper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Errors in weak directions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200 random directions, 4 truths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2.15 ± 0.17× below median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Verified ×4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Gain identifiable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Forward rescaling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 7–9× floor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Stable under noise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7 noise levels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0.836 → 0.298 monotone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 cortex suffices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 extents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0.777 at 2 000 vertices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Beats linear decoding</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Ridge baseline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0.918 vs 0.060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Indicative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Anatomical topography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Sensitivity maps, 6 networks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z +27 to +41 in matching modality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Regional recoverability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ROI vs matched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Visual −0.125, somatomotor +0.102 vs matched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 (1 truth)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Real-data decodability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2023, held-out story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4/5 segments (chance 2.2%), cosine 0.02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Established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74904">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Multi-start on the real model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CPU run, 3 starts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R² 0.995, recovery ≤ 0.51, agreement 0.37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Demonstrated</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Validation on real naturalistic fMRI</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LeBel et al. 2023 · subject UTS03 · held-out story wheretheressmoke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Real-fMRI pipeline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1737360"/>
                <a:gridCol w="6035040"/>
                <a:gridCol w="3474720"/>
              </a:tblGrid>
              <a:tr h="71323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was done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UTS03, LeBel et al. 2023 (OpenNeuro ds003020): 6 stories, 66.6 min, 10 363 words, TR 2 s; held-out story = mean of 10 repeats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Held-out story is TRIBE v2's own test split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Registration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MNI → subject T1 by ANTs SyN; T1 → functional voxels by the pycortex transform</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 QC of overlays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Surface projection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projector settings: 3-mm ball, 20 points per vertex, trilinear in the cortical mask → sparse 20 484 × 95 556 sampler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Homotopic r 0.635 vs −0.017 heterotopic (&gt; 97% of pairings); scrambled control at chance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w2v-BERT 2.0 audio + Llama-3.2-3B text, TRIBE v2's own pipeline with the dataset's word timings; 45 segments of 100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Forward re-entry r = 1.0000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Alignment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Lag maximising prediction–response r on the 5 training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Peak at 4 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Evaluation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Encoding r vs split-half ceiling; forward identification of 20-s windows (194); inversion of 100-s segments ranked among 45; noise-free oracle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Chance 0.5% and 2.2%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results on the held-out story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2 000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2 000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top-2 000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same experiment on the real model, recorded</a:t>
            </a:r>
            <a:endParaRPr lang="en-US" sz="3000" dirty="0"/>
          </a:p>
        </p:txBody>
      </p:sp>
      <p:pic>
        <p:nvPicPr>
          <p:cNvPr id="3" name="Image 0" descr="/home/claude/work/deck/assets_deck/fig_realrun_multistart.png">    </p:cNvPr>
          <p:cNvPicPr>
            <a:picLocks noChangeAspect="1"/>
          </p:cNvPicPr>
          <p:nvPr/>
        </p:nvPicPr>
        <p:blipFill>
          <a:blip r:embed="rId1"/>
          <a:stretch>
            <a:fillRect/>
          </a:stretch>
        </p:blipFill>
        <p:spPr>
          <a:xfrm>
            <a:off x="365760" y="1263015"/>
            <a:ext cx="11430000" cy="3143250"/>
          </a:xfrm>
          <a:prstGeom prst="rect">
            <a:avLst/>
          </a:prstGeom>
        </p:spPr>
      </p:pic>
      <p:sp>
        <p:nvSpPr>
          <p:cNvPr id="4" name="Text 1"/>
          <p:cNvSpPr txBox="1"/>
          <p:nvPr/>
        </p:nvSpPr>
        <p:spPr>
          <a:xfrm>
            <a:off x="548640" y="4572000"/>
            <a:ext cx="2651760" cy="73152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0.995</a:t>
            </a:r>
            <a:endParaRPr lang="en-US" sz="3000" dirty="0"/>
          </a:p>
        </p:txBody>
      </p:sp>
      <p:sp>
        <p:nvSpPr>
          <p:cNvPr id="5" name="Text 2"/>
          <p:cNvSpPr txBox="1"/>
          <p:nvPr/>
        </p:nvSpPr>
        <p:spPr>
          <a:xfrm>
            <a:off x="54864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median per-vertex R² of the fit across cortex</a:t>
            </a:r>
            <a:endParaRPr lang="en-US" sz="1300" dirty="0"/>
          </a:p>
        </p:txBody>
      </p:sp>
      <p:sp>
        <p:nvSpPr>
          <p:cNvPr id="6" name="Text 3"/>
          <p:cNvSpPr txBox="1"/>
          <p:nvPr/>
        </p:nvSpPr>
        <p:spPr>
          <a:xfrm>
            <a:off x="3383280" y="4572000"/>
            <a:ext cx="2651760" cy="73152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0.51</a:t>
            </a:r>
            <a:endParaRPr lang="en-US" sz="3000" dirty="0"/>
          </a:p>
        </p:txBody>
      </p:sp>
      <p:sp>
        <p:nvSpPr>
          <p:cNvPr id="7" name="Text 4"/>
          <p:cNvSpPr txBox="1"/>
          <p:nvPr/>
        </p:nvSpPr>
        <p:spPr>
          <a:xfrm>
            <a:off x="338328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best recovery of x after 2 400 steps</a:t>
            </a:r>
            <a:endParaRPr lang="en-US" sz="1300" dirty="0"/>
          </a:p>
        </p:txBody>
      </p:sp>
      <p:sp>
        <p:nvSpPr>
          <p:cNvPr id="8" name="Text 5"/>
          <p:cNvSpPr txBox="1"/>
          <p:nvPr/>
        </p:nvSpPr>
        <p:spPr>
          <a:xfrm>
            <a:off x="6217920" y="4572000"/>
            <a:ext cx="2651760" cy="731520"/>
          </a:xfrm>
          <a:prstGeom prst="rect">
            <a:avLst/>
          </a:prstGeom>
          <a:noFill/>
          <a:ln/>
        </p:spPr>
        <p:txBody>
          <a:bodyPr wrap="square" lIns="0" tIns="0" rIns="0" bIns="0" rtlCol="0" anchor="b"/>
          <a:lstStyle/>
          <a:p>
            <a:pPr indent="0" marL="0">
              <a:buNone/>
            </a:pPr>
            <a:r>
              <a:rPr lang="en-US" sz="3000" b="1" dirty="0">
                <a:solidFill>
                  <a:srgbClr val="4A3AA7"/>
                </a:solidFill>
                <a:latin typeface="Cambria" pitchFamily="34" charset="0"/>
                <a:ea typeface="Cambria" pitchFamily="34" charset="-122"/>
                <a:cs typeface="Cambria" pitchFamily="34" charset="-120"/>
              </a:rPr>
              <a:t>0.37</a:t>
            </a:r>
            <a:endParaRPr lang="en-US" sz="3000" dirty="0"/>
          </a:p>
        </p:txBody>
      </p:sp>
      <p:sp>
        <p:nvSpPr>
          <p:cNvPr id="9" name="Text 6"/>
          <p:cNvSpPr txBox="1"/>
          <p:nvPr/>
        </p:nvSpPr>
        <p:spPr>
          <a:xfrm>
            <a:off x="621792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lowest agreement between the three starts</a:t>
            </a:r>
            <a:endParaRPr lang="en-US" sz="1300" dirty="0"/>
          </a:p>
        </p:txBody>
      </p:sp>
      <p:sp>
        <p:nvSpPr>
          <p:cNvPr id="10" name="Text 7"/>
          <p:cNvSpPr txBox="1"/>
          <p:nvPr/>
        </p:nvSpPr>
        <p:spPr>
          <a:xfrm>
            <a:off x="9052560" y="4572000"/>
            <a:ext cx="2651760" cy="731520"/>
          </a:xfrm>
          <a:prstGeom prst="rect">
            <a:avLst/>
          </a:prstGeom>
          <a:noFill/>
          <a:ln/>
        </p:spPr>
        <p:txBody>
          <a:bodyPr wrap="square" lIns="0" tIns="0" rIns="0" bIns="0" rtlCol="0" anchor="b"/>
          <a:lstStyle/>
          <a:p>
            <a:pPr indent="0" marL="0">
              <a:buNone/>
            </a:pPr>
            <a:r>
              <a:rPr lang="en-US" sz="3000" b="1" dirty="0">
                <a:solidFill>
                  <a:srgbClr val="1BAF7A"/>
                </a:solidFill>
                <a:latin typeface="Cambria" pitchFamily="34" charset="0"/>
                <a:ea typeface="Cambria" pitchFamily="34" charset="-122"/>
                <a:cs typeface="Cambria" pitchFamily="34" charset="-120"/>
              </a:rPr>
              <a:t>121×</a:t>
            </a:r>
            <a:endParaRPr lang="en-US" sz="3000" dirty="0"/>
          </a:p>
        </p:txBody>
      </p:sp>
      <p:sp>
        <p:nvSpPr>
          <p:cNvPr id="11" name="Text 8"/>
          <p:cNvSpPr txBox="1"/>
          <p:nvPr/>
        </p:nvSpPr>
        <p:spPr>
          <a:xfrm>
            <a:off x="9052560" y="534924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error reduction, start 1</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Outcomes, mappings and impact</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Deliverables, demonstration, schedule, cost, contributions and programme mapping</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Deliverables</a:t>
            </a:r>
            <a:endParaRPr lang="en-US" sz="3000" dirty="0"/>
          </a:p>
        </p:txBody>
      </p:sp>
      <p:sp>
        <p:nvSpPr>
          <p:cNvPr id="3" name="card"/>
          <p:cNvSpPr/>
          <p:nvPr/>
        </p:nvSpPr>
        <p:spPr>
          <a:xfrm>
            <a:off x="457200" y="1188720"/>
            <a:ext cx="5486400" cy="1554480"/>
          </a:xfrm>
          <a:prstGeom prst="roundRect">
            <a:avLst>
              <a:gd name="adj" fmla="val 4706"/>
            </a:avLst>
          </a:prstGeom>
          <a:solidFill>
            <a:srgbClr val="EEF3F9"/>
          </a:solidFill>
          <a:ln w="12700">
            <a:solidFill>
              <a:srgbClr val="EEF3F9"/>
            </a:solidFill>
            <a:prstDash val="solid"/>
          </a:ln>
        </p:spPr>
      </p:sp>
      <p:sp>
        <p:nvSpPr>
          <p:cNvPr id="4" name="Shape 2"/>
          <p:cNvSpPr/>
          <p:nvPr/>
        </p:nvSpPr>
        <p:spPr>
          <a:xfrm>
            <a:off x="640080" y="1600200"/>
            <a:ext cx="731520" cy="731520"/>
          </a:xfrm>
          <a:prstGeom prst="ellipse">
            <a:avLst/>
          </a:prstGeom>
          <a:solidFill>
            <a:srgbClr val="13243B"/>
          </a:solidFill>
          <a:ln w="12700">
            <a:solidFill>
              <a:srgbClr val="13243B"/>
            </a:solidFill>
            <a:prstDash val="solid"/>
          </a:ln>
        </p:spPr>
      </p:sp>
      <p:pic>
        <p:nvPicPr>
          <p:cNvPr id="5" name="Image 0" descr="preencoded.png">    </p:cNvPr>
          <p:cNvPicPr>
            <a:picLocks noChangeAspect="1"/>
          </p:cNvPicPr>
          <p:nvPr/>
        </p:nvPicPr>
        <p:blipFill>
          <a:blip r:embed="rId1"/>
          <a:stretch>
            <a:fillRect/>
          </a:stretch>
        </p:blipFill>
        <p:spPr>
          <a:xfrm>
            <a:off x="815645" y="1775765"/>
            <a:ext cx="380390" cy="380390"/>
          </a:xfrm>
          <a:prstGeom prst="rect">
            <a:avLst/>
          </a:prstGeom>
        </p:spPr>
      </p:pic>
      <p:sp>
        <p:nvSpPr>
          <p:cNvPr id="6" name="Text 3"/>
          <p:cNvSpPr txBox="1"/>
          <p:nvPr/>
        </p:nvSpPr>
        <p:spPr>
          <a:xfrm>
            <a:off x="155448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Manuscript</a:t>
            </a:r>
            <a:endParaRPr lang="en-US" sz="1600" dirty="0"/>
          </a:p>
        </p:txBody>
      </p:sp>
      <p:sp>
        <p:nvSpPr>
          <p:cNvPr id="7" name="Text 4"/>
          <p:cNvSpPr txBox="1"/>
          <p:nvPr/>
        </p:nvSpPr>
        <p:spPr>
          <a:xfrm>
            <a:off x="155448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IEEE-format paper: “Predictable Is Not Recoverable: Conditioning and Non-Convexity of Inverting a Foundation Brain Encoding Model”. A. Sarkar*, T. Choudhuri* (joint first), S. Nageswaran. Ready for submission.</a:t>
            </a:r>
            <a:endParaRPr lang="en-US" sz="1250" dirty="0"/>
          </a:p>
        </p:txBody>
      </p:sp>
      <p:sp>
        <p:nvSpPr>
          <p:cNvPr id="8" name="card"/>
          <p:cNvSpPr/>
          <p:nvPr/>
        </p:nvSpPr>
        <p:spPr>
          <a:xfrm>
            <a:off x="6126480" y="1188720"/>
            <a:ext cx="5486400" cy="1554480"/>
          </a:xfrm>
          <a:prstGeom prst="roundRect">
            <a:avLst>
              <a:gd name="adj" fmla="val 4706"/>
            </a:avLst>
          </a:prstGeom>
          <a:solidFill>
            <a:srgbClr val="EEF3F9"/>
          </a:solidFill>
          <a:ln w="12700">
            <a:solidFill>
              <a:srgbClr val="EEF3F9"/>
            </a:solidFill>
            <a:prstDash val="solid"/>
          </a:ln>
        </p:spPr>
      </p:sp>
      <p:sp>
        <p:nvSpPr>
          <p:cNvPr id="9" name="Shape 6"/>
          <p:cNvSpPr/>
          <p:nvPr/>
        </p:nvSpPr>
        <p:spPr>
          <a:xfrm>
            <a:off x="6309360" y="1600200"/>
            <a:ext cx="731520" cy="731520"/>
          </a:xfrm>
          <a:prstGeom prst="ellipse">
            <a:avLst/>
          </a:prstGeom>
          <a:solidFill>
            <a:srgbClr val="2A78D6"/>
          </a:solidFill>
          <a:ln w="12700">
            <a:solidFill>
              <a:srgbClr val="2A78D6"/>
            </a:solidFill>
            <a:prstDash val="solid"/>
          </a:ln>
        </p:spPr>
      </p:sp>
      <p:pic>
        <p:nvPicPr>
          <p:cNvPr id="10" name="Image 1" descr="preencoded.png">    </p:cNvPr>
          <p:cNvPicPr>
            <a:picLocks noChangeAspect="1"/>
          </p:cNvPicPr>
          <p:nvPr/>
        </p:nvPicPr>
        <p:blipFill>
          <a:blip r:embed="rId2"/>
          <a:stretch>
            <a:fillRect/>
          </a:stretch>
        </p:blipFill>
        <p:spPr>
          <a:xfrm>
            <a:off x="6484925" y="1775765"/>
            <a:ext cx="380390" cy="380390"/>
          </a:xfrm>
          <a:prstGeom prst="rect">
            <a:avLst/>
          </a:prstGeom>
        </p:spPr>
      </p:pic>
      <p:sp>
        <p:nvSpPr>
          <p:cNvPr id="11" name="Text 7"/>
          <p:cNvSpPr txBox="1"/>
          <p:nvPr/>
        </p:nvSpPr>
        <p:spPr>
          <a:xfrm>
            <a:off x="7223760" y="129844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Final report</a:t>
            </a:r>
            <a:endParaRPr lang="en-US" sz="1600" dirty="0"/>
          </a:p>
        </p:txBody>
      </p:sp>
      <p:sp>
        <p:nvSpPr>
          <p:cNvPr id="12" name="Text 8"/>
          <p:cNvSpPr txBox="1"/>
          <p:nvPr/>
        </p:nvSpPr>
        <p:spPr>
          <a:xfrm>
            <a:off x="7223760" y="169164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43 pages, VIT 2026 Project-I format: 13 chapters, 16 figures, 19 tables, 42 IEEE references, TRIBE v2 data and why-fMRI sections.</a:t>
            </a:r>
            <a:endParaRPr lang="en-US" sz="1250" dirty="0"/>
          </a:p>
        </p:txBody>
      </p:sp>
      <p:sp>
        <p:nvSpPr>
          <p:cNvPr id="13" name="card"/>
          <p:cNvSpPr/>
          <p:nvPr/>
        </p:nvSpPr>
        <p:spPr>
          <a:xfrm>
            <a:off x="457200" y="2880360"/>
            <a:ext cx="5486400" cy="1554480"/>
          </a:xfrm>
          <a:prstGeom prst="roundRect">
            <a:avLst>
              <a:gd name="adj" fmla="val 4706"/>
            </a:avLst>
          </a:prstGeom>
          <a:solidFill>
            <a:srgbClr val="EEF3F9"/>
          </a:solidFill>
          <a:ln w="12700">
            <a:solidFill>
              <a:srgbClr val="EEF3F9"/>
            </a:solidFill>
            <a:prstDash val="solid"/>
          </a:ln>
        </p:spPr>
      </p:sp>
      <p:sp>
        <p:nvSpPr>
          <p:cNvPr id="14" name="Shape 10"/>
          <p:cNvSpPr/>
          <p:nvPr/>
        </p:nvSpPr>
        <p:spPr>
          <a:xfrm>
            <a:off x="640080" y="3291840"/>
            <a:ext cx="731520" cy="73152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815645" y="3467405"/>
            <a:ext cx="380390" cy="380390"/>
          </a:xfrm>
          <a:prstGeom prst="rect">
            <a:avLst/>
          </a:prstGeom>
        </p:spPr>
      </p:pic>
      <p:sp>
        <p:nvSpPr>
          <p:cNvPr id="16" name="Text 11"/>
          <p:cNvSpPr txBox="1"/>
          <p:nvPr/>
        </p:nvSpPr>
        <p:spPr>
          <a:xfrm>
            <a:off x="155448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A3 poster</a:t>
            </a:r>
            <a:endParaRPr lang="en-US" sz="1600" dirty="0"/>
          </a:p>
        </p:txBody>
      </p:sp>
      <p:sp>
        <p:nvSpPr>
          <p:cNvPr id="17" name="Text 12"/>
          <p:cNvSpPr txBox="1"/>
          <p:nvPr/>
        </p:nvSpPr>
        <p:spPr>
          <a:xfrm>
            <a:off x="155448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VIT template, every box filled; print-ready A3 PDF.</a:t>
            </a:r>
            <a:endParaRPr lang="en-US" sz="1250" dirty="0"/>
          </a:p>
        </p:txBody>
      </p:sp>
      <p:sp>
        <p:nvSpPr>
          <p:cNvPr id="18" name="card"/>
          <p:cNvSpPr/>
          <p:nvPr/>
        </p:nvSpPr>
        <p:spPr>
          <a:xfrm>
            <a:off x="6126480" y="2880360"/>
            <a:ext cx="5486400" cy="1554480"/>
          </a:xfrm>
          <a:prstGeom prst="roundRect">
            <a:avLst>
              <a:gd name="adj" fmla="val 4706"/>
            </a:avLst>
          </a:prstGeom>
          <a:solidFill>
            <a:srgbClr val="EEF3F9"/>
          </a:solidFill>
          <a:ln w="12700">
            <a:solidFill>
              <a:srgbClr val="EEF3F9"/>
            </a:solidFill>
            <a:prstDash val="solid"/>
          </a:ln>
        </p:spPr>
      </p:sp>
      <p:sp>
        <p:nvSpPr>
          <p:cNvPr id="19" name="Shape 14"/>
          <p:cNvSpPr/>
          <p:nvPr/>
        </p:nvSpPr>
        <p:spPr>
          <a:xfrm>
            <a:off x="6309360" y="3291840"/>
            <a:ext cx="731520" cy="731520"/>
          </a:xfrm>
          <a:prstGeom prst="ellipse">
            <a:avLst/>
          </a:prstGeom>
          <a:solidFill>
            <a:srgbClr val="4A3AA7"/>
          </a:solidFill>
          <a:ln w="12700">
            <a:solidFill>
              <a:srgbClr val="4A3AA7"/>
            </a:solidFill>
            <a:prstDash val="solid"/>
          </a:ln>
        </p:spPr>
      </p:sp>
      <p:pic>
        <p:nvPicPr>
          <p:cNvPr id="20" name="Image 3" descr="preencoded.png">    </p:cNvPr>
          <p:cNvPicPr>
            <a:picLocks noChangeAspect="1"/>
          </p:cNvPicPr>
          <p:nvPr/>
        </p:nvPicPr>
        <p:blipFill>
          <a:blip r:embed="rId4"/>
          <a:stretch>
            <a:fillRect/>
          </a:stretch>
        </p:blipFill>
        <p:spPr>
          <a:xfrm>
            <a:off x="6484925" y="3467405"/>
            <a:ext cx="380390" cy="380390"/>
          </a:xfrm>
          <a:prstGeom prst="rect">
            <a:avLst/>
          </a:prstGeom>
        </p:spPr>
      </p:pic>
      <p:sp>
        <p:nvSpPr>
          <p:cNvPr id="21" name="Text 15"/>
          <p:cNvSpPr txBox="1"/>
          <p:nvPr/>
        </p:nvSpPr>
        <p:spPr>
          <a:xfrm>
            <a:off x="7223760" y="299008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Open repository</a:t>
            </a:r>
            <a:endParaRPr lang="en-US" sz="1600" dirty="0"/>
          </a:p>
        </p:txBody>
      </p:sp>
      <p:sp>
        <p:nvSpPr>
          <p:cNvPr id="22" name="Text 16"/>
          <p:cNvSpPr txBox="1"/>
          <p:nvPr/>
        </p:nvSpPr>
        <p:spPr>
          <a:xfrm>
            <a:off x="7223760" y="338328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github.com/Ivxn404/semantic-decoding-tribe-inversion: all scripts, logged results, figures, demo video, verification results; MIT-licensed code.</a:t>
            </a:r>
            <a:endParaRPr lang="en-US" sz="1250" dirty="0"/>
          </a:p>
        </p:txBody>
      </p:sp>
      <p:sp>
        <p:nvSpPr>
          <p:cNvPr id="23" name="card"/>
          <p:cNvSpPr/>
          <p:nvPr/>
        </p:nvSpPr>
        <p:spPr>
          <a:xfrm>
            <a:off x="457200" y="4572000"/>
            <a:ext cx="5486400" cy="1554480"/>
          </a:xfrm>
          <a:prstGeom prst="roundRect">
            <a:avLst>
              <a:gd name="adj" fmla="val 4706"/>
            </a:avLst>
          </a:prstGeom>
          <a:solidFill>
            <a:srgbClr val="EEF3F9"/>
          </a:solidFill>
          <a:ln w="12700">
            <a:solidFill>
              <a:srgbClr val="EEF3F9"/>
            </a:solidFill>
            <a:prstDash val="solid"/>
          </a:ln>
        </p:spPr>
      </p:sp>
      <p:sp>
        <p:nvSpPr>
          <p:cNvPr id="24" name="Shape 18"/>
          <p:cNvSpPr/>
          <p:nvPr/>
        </p:nvSpPr>
        <p:spPr>
          <a:xfrm>
            <a:off x="640080" y="4983480"/>
            <a:ext cx="731520" cy="731520"/>
          </a:xfrm>
          <a:prstGeom prst="ellipse">
            <a:avLst/>
          </a:prstGeom>
          <a:solidFill>
            <a:srgbClr val="EB6834"/>
          </a:solidFill>
          <a:ln w="12700">
            <a:solidFill>
              <a:srgbClr val="EB6834"/>
            </a:solidFill>
            <a:prstDash val="solid"/>
          </a:ln>
        </p:spPr>
      </p:sp>
      <p:pic>
        <p:nvPicPr>
          <p:cNvPr id="25" name="Image 4" descr="preencoded.png">    </p:cNvPr>
          <p:cNvPicPr>
            <a:picLocks noChangeAspect="1"/>
          </p:cNvPicPr>
          <p:nvPr/>
        </p:nvPicPr>
        <p:blipFill>
          <a:blip r:embed="rId5"/>
          <a:stretch>
            <a:fillRect/>
          </a:stretch>
        </p:blipFill>
        <p:spPr>
          <a:xfrm>
            <a:off x="815645" y="5159045"/>
            <a:ext cx="380390" cy="380390"/>
          </a:xfrm>
          <a:prstGeom prst="rect">
            <a:avLst/>
          </a:prstGeom>
        </p:spPr>
      </p:pic>
      <p:sp>
        <p:nvSpPr>
          <p:cNvPr id="26" name="Text 19"/>
          <p:cNvSpPr txBox="1"/>
          <p:nvPr/>
        </p:nvSpPr>
        <p:spPr>
          <a:xfrm>
            <a:off x="155448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Four Colab notebooks</a:t>
            </a:r>
            <a:endParaRPr lang="en-US" sz="1600" dirty="0"/>
          </a:p>
        </p:txBody>
      </p:sp>
      <p:sp>
        <p:nvSpPr>
          <p:cNvPr id="27" name="Text 20"/>
          <p:cNvSpPr txBox="1"/>
          <p:nvPr/>
        </p:nvSpPr>
        <p:spPr>
          <a:xfrm>
            <a:off x="155448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Demo &amp; synthetic suite · real fMRI (text + audio) · 10-minute live demo on TRIBE v2 · verification tests.</a:t>
            </a:r>
            <a:endParaRPr lang="en-US" sz="1250" dirty="0"/>
          </a:p>
        </p:txBody>
      </p:sp>
      <p:sp>
        <p:nvSpPr>
          <p:cNvPr id="28" name="card"/>
          <p:cNvSpPr/>
          <p:nvPr/>
        </p:nvSpPr>
        <p:spPr>
          <a:xfrm>
            <a:off x="6126480" y="4572000"/>
            <a:ext cx="5486400" cy="1554480"/>
          </a:xfrm>
          <a:prstGeom prst="roundRect">
            <a:avLst>
              <a:gd name="adj" fmla="val 4706"/>
            </a:avLst>
          </a:prstGeom>
          <a:solidFill>
            <a:srgbClr val="EEF3F9"/>
          </a:solidFill>
          <a:ln w="12700">
            <a:solidFill>
              <a:srgbClr val="EEF3F9"/>
            </a:solidFill>
            <a:prstDash val="solid"/>
          </a:ln>
        </p:spPr>
      </p:sp>
      <p:sp>
        <p:nvSpPr>
          <p:cNvPr id="29" name="Shape 22"/>
          <p:cNvSpPr/>
          <p:nvPr/>
        </p:nvSpPr>
        <p:spPr>
          <a:xfrm>
            <a:off x="6309360" y="4983480"/>
            <a:ext cx="731520" cy="731520"/>
          </a:xfrm>
          <a:prstGeom prst="ellipse">
            <a:avLst/>
          </a:prstGeom>
          <a:solidFill>
            <a:srgbClr val="EDA100"/>
          </a:solidFill>
          <a:ln w="12700">
            <a:solidFill>
              <a:srgbClr val="EDA100"/>
            </a:solidFill>
            <a:prstDash val="solid"/>
          </a:ln>
        </p:spPr>
      </p:sp>
      <p:pic>
        <p:nvPicPr>
          <p:cNvPr id="30" name="Image 5" descr="preencoded.png">    </p:cNvPr>
          <p:cNvPicPr>
            <a:picLocks noChangeAspect="1"/>
          </p:cNvPicPr>
          <p:nvPr/>
        </p:nvPicPr>
        <p:blipFill>
          <a:blip r:embed="rId6"/>
          <a:stretch>
            <a:fillRect/>
          </a:stretch>
        </p:blipFill>
        <p:spPr>
          <a:xfrm>
            <a:off x="6484925" y="5159045"/>
            <a:ext cx="380390" cy="380390"/>
          </a:xfrm>
          <a:prstGeom prst="rect">
            <a:avLst/>
          </a:prstGeom>
        </p:spPr>
      </p:pic>
      <p:sp>
        <p:nvSpPr>
          <p:cNvPr id="31" name="Text 23"/>
          <p:cNvSpPr txBox="1"/>
          <p:nvPr/>
        </p:nvSpPr>
        <p:spPr>
          <a:xfrm>
            <a:off x="7223760" y="4681728"/>
            <a:ext cx="420624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Interactive live demo</a:t>
            </a:r>
            <a:endParaRPr lang="en-US" sz="1600" dirty="0"/>
          </a:p>
        </p:txBody>
      </p:sp>
      <p:sp>
        <p:nvSpPr>
          <p:cNvPr id="32" name="Text 24"/>
          <p:cNvSpPr txBox="1"/>
          <p:nvPr/>
        </p:nvSpPr>
        <p:spPr>
          <a:xfrm>
            <a:off x="7223760" y="5074920"/>
            <a:ext cx="4251960" cy="1005840"/>
          </a:xfrm>
          <a:prstGeom prst="rect">
            <a:avLst/>
          </a:prstGeom>
          <a:noFill/>
          <a:ln/>
        </p:spPr>
        <p:txBody>
          <a:bodyPr wrap="square" lIns="0" tIns="0" rIns="0" bIns="0" rtlCol="0" anchor="t"/>
          <a:lstStyle/>
          <a:p>
            <a:pPr indent="0" marL="0">
              <a:buNone/>
            </a:pPr>
            <a:r>
              <a:rPr lang="en-US" sz="1250" dirty="0">
                <a:solidFill>
                  <a:srgbClr val="0B0B0B"/>
                </a:solidFill>
                <a:latin typeface="Calibri" pitchFamily="34" charset="0"/>
                <a:ea typeface="Calibri" pitchFamily="34" charset="-122"/>
                <a:cs typeface="Calibri" pitchFamily="34" charset="-120"/>
              </a:rPr>
              <a:t>Ten-scene presenter page: 3-D cortex, in-browser inversion lab, real-run replay, findings, networks, real-fMRI ranking; works offline.</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Live demonstration</a:t>
            </a:r>
            <a:endParaRPr lang="en-US" sz="3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5029200"/>
                <a:gridCol w="137160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Scene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the panel sees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Question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Rotating cortex coloured by TRIBE v2's measured text / audio / video sensitivity</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Data · Why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Clickable training and test datasets; fMRI vs simulated EEG at 32 / 64 / 128 electrodes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Live lab</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small encoder inverted in the browser: starts, spread, noise, observed cortex, prior;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run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Replay of three starts through frozen TRIBE v2: target, prediction and R² maps on the cortex</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recorded,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Findings · Regions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Five findings incl. verified barriers; clickable networks with recovery vs random</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interactive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Real fMRI</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Lag, encoding and identification charts; held-out segments ranked among 45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animated, real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Colab Live_Demo</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real 177 M model inverted on a T4 in ≈ 3 min, with ridge test and sensitivity probe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computed live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pic>
        <p:nvPicPr>
          <p:cNvPr id="4" name="Image 0" descr="/home/claude/work/deck/assets_deck/repo_qr.png">    </p:cNvPr>
          <p:cNvPicPr>
            <a:picLocks noChangeAspect="1"/>
          </p:cNvPicPr>
          <p:nvPr/>
        </p:nvPicPr>
        <p:blipFill>
          <a:blip r:embed="rId1"/>
          <a:stretch>
            <a:fillRect/>
          </a:stretch>
        </p:blipFill>
        <p:spPr>
          <a:xfrm>
            <a:off x="9076488" y="1280160"/>
            <a:ext cx="2512464" cy="2743200"/>
          </a:xfrm>
          <a:prstGeom prst="rect">
            <a:avLst/>
          </a:prstGeom>
        </p:spPr>
      </p:pic>
      <p:sp>
        <p:nvSpPr>
          <p:cNvPr id="5" name="Text 1"/>
          <p:cNvSpPr txBox="1"/>
          <p:nvPr/>
        </p:nvSpPr>
        <p:spPr>
          <a:xfrm>
            <a:off x="8961120" y="4114800"/>
            <a:ext cx="2743200" cy="457200"/>
          </a:xfrm>
          <a:prstGeom prst="rect">
            <a:avLst/>
          </a:prstGeom>
          <a:noFill/>
          <a:ln/>
        </p:spPr>
        <p:txBody>
          <a:bodyPr wrap="square" lIns="0" tIns="0" rIns="0" bIns="0" rtlCol="0" anchor="t"/>
          <a:lstStyle/>
          <a:p>
            <a:pPr algn="ctr" indent="0" marL="0">
              <a:buNone/>
            </a:pPr>
            <a:r>
              <a:rPr lang="en-US" sz="1250" dirty="0">
                <a:solidFill>
                  <a:srgbClr val="52514E"/>
                </a:solidFill>
                <a:latin typeface="Calibri" pitchFamily="34" charset="0"/>
                <a:ea typeface="Calibri" pitchFamily="34" charset="-122"/>
                <a:cs typeface="Calibri" pitchFamily="34" charset="-120"/>
              </a:rPr>
              <a:t>Repository, demo page and notebooks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Schedule and milestones: complete</a:t>
            </a:r>
            <a:endParaRPr lang="en-US" sz="3000" dirty="0"/>
          </a:p>
        </p:txBody>
      </p:sp>
      <p:sp>
        <p:nvSpPr>
          <p:cNvPr id="3" name="Text 1"/>
          <p:cNvSpPr txBox="1"/>
          <p:nvPr/>
        </p:nvSpPr>
        <p:spPr>
          <a:xfrm>
            <a:off x="420624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667512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9144000" y="1234440"/>
            <a:ext cx="2468880"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7" name="Shape 5"/>
          <p:cNvSpPr/>
          <p:nvPr/>
        </p:nvSpPr>
        <p:spPr>
          <a:xfrm>
            <a:off x="4206240" y="1728216"/>
            <a:ext cx="7406640" cy="347472"/>
          </a:xfrm>
          <a:prstGeom prst="rect">
            <a:avLst/>
          </a:prstGeom>
          <a:solidFill>
            <a:srgbClr val="F3F5F8"/>
          </a:solidFill>
          <a:ln w="12700">
            <a:solidFill>
              <a:srgbClr val="F3F5F8"/>
            </a:solidFill>
            <a:prstDash val="solid"/>
          </a:ln>
        </p:spPr>
      </p:sp>
      <p:sp>
        <p:nvSpPr>
          <p:cNvPr id="8" name="Shape 6"/>
          <p:cNvSpPr/>
          <p:nvPr/>
        </p:nvSpPr>
        <p:spPr>
          <a:xfrm>
            <a:off x="4206240" y="1728216"/>
            <a:ext cx="1728216" cy="347472"/>
          </a:xfrm>
          <a:prstGeom prst="roundRect">
            <a:avLst>
              <a:gd name="adj" fmla="val 26316"/>
            </a:avLst>
          </a:prstGeom>
          <a:solidFill>
            <a:srgbClr val="1BAF7A"/>
          </a:solidFill>
          <a:ln w="12700">
            <a:solidFill>
              <a:srgbClr val="1BAF7A"/>
            </a:solidFill>
            <a:prstDash val="solid"/>
          </a:ln>
        </p:spPr>
      </p:sp>
      <p:sp>
        <p:nvSpPr>
          <p:cNvPr id="9" name="Text 7"/>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0" name="Shape 8"/>
          <p:cNvSpPr/>
          <p:nvPr/>
        </p:nvSpPr>
        <p:spPr>
          <a:xfrm>
            <a:off x="4206240" y="2295144"/>
            <a:ext cx="7406640" cy="347472"/>
          </a:xfrm>
          <a:prstGeom prst="rect">
            <a:avLst/>
          </a:prstGeom>
          <a:solidFill>
            <a:srgbClr val="F3F5F8"/>
          </a:solidFill>
          <a:ln w="12700">
            <a:solidFill>
              <a:srgbClr val="F3F5F8"/>
            </a:solidFill>
            <a:prstDash val="solid"/>
          </a:ln>
        </p:spPr>
      </p:sp>
      <p:sp>
        <p:nvSpPr>
          <p:cNvPr id="11" name="Shape 9"/>
          <p:cNvSpPr/>
          <p:nvPr/>
        </p:nvSpPr>
        <p:spPr>
          <a:xfrm>
            <a:off x="5193792" y="2295144"/>
            <a:ext cx="1975104" cy="347472"/>
          </a:xfrm>
          <a:prstGeom prst="roundRect">
            <a:avLst>
              <a:gd name="adj" fmla="val 26316"/>
            </a:avLst>
          </a:prstGeom>
          <a:solidFill>
            <a:srgbClr val="1BAF7A"/>
          </a:solidFill>
          <a:ln w="12700">
            <a:solidFill>
              <a:srgbClr val="1BAF7A"/>
            </a:solidFill>
            <a:prstDash val="solid"/>
          </a:ln>
        </p:spPr>
      </p:sp>
      <p:sp>
        <p:nvSpPr>
          <p:cNvPr id="12" name="Text 10"/>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3" name="Shape 11"/>
          <p:cNvSpPr/>
          <p:nvPr/>
        </p:nvSpPr>
        <p:spPr>
          <a:xfrm>
            <a:off x="4206240" y="2862072"/>
            <a:ext cx="7406640" cy="347472"/>
          </a:xfrm>
          <a:prstGeom prst="rect">
            <a:avLst/>
          </a:prstGeom>
          <a:solidFill>
            <a:srgbClr val="F3F5F8"/>
          </a:solidFill>
          <a:ln w="12700">
            <a:solidFill>
              <a:srgbClr val="F3F5F8"/>
            </a:solidFill>
            <a:prstDash val="solid"/>
          </a:ln>
        </p:spPr>
      </p:sp>
      <p:sp>
        <p:nvSpPr>
          <p:cNvPr id="14" name="Shape 12"/>
          <p:cNvSpPr/>
          <p:nvPr/>
        </p:nvSpPr>
        <p:spPr>
          <a:xfrm>
            <a:off x="6675120" y="2862072"/>
            <a:ext cx="1728216" cy="347472"/>
          </a:xfrm>
          <a:prstGeom prst="roundRect">
            <a:avLst>
              <a:gd name="adj" fmla="val 26316"/>
            </a:avLst>
          </a:prstGeom>
          <a:solidFill>
            <a:srgbClr val="1BAF7A"/>
          </a:solidFill>
          <a:ln w="12700">
            <a:solidFill>
              <a:srgbClr val="1BAF7A"/>
            </a:solidFill>
            <a:prstDash val="solid"/>
          </a:ln>
        </p:spPr>
      </p:sp>
      <p:sp>
        <p:nvSpPr>
          <p:cNvPr id="15" name="Text 13"/>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6" name="Shape 14"/>
          <p:cNvSpPr/>
          <p:nvPr/>
        </p:nvSpPr>
        <p:spPr>
          <a:xfrm>
            <a:off x="4206240" y="3429000"/>
            <a:ext cx="7406640" cy="347472"/>
          </a:xfrm>
          <a:prstGeom prst="rect">
            <a:avLst/>
          </a:prstGeom>
          <a:solidFill>
            <a:srgbClr val="F3F5F8"/>
          </a:solidFill>
          <a:ln w="12700">
            <a:solidFill>
              <a:srgbClr val="F3F5F8"/>
            </a:solidFill>
            <a:prstDash val="solid"/>
          </a:ln>
        </p:spPr>
      </p:sp>
      <p:sp>
        <p:nvSpPr>
          <p:cNvPr id="17" name="Shape 15"/>
          <p:cNvSpPr/>
          <p:nvPr/>
        </p:nvSpPr>
        <p:spPr>
          <a:xfrm>
            <a:off x="7662672" y="3429000"/>
            <a:ext cx="1975104" cy="347472"/>
          </a:xfrm>
          <a:prstGeom prst="roundRect">
            <a:avLst>
              <a:gd name="adj" fmla="val 26316"/>
            </a:avLst>
          </a:prstGeom>
          <a:solidFill>
            <a:srgbClr val="1BAF7A"/>
          </a:solidFill>
          <a:ln w="12700">
            <a:solidFill>
              <a:srgbClr val="1BAF7A"/>
            </a:solidFill>
            <a:prstDash val="solid"/>
          </a:ln>
        </p:spPr>
      </p:sp>
      <p:sp>
        <p:nvSpPr>
          <p:cNvPr id="18" name="Text 16"/>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19" name="Shape 17"/>
          <p:cNvSpPr/>
          <p:nvPr/>
        </p:nvSpPr>
        <p:spPr>
          <a:xfrm>
            <a:off x="4206240" y="3995928"/>
            <a:ext cx="7406640" cy="347472"/>
          </a:xfrm>
          <a:prstGeom prst="rect">
            <a:avLst/>
          </a:prstGeom>
          <a:solidFill>
            <a:srgbClr val="F3F5F8"/>
          </a:solidFill>
          <a:ln w="12700">
            <a:solidFill>
              <a:srgbClr val="F3F5F8"/>
            </a:solidFill>
            <a:prstDash val="solid"/>
          </a:ln>
        </p:spPr>
      </p:sp>
      <p:sp>
        <p:nvSpPr>
          <p:cNvPr id="20" name="Shape 18"/>
          <p:cNvSpPr/>
          <p:nvPr/>
        </p:nvSpPr>
        <p:spPr>
          <a:xfrm>
            <a:off x="9144000" y="3995928"/>
            <a:ext cx="987552" cy="347472"/>
          </a:xfrm>
          <a:prstGeom prst="roundRect">
            <a:avLst>
              <a:gd name="adj" fmla="val 26316"/>
            </a:avLst>
          </a:prstGeom>
          <a:solidFill>
            <a:srgbClr val="1BAF7A"/>
          </a:solidFill>
          <a:ln w="12700">
            <a:solidFill>
              <a:srgbClr val="1BAF7A"/>
            </a:solidFill>
            <a:prstDash val="solid"/>
          </a:ln>
        </p:spPr>
      </p:sp>
      <p:sp>
        <p:nvSpPr>
          <p:cNvPr id="21" name="Text 19"/>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Real-fMRI study</a:t>
            </a:r>
            <a:endParaRPr lang="en-US" sz="1350" dirty="0"/>
          </a:p>
        </p:txBody>
      </p:sp>
      <p:sp>
        <p:nvSpPr>
          <p:cNvPr id="22" name="Shape 20"/>
          <p:cNvSpPr/>
          <p:nvPr/>
        </p:nvSpPr>
        <p:spPr>
          <a:xfrm>
            <a:off x="4206240" y="4562856"/>
            <a:ext cx="7406640" cy="347472"/>
          </a:xfrm>
          <a:prstGeom prst="rect">
            <a:avLst/>
          </a:prstGeom>
          <a:solidFill>
            <a:srgbClr val="F3F5F8"/>
          </a:solidFill>
          <a:ln w="12700">
            <a:solidFill>
              <a:srgbClr val="F3F5F8"/>
            </a:solidFill>
            <a:prstDash val="solid"/>
          </a:ln>
        </p:spPr>
      </p:sp>
      <p:sp>
        <p:nvSpPr>
          <p:cNvPr id="23" name="Shape 21"/>
          <p:cNvSpPr/>
          <p:nvPr/>
        </p:nvSpPr>
        <p:spPr>
          <a:xfrm>
            <a:off x="9637776" y="4562856"/>
            <a:ext cx="1234440" cy="347472"/>
          </a:xfrm>
          <a:prstGeom prst="roundRect">
            <a:avLst>
              <a:gd name="adj" fmla="val 26316"/>
            </a:avLst>
          </a:prstGeom>
          <a:solidFill>
            <a:srgbClr val="1BAF7A"/>
          </a:solidFill>
          <a:ln w="12700">
            <a:solidFill>
              <a:srgbClr val="1BAF7A"/>
            </a:solidFill>
            <a:prstDash val="solid"/>
          </a:ln>
        </p:spPr>
      </p:sp>
      <p:sp>
        <p:nvSpPr>
          <p:cNvPr id="24" name="Text 22"/>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report, poster, demo, verification</a:t>
            </a:r>
            <a:endParaRPr lang="en-US" sz="1350" dirty="0"/>
          </a:p>
        </p:txBody>
      </p:sp>
      <p:sp>
        <p:nvSpPr>
          <p:cNvPr id="25" name="Shape 23"/>
          <p:cNvSpPr/>
          <p:nvPr/>
        </p:nvSpPr>
        <p:spPr>
          <a:xfrm>
            <a:off x="4206240" y="5129784"/>
            <a:ext cx="7406640" cy="347472"/>
          </a:xfrm>
          <a:prstGeom prst="rect">
            <a:avLst/>
          </a:prstGeom>
          <a:solidFill>
            <a:srgbClr val="F3F5F8"/>
          </a:solidFill>
          <a:ln w="12700">
            <a:solidFill>
              <a:srgbClr val="F3F5F8"/>
            </a:solidFill>
            <a:prstDash val="solid"/>
          </a:ln>
        </p:spPr>
      </p:sp>
      <p:sp>
        <p:nvSpPr>
          <p:cNvPr id="26" name="Shape 24"/>
          <p:cNvSpPr/>
          <p:nvPr/>
        </p:nvSpPr>
        <p:spPr>
          <a:xfrm>
            <a:off x="9884664" y="5129784"/>
            <a:ext cx="1728216" cy="347472"/>
          </a:xfrm>
          <a:prstGeom prst="roundRect">
            <a:avLst>
              <a:gd name="adj" fmla="val 26316"/>
            </a:avLst>
          </a:prstGeom>
          <a:solidFill>
            <a:srgbClr val="1BAF7A"/>
          </a:solidFill>
          <a:ln w="12700">
            <a:solidFill>
              <a:srgbClr val="1BAF7A"/>
            </a:solidFill>
            <a:prstDash val="solid"/>
          </a:ln>
        </p:spPr>
      </p:sp>
      <p:sp>
        <p:nvSpPr>
          <p:cNvPr id="27" name="Shape 25"/>
          <p:cNvSpPr/>
          <p:nvPr/>
        </p:nvSpPr>
        <p:spPr>
          <a:xfrm>
            <a:off x="10254996" y="1600200"/>
            <a:ext cx="914" cy="4069080"/>
          </a:xfrm>
          <a:prstGeom prst="line">
            <a:avLst/>
          </a:prstGeom>
          <a:noFill/>
          <a:ln w="19050">
            <a:solidFill>
              <a:srgbClr val="EB6834"/>
            </a:solidFill>
            <a:prstDash val="dash"/>
          </a:ln>
        </p:spPr>
      </p:sp>
      <p:sp>
        <p:nvSpPr>
          <p:cNvPr id="28" name="Text 26"/>
          <p:cNvSpPr txBox="1"/>
          <p:nvPr/>
        </p:nvSpPr>
        <p:spPr>
          <a:xfrm>
            <a:off x="9477756" y="5715000"/>
            <a:ext cx="1554480" cy="274320"/>
          </a:xfrm>
          <a:prstGeom prst="rect">
            <a:avLst/>
          </a:prstGeom>
          <a:noFill/>
          <a:ln/>
        </p:spPr>
        <p:txBody>
          <a:bodyPr wrap="square" lIns="0" tIns="0" rIns="0" bIns="0" rtlCol="0" anchor="t"/>
          <a:lstStyle/>
          <a:p>
            <a:pPr algn="ctr" indent="0" marL="0">
              <a:buNone/>
            </a:pPr>
            <a:r>
              <a:rPr lang="en-US" sz="1100" b="1" dirty="0">
                <a:solidFill>
                  <a:srgbClr val="EB6834"/>
                </a:solidFill>
                <a:latin typeface="Calibri" pitchFamily="34" charset="0"/>
                <a:ea typeface="Calibri" pitchFamily="34" charset="-122"/>
                <a:cs typeface="Calibri" pitchFamily="34" charset="-120"/>
              </a:rPr>
              <a:t>Review II · 14 Oct</a:t>
            </a:r>
            <a:endParaRPr lang="en-US" sz="1100" dirty="0"/>
          </a:p>
        </p:txBody>
      </p:sp>
      <p:sp>
        <p:nvSpPr>
          <p:cNvPr id="29" name="Shape 27"/>
          <p:cNvSpPr/>
          <p:nvPr/>
        </p:nvSpPr>
        <p:spPr>
          <a:xfrm>
            <a:off x="10674706" y="1600200"/>
            <a:ext cx="914" cy="4069080"/>
          </a:xfrm>
          <a:prstGeom prst="line">
            <a:avLst/>
          </a:prstGeom>
          <a:noFill/>
          <a:ln w="19050">
            <a:solidFill>
              <a:srgbClr val="4A3AA7"/>
            </a:solidFill>
            <a:prstDash val="dash"/>
          </a:ln>
        </p:spPr>
      </p:sp>
      <p:sp>
        <p:nvSpPr>
          <p:cNvPr id="30" name="Text 28"/>
          <p:cNvSpPr txBox="1"/>
          <p:nvPr/>
        </p:nvSpPr>
        <p:spPr>
          <a:xfrm>
            <a:off x="9897466" y="5989320"/>
            <a:ext cx="1554480" cy="274320"/>
          </a:xfrm>
          <a:prstGeom prst="rect">
            <a:avLst/>
          </a:prstGeom>
          <a:noFill/>
          <a:ln/>
        </p:spPr>
        <p:txBody>
          <a:bodyPr wrap="square" lIns="0" tIns="0" rIns="0" bIns="0" rtlCol="0" anchor="t"/>
          <a:lstStyle/>
          <a:p>
            <a:pPr algn="ctr" indent="0" marL="0">
              <a:buNone/>
            </a:pPr>
            <a:r>
              <a:rPr lang="en-US" sz="1100" b="1" dirty="0">
                <a:solidFill>
                  <a:srgbClr val="4A3AA7"/>
                </a:solidFill>
                <a:latin typeface="Calibri" pitchFamily="34" charset="0"/>
                <a:ea typeface="Calibri" pitchFamily="34" charset="-122"/>
                <a:cs typeface="Calibri" pitchFamily="34" charset="-120"/>
              </a:rPr>
              <a:t>Review III</a:t>
            </a:r>
            <a:endParaRPr lang="en-US" sz="1100" dirty="0"/>
          </a:p>
        </p:txBody>
      </p:sp>
      <p:sp>
        <p:nvSpPr>
          <p:cNvPr id="31" name="Shape 29"/>
          <p:cNvSpPr/>
          <p:nvPr/>
        </p:nvSpPr>
        <p:spPr>
          <a:xfrm>
            <a:off x="11440058" y="1600200"/>
            <a:ext cx="914" cy="4069080"/>
          </a:xfrm>
          <a:prstGeom prst="line">
            <a:avLst/>
          </a:prstGeom>
          <a:noFill/>
          <a:ln w="19050">
            <a:solidFill>
              <a:srgbClr val="13243B"/>
            </a:solidFill>
            <a:prstDash val="dash"/>
          </a:ln>
        </p:spPr>
      </p:sp>
      <p:sp>
        <p:nvSpPr>
          <p:cNvPr id="32" name="Text 30"/>
          <p:cNvSpPr txBox="1"/>
          <p:nvPr/>
        </p:nvSpPr>
        <p:spPr>
          <a:xfrm>
            <a:off x="10662818" y="5715000"/>
            <a:ext cx="1554480" cy="274320"/>
          </a:xfrm>
          <a:prstGeom prst="rect">
            <a:avLst/>
          </a:prstGeom>
          <a:noFill/>
          <a:ln/>
        </p:spPr>
        <p:txBody>
          <a:bodyPr wrap="square" lIns="0" tIns="0" rIns="0" bIns="0" rtlCol="0" anchor="t"/>
          <a:lstStyle/>
          <a:p>
            <a:pPr algn="ctr" indent="0" marL="0">
              <a:buNone/>
            </a:pPr>
            <a:r>
              <a:rPr lang="en-US" sz="1100" b="1" dirty="0">
                <a:solidFill>
                  <a:srgbClr val="13243B"/>
                </a:solidFill>
                <a:latin typeface="Calibri" pitchFamily="34" charset="0"/>
                <a:ea typeface="Calibri" pitchFamily="34" charset="-122"/>
                <a:cs typeface="Calibri" pitchFamily="34" charset="-120"/>
              </a:rPr>
              <a:t>Final · 29 Oct</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Cost analysis</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657600"/>
                <a:gridCol w="2377440"/>
                <a:gridCol w="1828800"/>
                <a:gridCol w="338328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Item</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Estimate in Report I (₹)</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Incurred (₹)</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Remark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Hosted GPU compute (subscription)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Free Colab T4 tier was sufficient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Additional on-demand GPU credits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4 000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Memory-saving changes avoided paid tiers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Cloud storage (≈ 200 GB)</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Free quotas and local storage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datasets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Open licence (OpenNeuro)</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Pretrained encoder weights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Open-weight, non-commercial licence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Documentation and reprographics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printing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binding, A3 poster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Contingency (≈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2 000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 required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14 500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printing only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Text 1"/>
          <p:cNvSpPr txBox="1"/>
          <p:nvPr/>
        </p:nvSpPr>
        <p:spPr>
          <a:xfrm>
            <a:off x="457200" y="5669280"/>
            <a:ext cx="1124712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Manpower: 580 planned person-hours (330 + 250), as in Report 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Individual contributions</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731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Abhranil Sarkar (23BML0077)</a:t>
            </a:r>
            <a:endParaRPr lang="en-US" sz="1900" dirty="0"/>
          </a:p>
        </p:txBody>
      </p:sp>
      <p:sp>
        <p:nvSpPr>
          <p:cNvPr id="5" name="Text 3"/>
          <p:cNvSpPr txBox="1"/>
          <p:nvPr/>
        </p:nvSpPr>
        <p:spPr>
          <a:xfrm>
            <a:off x="731520" y="1828800"/>
            <a:ext cx="5029200" cy="365760"/>
          </a:xfrm>
          <a:prstGeom prst="rect">
            <a:avLst/>
          </a:prstGeom>
          <a:noFill/>
          <a:ln/>
        </p:spPr>
        <p:txBody>
          <a:bodyPr wrap="square" lIns="0" tIns="0" rIns="0" bIns="0" rtlCol="0" anchor="t"/>
          <a:lstStyle/>
          <a:p>
            <a:pPr indent="0" marL="0">
              <a:buNone/>
            </a:pPr>
            <a:r>
              <a:rPr lang="en-US" sz="1400" b="1" dirty="0">
                <a:solidFill>
                  <a:srgbClr val="2A78D6"/>
                </a:solidFill>
                <a:latin typeface="Calibri" pitchFamily="34" charset="0"/>
                <a:ea typeface="Calibri" pitchFamily="34" charset="-122"/>
                <a:cs typeface="Calibri" pitchFamily="34" charset="-120"/>
              </a:rPr>
              <a:t>Computational track</a:t>
            </a:r>
            <a:endParaRPr lang="en-US" sz="1400" dirty="0"/>
          </a:p>
        </p:txBody>
      </p:sp>
      <p:sp>
        <p:nvSpPr>
          <p:cNvPr id="6" name="Text 4"/>
          <p:cNvSpPr txBox="1"/>
          <p:nvPr/>
        </p:nvSpPr>
        <p:spPr>
          <a:xfrm>
            <a:off x="731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Model instrumentation; the differentiable re-entry point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Inversion engine and optimisation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Synthetic and control experiments; verification tests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Real-fMRI pipeline: registration, surface projection, features, evaluation</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Figures, code release, live demo, manuscript and reports</a:t>
            </a:r>
            <a:endParaRPr lang="en-US" sz="1500" dirty="0"/>
          </a:p>
        </p:txBody>
      </p:sp>
      <p:sp>
        <p:nvSpPr>
          <p:cNvPr id="7" name="card"/>
          <p:cNvSpPr/>
          <p:nvPr/>
        </p:nvSpPr>
        <p:spPr>
          <a:xfrm>
            <a:off x="6172200" y="1234440"/>
            <a:ext cx="5532120" cy="4983480"/>
          </a:xfrm>
          <a:prstGeom prst="roundRect">
            <a:avLst>
              <a:gd name="adj" fmla="val 1468"/>
            </a:avLst>
          </a:prstGeom>
          <a:solidFill>
            <a:srgbClr val="EEF3F9"/>
          </a:solidFill>
          <a:ln w="12700">
            <a:solidFill>
              <a:srgbClr val="EEF3F9"/>
            </a:solidFill>
            <a:prstDash val="solid"/>
          </a:ln>
        </p:spPr>
      </p:sp>
      <p:sp>
        <p:nvSpPr>
          <p:cNvPr id="8" name="Text 6"/>
          <p:cNvSpPr txBox="1"/>
          <p:nvPr/>
        </p:nvSpPr>
        <p:spPr>
          <a:xfrm>
            <a:off x="6446520" y="1371600"/>
            <a:ext cx="5029200" cy="45720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Tanisha Choudhuri (23BML0081)</a:t>
            </a:r>
            <a:endParaRPr lang="en-US" sz="1900" dirty="0"/>
          </a:p>
        </p:txBody>
      </p:sp>
      <p:sp>
        <p:nvSpPr>
          <p:cNvPr id="9" name="Text 7"/>
          <p:cNvSpPr txBox="1"/>
          <p:nvPr/>
        </p:nvSpPr>
        <p:spPr>
          <a:xfrm>
            <a:off x="6446520" y="1828800"/>
            <a:ext cx="5029200" cy="365760"/>
          </a:xfrm>
          <a:prstGeom prst="rect">
            <a:avLst/>
          </a:prstGeom>
          <a:noFill/>
          <a:ln/>
        </p:spPr>
        <p:txBody>
          <a:bodyPr wrap="square" lIns="0" tIns="0" rIns="0" bIns="0" rtlCol="0" anchor="t"/>
          <a:lstStyle/>
          <a:p>
            <a:pPr indent="0" marL="0">
              <a:buNone/>
            </a:pPr>
            <a:r>
              <a:rPr lang="en-US" sz="1400" b="1" dirty="0">
                <a:solidFill>
                  <a:srgbClr val="4A3AA7"/>
                </a:solidFill>
                <a:latin typeface="Calibri" pitchFamily="34" charset="0"/>
                <a:ea typeface="Calibri" pitchFamily="34" charset="-122"/>
                <a:cs typeface="Calibri" pitchFamily="34" charset="-120"/>
              </a:rPr>
              <a:t>Neurobiological track</a:t>
            </a:r>
            <a:endParaRPr lang="en-US" sz="1400" dirty="0"/>
          </a:p>
        </p:txBody>
      </p:sp>
      <p:sp>
        <p:nvSpPr>
          <p:cNvPr id="10" name="Text 8"/>
          <p:cNvSpPr txBox="1"/>
          <p:nvPr/>
        </p:nvSpPr>
        <p:spPr>
          <a:xfrm>
            <a:off x="6446520" y="2331720"/>
            <a:ext cx="5029200" cy="37490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Functional neuroanatomy; six networks from the Destrieux atlas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Curation of the LeBel dataset</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Interpretation of the regional and real-data findings</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Ethics and SDG framing</a:t>
            </a:r>
            <a:endParaRPr lang="en-US" sz="1500" dirty="0"/>
          </a:p>
          <a:p>
            <a:pPr marL="228600" indent="-228600">
              <a:spcAft>
                <a:spcPts val="600"/>
              </a:spcAft>
              <a:buSzPct val="100000"/>
              <a:buChar char="•"/>
            </a:pPr>
            <a:r>
              <a:rPr lang="en-US" sz="1500" dirty="0">
                <a:solidFill>
                  <a:srgbClr val="0B0B0B"/>
                </a:solidFill>
                <a:latin typeface="Calibri" pitchFamily="34" charset="0"/>
                <a:ea typeface="Calibri" pitchFamily="34" charset="-122"/>
                <a:cs typeface="Calibri" pitchFamily="34" charset="-120"/>
              </a:rPr>
              <a:t>Reports, reviews and the poster</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PO and PSO mapping</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291840"/>
                <a:gridCol w="795528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Outcome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Justification from this project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 Engineering knowledge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Linear algebra, optimisation and inverse-problem theory applied to a 177 M-parameter neural operator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PO2 Problem analysis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Decoding formulated as an ill-posed inverse problem; causes of incomplete recovery separated by falsifiable tests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PO3 Design of solutions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Inversion pipeline, its controls and the real-fMRI surface projection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PO4 Investigation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Controlled experiments with exact ground truth, matched random controls, verification re-run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PO5 Modern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PyTorch, TRIBE v2, ANTs, nilearn, GPU (Colab) computing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PO6, PO8 Society and ethics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Mental-privacy and clinical-use implications; licences and data-use terms respected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PO9, PO10 Teamwork, communication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Two-track team; IEEE manuscript, report, poster, reviews, live demo</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PO11 Project management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Seven-stage schedule met at ₹0 compute cost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PO12 Life-long learning</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Self-taught foundation models and neuroimaging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7548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PSO2, PSO3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Analysis and imaging of biosignals (fMRI) with modern computational tools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WP and WK mapping (complex engineering problem)</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108960"/>
                <a:gridCol w="813816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Attribute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the project meets it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WP1 Depth of knowledge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Neuroscience, fMRI physics, deep learning and inverse-problem theory together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WP2 Conflicting requirements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Decoding fidelity vs non-invasive, low-cost acquisition vs mental privacy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WP3 Depth of analysis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closed-form inverse; non-convexity separated from information loss by forward-only tests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WP4 Familiarity of issues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Slow, noisy, blurred BOLD; no ground truth in real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WP7 Interdependence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Anatomical ROI definition and computation depend on each other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WK3 / WK4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Signals and systems; inverse problems and conditioning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WK5 / WK6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Design of the inversion and projection pipeline; modern computational tools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WK8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Current research literature (2023–2026 encoders and decoders)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Social and environmental impact</a:t>
            </a:r>
            <a:endParaRPr lang="en-US" sz="3000" dirty="0"/>
          </a:p>
        </p:txBody>
      </p:sp>
      <p:sp>
        <p:nvSpPr>
          <p:cNvPr id="3" name="card"/>
          <p:cNvSpPr/>
          <p:nvPr/>
        </p:nvSpPr>
        <p:spPr>
          <a:xfrm>
            <a:off x="457200" y="1234440"/>
            <a:ext cx="553212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Social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Concerns people who keep comprehension but lose speech; measuring what fMRI decoding can and cannot recover directs effort towards approaches that can work and away from over-promising.</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Mental privacy: a near-perfect encoder identifies which known moment was heard but does not reconstruct the representation, evidence for neural-data policy (OECD 2019, UNESCO 2025). No new human data collected.</a:t>
            </a:r>
            <a:endParaRPr lang="en-US" sz="1500" dirty="0"/>
          </a:p>
        </p:txBody>
      </p:sp>
      <p:sp>
        <p:nvSpPr>
          <p:cNvPr id="5" name="card"/>
          <p:cNvSpPr/>
          <p:nvPr/>
        </p:nvSpPr>
        <p:spPr>
          <a:xfrm>
            <a:off x="6172200" y="1234440"/>
            <a:ext cx="5532120" cy="4983480"/>
          </a:xfrm>
          <a:prstGeom prst="roundRect">
            <a:avLst>
              <a:gd name="adj" fmla="val 1468"/>
            </a:avLst>
          </a:prstGeom>
          <a:solidFill>
            <a:srgbClr val="D9F2E8"/>
          </a:solidFill>
          <a:ln w="12700">
            <a:solidFill>
              <a:srgbClr val="D9F2E8"/>
            </a:solidFill>
            <a:prstDash val="solid"/>
          </a:ln>
        </p:spPr>
      </p:sp>
      <p:sp>
        <p:nvSpPr>
          <p:cNvPr id="6" name="Text 4"/>
          <p:cNvSpPr txBox="1"/>
          <p:nvPr/>
        </p:nvSpPr>
        <p:spPr>
          <a:xfrm>
            <a:off x="6400800" y="1371600"/>
            <a:ext cx="5120640" cy="4754880"/>
          </a:xfrm>
          <a:prstGeom prst="rect">
            <a:avLst/>
          </a:prstGeom>
          <a:noFill/>
          <a:ln/>
        </p:spPr>
        <p:txBody>
          <a:bodyPr wrap="square" lIns="0" tIns="0" rIns="0" bIns="0" rtlCol="0" anchor="t"/>
          <a:lstStyle/>
          <a:p>
            <a:pPr indent="0" marL="0">
              <a:buNone/>
            </a:pPr>
            <a:r>
              <a:rPr lang="en-US" sz="1900" b="1" dirty="0">
                <a:solidFill>
                  <a:srgbClr val="13243B"/>
                </a:solidFill>
                <a:latin typeface="Calibri" pitchFamily="34" charset="0"/>
                <a:ea typeface="Calibri" pitchFamily="34" charset="-122"/>
                <a:cs typeface="Calibri" pitchFamily="34" charset="-120"/>
              </a:rPr>
              <a:t>Environmental</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Re-used a pretrained model instead of training a foundation encoder, avoiding its large energy cost.</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All computation ran on one shared cloud GPU and CPUs for a modest number of GPU-hours; the public release lets others reproduce results without re-running everything.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34440"/>
            <a:ext cx="11064240" cy="5029200"/>
          </a:xfrm>
          <a:prstGeom prst="rect">
            <a:avLst/>
          </a:prstGeom>
          <a:noFill/>
          <a:ln/>
        </p:spPr>
        <p:txBody>
          <a:bodyPr wrap="square" lIns="0" tIns="0" rIns="0" bIns="0" rtlCol="0" anchor="t"/>
          <a:lstStyle/>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Regional inversion uses one ground truth and one budget (8 000 steps, CPU); comparisons are internal to that run, and faster convergence cannot yet be separated from a better optimum.</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needs held-out stories from more subjects.</a:t>
            </a:r>
            <a:endParaRPr lang="en-US" sz="1450" dirty="0"/>
          </a:p>
          <a:p>
            <a:pPr marL="228600" indent="-228600">
              <a:spcAft>
                <a:spcPts val="600"/>
              </a:spcAft>
              <a:buSzPct val="100000"/>
              <a:buChar char="•"/>
            </a:pPr>
            <a:r>
              <a:rPr lang="en-US" sz="1450" dirty="0">
                <a:solidFill>
                  <a:srgbClr val="0B0B0B"/>
                </a:solidFill>
                <a:latin typeface="Calibri" pitchFamily="34" charset="0"/>
                <a:ea typeface="Calibri" pitchFamily="34" charset="-122"/>
                <a:cs typeface="Calibri" pitchFamily="34" charset="-120"/>
              </a:rPr>
              <a:t>Corrected barrier test on four ground truths with eight starts each; original perturbation test withdrawn.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Future work</a:t>
            </a:r>
            <a:endParaRPr lang="en-US" sz="3000" dirty="0"/>
          </a:p>
        </p:txBody>
      </p:sp>
      <p:sp>
        <p:nvSpPr>
          <p:cNvPr id="3" name="Shape 1"/>
          <p:cNvSpPr/>
          <p:nvPr/>
        </p:nvSpPr>
        <p:spPr>
          <a:xfrm>
            <a:off x="640080" y="1344168"/>
            <a:ext cx="566928" cy="566928"/>
          </a:xfrm>
          <a:prstGeom prst="ellipse">
            <a:avLst/>
          </a:prstGeom>
          <a:solidFill>
            <a:srgbClr val="13243B"/>
          </a:solidFill>
          <a:ln w="12700">
            <a:solidFill>
              <a:srgbClr val="13243B"/>
            </a:solidFill>
            <a:prstDash val="solid"/>
          </a:ln>
        </p:spPr>
      </p:sp>
      <p:sp>
        <p:nvSpPr>
          <p:cNvPr id="4" name="Text 2"/>
          <p:cNvSpPr txBox="1"/>
          <p:nvPr/>
        </p:nvSpPr>
        <p:spPr>
          <a:xfrm>
            <a:off x="640080" y="1344168"/>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463040" y="1234440"/>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Real data at scale</a:t>
            </a:r>
            <a:endParaRPr lang="en-US" sz="1700" dirty="0"/>
          </a:p>
        </p:txBody>
      </p:sp>
      <p:sp>
        <p:nvSpPr>
          <p:cNvPr id="6" name="Text 4"/>
          <p:cNvSpPr txBox="1"/>
          <p:nvPr/>
        </p:nvSpPr>
        <p:spPr>
          <a:xfrm>
            <a:off x="4663440" y="1234440"/>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Inversion across all eight LeBel subjects; per-network real-data test on genuinely held-out stories.</a:t>
            </a:r>
            <a:endParaRPr lang="en-US" sz="1450" dirty="0"/>
          </a:p>
        </p:txBody>
      </p:sp>
      <p:sp>
        <p:nvSpPr>
          <p:cNvPr id="7" name="Shape 5"/>
          <p:cNvSpPr/>
          <p:nvPr/>
        </p:nvSpPr>
        <p:spPr>
          <a:xfrm>
            <a:off x="640080" y="2331720"/>
            <a:ext cx="566928" cy="566928"/>
          </a:xfrm>
          <a:prstGeom prst="ellipse">
            <a:avLst/>
          </a:prstGeom>
          <a:solidFill>
            <a:srgbClr val="2A78D6"/>
          </a:solidFill>
          <a:ln w="12700">
            <a:solidFill>
              <a:srgbClr val="2A78D6"/>
            </a:solidFill>
            <a:prstDash val="solid"/>
          </a:ln>
        </p:spPr>
      </p:sp>
      <p:sp>
        <p:nvSpPr>
          <p:cNvPr id="8" name="Text 6"/>
          <p:cNvSpPr txBox="1"/>
          <p:nvPr/>
        </p:nvSpPr>
        <p:spPr>
          <a:xfrm>
            <a:off x="640080" y="23317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7"/>
          <p:cNvSpPr txBox="1"/>
          <p:nvPr/>
        </p:nvSpPr>
        <p:spPr>
          <a:xfrm>
            <a:off x="1463040" y="2221992"/>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Better search</a:t>
            </a:r>
            <a:endParaRPr lang="en-US" sz="1700" dirty="0"/>
          </a:p>
        </p:txBody>
      </p:sp>
      <p:sp>
        <p:nvSpPr>
          <p:cNvPr id="10" name="Text 8"/>
          <p:cNvSpPr txBox="1"/>
          <p:nvPr/>
        </p:nvSpPr>
        <p:spPr>
          <a:xfrm>
            <a:off x="4663440" y="2221992"/>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Optimisers and priors matched to the operator's weak directions; restarts and ensembling over minima; loss re-weighting away from high-gain, low-diversity regions.</a:t>
            </a:r>
            <a:endParaRPr lang="en-US" sz="1450" dirty="0"/>
          </a:p>
        </p:txBody>
      </p:sp>
      <p:sp>
        <p:nvSpPr>
          <p:cNvPr id="11" name="Shape 9"/>
          <p:cNvSpPr/>
          <p:nvPr/>
        </p:nvSpPr>
        <p:spPr>
          <a:xfrm>
            <a:off x="640080" y="3319272"/>
            <a:ext cx="566928" cy="566928"/>
          </a:xfrm>
          <a:prstGeom prst="ellipse">
            <a:avLst/>
          </a:prstGeom>
          <a:solidFill>
            <a:srgbClr val="13243B"/>
          </a:solidFill>
          <a:ln w="12700">
            <a:solidFill>
              <a:srgbClr val="13243B"/>
            </a:solidFill>
            <a:prstDash val="solid"/>
          </a:ln>
        </p:spPr>
      </p:sp>
      <p:sp>
        <p:nvSpPr>
          <p:cNvPr id="12" name="Text 10"/>
          <p:cNvSpPr txBox="1"/>
          <p:nvPr/>
        </p:nvSpPr>
        <p:spPr>
          <a:xfrm>
            <a:off x="640080" y="3319272"/>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3" name="Text 11"/>
          <p:cNvSpPr txBox="1"/>
          <p:nvPr/>
        </p:nvSpPr>
        <p:spPr>
          <a:xfrm>
            <a:off x="1463040" y="3209544"/>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Earlier entry point</a:t>
            </a:r>
            <a:endParaRPr lang="en-US" sz="1700" dirty="0"/>
          </a:p>
        </p:txBody>
      </p:sp>
      <p:sp>
        <p:nvSpPr>
          <p:cNvPr id="14" name="Text 12"/>
          <p:cNvSpPr txBox="1"/>
          <p:nvPr/>
        </p:nvSpPr>
        <p:spPr>
          <a:xfrm>
            <a:off x="4663440" y="3209544"/>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Invert the raw extractor features and add an explicit haemodynamic model.</a:t>
            </a:r>
            <a:endParaRPr lang="en-US" sz="1450" dirty="0"/>
          </a:p>
        </p:txBody>
      </p:sp>
      <p:sp>
        <p:nvSpPr>
          <p:cNvPr id="15" name="Shape 13"/>
          <p:cNvSpPr/>
          <p:nvPr/>
        </p:nvSpPr>
        <p:spPr>
          <a:xfrm>
            <a:off x="640080" y="4306824"/>
            <a:ext cx="566928" cy="566928"/>
          </a:xfrm>
          <a:prstGeom prst="ellipse">
            <a:avLst/>
          </a:prstGeom>
          <a:solidFill>
            <a:srgbClr val="2A78D6"/>
          </a:solidFill>
          <a:ln w="12700">
            <a:solidFill>
              <a:srgbClr val="2A78D6"/>
            </a:solidFill>
            <a:prstDash val="solid"/>
          </a:ln>
        </p:spPr>
      </p:sp>
      <p:sp>
        <p:nvSpPr>
          <p:cNvPr id="16" name="Text 14"/>
          <p:cNvSpPr txBox="1"/>
          <p:nvPr/>
        </p:nvSpPr>
        <p:spPr>
          <a:xfrm>
            <a:off x="640080" y="4306824"/>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7" name="Text 15"/>
          <p:cNvSpPr txBox="1"/>
          <p:nvPr/>
        </p:nvSpPr>
        <p:spPr>
          <a:xfrm>
            <a:off x="1463040" y="4197096"/>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Stricter statistics</a:t>
            </a:r>
            <a:endParaRPr lang="en-US" sz="1700" dirty="0"/>
          </a:p>
        </p:txBody>
      </p:sp>
      <p:sp>
        <p:nvSpPr>
          <p:cNvPr id="18" name="Text 16"/>
          <p:cNvSpPr txBox="1"/>
          <p:nvPr/>
        </p:nvSpPr>
        <p:spPr>
          <a:xfrm>
            <a:off x="4663440" y="4197096"/>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More ground truths and inits for the barrier test; spin-permutation nulls for regional z-scores; a converged second-order optimiser control.</a:t>
            </a:r>
            <a:endParaRPr lang="en-US" sz="1450" dirty="0"/>
          </a:p>
        </p:txBody>
      </p:sp>
      <p:sp>
        <p:nvSpPr>
          <p:cNvPr id="19" name="Shape 17"/>
          <p:cNvSpPr/>
          <p:nvPr/>
        </p:nvSpPr>
        <p:spPr>
          <a:xfrm>
            <a:off x="640080" y="5294376"/>
            <a:ext cx="566928" cy="566928"/>
          </a:xfrm>
          <a:prstGeom prst="ellipse">
            <a:avLst/>
          </a:prstGeom>
          <a:solidFill>
            <a:srgbClr val="13243B"/>
          </a:solidFill>
          <a:ln w="12700">
            <a:solidFill>
              <a:srgbClr val="13243B"/>
            </a:solidFill>
            <a:prstDash val="solid"/>
          </a:ln>
        </p:spPr>
      </p:sp>
      <p:sp>
        <p:nvSpPr>
          <p:cNvPr id="20" name="Text 18"/>
          <p:cNvSpPr txBox="1"/>
          <p:nvPr/>
        </p:nvSpPr>
        <p:spPr>
          <a:xfrm>
            <a:off x="640080" y="5294376"/>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1" name="Text 19"/>
          <p:cNvSpPr txBox="1"/>
          <p:nvPr/>
        </p:nvSpPr>
        <p:spPr>
          <a:xfrm>
            <a:off x="1463040" y="5184648"/>
            <a:ext cx="3108960" cy="777240"/>
          </a:xfrm>
          <a:prstGeom prst="rect">
            <a:avLst/>
          </a:prstGeom>
          <a:noFill/>
          <a:ln/>
        </p:spPr>
        <p:txBody>
          <a:bodyPr wrap="square" lIns="0" tIns="0" rIns="0" bIns="0" rtlCol="0" anchor="ctr"/>
          <a:lstStyle/>
          <a:p>
            <a:pPr indent="0" marL="0">
              <a:buNone/>
            </a:pPr>
            <a:r>
              <a:rPr lang="en-US" sz="1700" b="1" dirty="0">
                <a:solidFill>
                  <a:srgbClr val="13243B"/>
                </a:solidFill>
                <a:latin typeface="Cambria" pitchFamily="34" charset="0"/>
                <a:ea typeface="Cambria" pitchFamily="34" charset="-122"/>
                <a:cs typeface="Cambria" pitchFamily="34" charset="-120"/>
              </a:rPr>
              <a:t>Other modalities</a:t>
            </a:r>
            <a:endParaRPr lang="en-US" sz="1700" dirty="0"/>
          </a:p>
        </p:txBody>
      </p:sp>
      <p:sp>
        <p:nvSpPr>
          <p:cNvPr id="22" name="Text 20"/>
          <p:cNvSpPr txBox="1"/>
          <p:nvPr/>
        </p:nvSpPr>
        <p:spPr>
          <a:xfrm>
            <a:off x="4663440" y="5184648"/>
            <a:ext cx="7040880" cy="77724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Apply the same identifiability tests to EEG and MEG encoders as they appear.</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near-perfect brain encoder does not by itself make meaning recoverable from fMRI. Recoverability has to be measured, not inferred from predictivity.</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Encoding error falls 28.4× while recovery saturates at 0.944: accuracy does not certify decoding</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Equal fits disagree (0.817) and are separated by barriers (4.8×; 8.1× to a deeper minimum, 4 truths): the inverse is non-convex</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What is not recovered lies in the operator's weakest directions (2.15× below random)</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Visual cortex, the most responsive, recovers worst (−0.125); somatomotor, the least, best (+0.102)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Real fMRI: 56% of the noise ceiling; 4 of 5 held-out segments identified among 45, yet cosine 0.02</a:t>
            </a:r>
            <a:endParaRPr lang="en-US" sz="1850" dirty="0"/>
          </a:p>
          <a:p>
            <a:pPr marL="228600" indent="-228600">
              <a:spcAft>
                <a:spcPts val="600"/>
              </a:spcAft>
              <a:buSzPct val="100000"/>
              <a:buChar char="•"/>
            </a:pPr>
            <a:r>
              <a:rPr lang="en-US" sz="1850" dirty="0">
                <a:solidFill>
                  <a:srgbClr val="0B0B0B"/>
                </a:solidFill>
                <a:latin typeface="Calibri" pitchFamily="34" charset="0"/>
                <a:ea typeface="Calibri" pitchFamily="34" charset="-122"/>
                <a:cs typeface="Calibri" pitchFamily="34" charset="-120"/>
              </a:rPr>
              <a:t>Everything is released: manuscript, report, poster, code, results, live demo and four notebooks</a:t>
            </a:r>
            <a:endParaRPr lang="en-US" sz="18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is shown with forward passes only: the error along the straight line between two distinct equal fits rises 4.8× (four truths).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1 487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8 000-step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and the real-fMRI test on a held-out story shows the same pattern: identification 4/5, cosine 0.02.</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(Lévy et al., arXiv 2502.17480): 32% character error with MEG vs 67%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1 117.7 h evaluation across 720 subjects, all 20 484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Your barrier result changed. Why should we trust it now?</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was wrong?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original test picked the least similar pair among all eight starts, which included an unconverged one (Gaussian s.d. 5, error 3.2× the best). Its 2.6× → 0.6× numbers are withdrawn.</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did the re-run do?</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Eight starts for 14 000 steps on a T4, four ground truths; only the five blind starts within 2× were compared; the error was measured at 21 points on each straight line. Every distinct pair rises (29 of 40: 2.4–8.2×, median 4.8×); near-identical pairs share one minimum.</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Does it change the conclusion?</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it strengthens it: equal fits are separate minima, and near-truth starts reveal a deeper minimum 8.1 ± 3.2× barrier away. The selection rule is fixed in the code and the results are in the repository.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[6] J. Lévy, M. Zhang, S. Pinet, J. Rapin, H. Banville, S. d’Ascoli, J.-R. King, “Brain-to-text decoding: A non-invasive approach via typing,” arXiv:2502.17480,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[23] A. T. Gifford et al., “The Algonauts Project 2025 challenge: How the human brain makes sense of multimodal movies,” arXiv:2501.00504,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[24] B. Lahner et al., “Modeling short visual events through the BOLD Moments video fMRI dataset and metadata,” Nat. Commun., vol. 15, art. 6241,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[25] H. Wen, J. Shi, Y. Zhang, K.-H. Lu, J. Cao, Z. Liu, “Neural encoding and decoding with deep learning for dynamic natural vision,” Cereb. Cortex, vol. 28, no. 12, pp. 4136–4160, 2018.</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 (continued)</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[26] T. M. Mitchell et al., “Predicting human brain activity associated with the meanings of nouns,” Science, vol. 320, no. 5880, pp. 1191–1195,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[27] J. Hadamard, “Sur les problèmes aux dérivées partielles et leur signification physique,” Princeton Univ. Bull., vol. 13, pp. 49–52, 1902.</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[28] N. K. Logothetis, “What we can do and what we cannot do with fMRI,” Nature, vol. 453, pp. 869–878,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[29] C. M. Michel et al., “EEG source imaging,” Clin. Neurophysiol., vol. 115, no. 10, pp. 2195–2222, 2004.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[30] Q. K. Telesford et al., “An open-access dataset of naturalistic viewing using simultaneous EEG-fMRI,” Sci. Data, vol. 10, art. 554, 2023.</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[31] G. J. Brouwer, D. J. Heeger, “Decoding and reconstructing color from responses in human visual cortex,” J. Neurosci., vol. 29, no. 44, pp. 13992–14003, 2009.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[32] A. Mahendran, A. Vedaldi, “Understanding deep image representations by inverting them,” in Proc. IEEE CVPR, 2015, pp. 5188–5196.</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[33] P. S. Scotti et al., “MindEye2: Shared-subject models enable fMRI-to-image with 1 hour of data,” in Proc. ICML,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[34] B. Fischl, M. I. Sereno, R. B. H. Tootell, A. M. Dale, “High-resolution intersubject averaging and a coordinate system for the cortical surface,” Hum. Brain Mapp., vol. 8, no. 4, pp. 272–284, 1999.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[35] B. B. Avants, C. L. Epstein, M. Grossman, J. C. Gee, “Symmetric diffeomorphic image registration with cross-correlation,” Med. Image Anal., vol. 12, no. 1, pp. 26–41, 2008.</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[36] J. S. Gao, A. G. Huth, M. D. Lescroart, J. L. Gallant, “Pycortex: An interactive surface visualizer for fMRI,” Front. Neuroinform., vol. 9, art. 23, 2015.</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[37] Y.-A. Chung et al., “W2v-BERT: Combining contrastive learning and masked language modeling for self-supervised speech pre-training,” in Proc. IEEE ASRU, 2021, pp. 244–250.</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[38] A. Grattafiori et al., “The Llama 3 herd of models,” arXiv:2407.21783, 2024.</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[39] P. Gao et al., “A theory of multineuronal dimensionality, dynamics and measurement,” bioRxiv 214262, 2017.</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[40] A. Paszke et al., “PyTorch: An imperative style, high-performance deep learning library,” in Proc. NeurIPS, vol. 32, 2019.</a:t>
            </a:r>
            <a:endParaRPr lang="en-US" sz="1100" dirty="0"/>
          </a:p>
          <a:p>
            <a:pPr indent="0" marL="0">
              <a:spcAft>
                <a:spcPts val="200"/>
              </a:spcAft>
              <a:buNone/>
            </a:pPr>
            <a:r>
              <a:rPr lang="en-US" sz="1100" dirty="0">
                <a:solidFill>
                  <a:srgbClr val="0B0B0B"/>
                </a:solidFill>
                <a:latin typeface="Calibri" pitchFamily="34" charset="0"/>
                <a:ea typeface="Calibri" pitchFamily="34" charset="-122"/>
                <a:cs typeface="Calibri" pitchFamily="34" charset="-120"/>
              </a:rPr>
              <a:t>[41] A. Abraham et al., “Machine learning for neuroimaging with scikit-learn,” Front. Neuroinform., vol. 8, art. 14, 2014.</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70</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Review: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2026-10-19T19:03:11Z</dcterms:created>
  <dcterms:modified xsi:type="dcterms:W3CDTF">2026-10-19T19:03:11Z</dcterms:modified>
</cp:coreProperties>
</file>